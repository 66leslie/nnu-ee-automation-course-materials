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106.xml" ContentType="application/vnd.openxmlformats-officedocument.presentationml.tags+xml"/>
  <Override PartName="/ppt/tags/tag149.xml" ContentType="application/vnd.openxmlformats-officedocument.presentationml.tags+xml"/>
  <Override PartName="/ppt/tags/tag164.xml" ContentType="application/vnd.openxmlformats-officedocument.presentationml.tags+xml"/>
  <Override PartName="/ppt/tags/tag184.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sldIdLst>
    <p:sldId id="308" r:id="rId3"/>
    <p:sldId id="309" r:id="rId4"/>
    <p:sldId id="310" r:id="rId5"/>
    <p:sldId id="287" r:id="rId6"/>
    <p:sldId id="288" r:id="rId7"/>
    <p:sldId id="289" r:id="rId8"/>
    <p:sldId id="290" r:id="rId9"/>
    <p:sldId id="291" r:id="rId10"/>
    <p:sldId id="292" r:id="rId11"/>
    <p:sldId id="293" r:id="rId12"/>
    <p:sldId id="294" r:id="rId13"/>
    <p:sldId id="295" r:id="rId14"/>
    <p:sldId id="296" r:id="rId15"/>
    <p:sldId id="297" r:id="rId16"/>
    <p:sldId id="298" r:id="rId17"/>
    <p:sldId id="299" r:id="rId18"/>
    <p:sldId id="300" r:id="rId19"/>
    <p:sldId id="301" r:id="rId20"/>
    <p:sldId id="302" r:id="rId21"/>
    <p:sldId id="303" r:id="rId22"/>
    <p:sldId id="304" r:id="rId23"/>
    <p:sldId id="305" r:id="rId24"/>
    <p:sldId id="306" r:id="rId25"/>
    <p:sldId id="307"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3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484" autoAdjust="0"/>
    <p:restoredTop sz="94660"/>
  </p:normalViewPr>
  <p:slideViewPr>
    <p:cSldViewPr snapToGrid="0">
      <p:cViewPr varScale="1">
        <p:scale>
          <a:sx n="78" d="100"/>
          <a:sy n="78" d="100"/>
        </p:scale>
        <p:origin x="4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04A7378-9E6C-42C5-90B8-6BA90139B355}" type="datetimeFigureOut">
              <a:rPr lang="zh-CN" altLang="en-US" smtClean="0"/>
              <a:t>2024/12/26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A1A3EB-A3AA-4CF7-932E-469EB2B0010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4A7378-9E6C-42C5-90B8-6BA90139B355}" type="datetimeFigureOut">
              <a:rPr lang="zh-CN" altLang="en-US" smtClean="0"/>
              <a:t>2024/12/26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FA1A3EB-A3AA-4CF7-932E-469EB2B0010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4A7378-9E6C-42C5-90B8-6BA90139B355}" type="datetimeFigureOut">
              <a:rPr lang="zh-CN" altLang="en-US" smtClean="0"/>
              <a:t>2024/12/26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FA1A3EB-A3AA-4CF7-932E-469EB2B0010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xml"/><Relationship Id="rId7" Type="http://schemas.openxmlformats.org/officeDocument/2006/relationships/image" Target="../media/image1.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1.xml"/><Relationship Id="rId11" Type="http://schemas.openxmlformats.org/officeDocument/2006/relationships/image" Target="../media/image5.svg"/><Relationship Id="rId5" Type="http://schemas.openxmlformats.org/officeDocument/2006/relationships/tags" Target="../tags/tag5.xml"/><Relationship Id="rId10" Type="http://schemas.openxmlformats.org/officeDocument/2006/relationships/image" Target="../media/image4.png"/><Relationship Id="rId4" Type="http://schemas.openxmlformats.org/officeDocument/2006/relationships/tags" Target="../tags/tag4.xml"/><Relationship Id="rId9"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18" Type="http://schemas.openxmlformats.org/officeDocument/2006/relationships/tags" Target="../tags/tag23.xml"/><Relationship Id="rId3" Type="http://schemas.openxmlformats.org/officeDocument/2006/relationships/tags" Target="../tags/tag8.xml"/><Relationship Id="rId21" Type="http://schemas.openxmlformats.org/officeDocument/2006/relationships/tags" Target="../tags/tag26.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tags" Target="../tags/tag22.xml"/><Relationship Id="rId2" Type="http://schemas.openxmlformats.org/officeDocument/2006/relationships/tags" Target="../tags/tag7.xml"/><Relationship Id="rId16" Type="http://schemas.openxmlformats.org/officeDocument/2006/relationships/tags" Target="../tags/tag21.xml"/><Relationship Id="rId20" Type="http://schemas.openxmlformats.org/officeDocument/2006/relationships/tags" Target="../tags/tag25.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24" Type="http://schemas.openxmlformats.org/officeDocument/2006/relationships/image" Target="../media/image6.png"/><Relationship Id="rId5" Type="http://schemas.openxmlformats.org/officeDocument/2006/relationships/tags" Target="../tags/tag10.xml"/><Relationship Id="rId15" Type="http://schemas.openxmlformats.org/officeDocument/2006/relationships/tags" Target="../tags/tag20.xml"/><Relationship Id="rId23" Type="http://schemas.openxmlformats.org/officeDocument/2006/relationships/slideLayout" Target="../slideLayouts/slideLayout1.xml"/><Relationship Id="rId10" Type="http://schemas.openxmlformats.org/officeDocument/2006/relationships/tags" Target="../tags/tag15.xml"/><Relationship Id="rId19" Type="http://schemas.openxmlformats.org/officeDocument/2006/relationships/tags" Target="../tags/tag24.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 Id="rId22" Type="http://schemas.openxmlformats.org/officeDocument/2006/relationships/tags" Target="../tags/tag27.xml"/></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30.xml"/><Relationship Id="rId7" Type="http://schemas.openxmlformats.org/officeDocument/2006/relationships/slideLayout" Target="../slideLayouts/slideLayout12.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s>
</file>

<file path=ppt/slides/_rels/slide4.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9.wmf"/><Relationship Id="rId3" Type="http://schemas.openxmlformats.org/officeDocument/2006/relationships/tags" Target="../tags/tag36.xml"/><Relationship Id="rId7" Type="http://schemas.openxmlformats.org/officeDocument/2006/relationships/image" Target="../media/image6.png"/><Relationship Id="rId12" Type="http://schemas.openxmlformats.org/officeDocument/2006/relationships/oleObject" Target="../embeddings/oleObject2.bin"/><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slideLayout" Target="../slideLayouts/slideLayout1.xml"/><Relationship Id="rId11" Type="http://schemas.openxmlformats.org/officeDocument/2006/relationships/image" Target="../media/image7.png"/><Relationship Id="rId5" Type="http://schemas.openxmlformats.org/officeDocument/2006/relationships/tags" Target="../tags/tag38.xml"/><Relationship Id="rId15" Type="http://schemas.openxmlformats.org/officeDocument/2006/relationships/image" Target="../media/image10.png"/><Relationship Id="rId10" Type="http://schemas.openxmlformats.org/officeDocument/2006/relationships/image" Target="../media/image8.wmf"/><Relationship Id="rId4" Type="http://schemas.openxmlformats.org/officeDocument/2006/relationships/tags" Target="../tags/tag37.xml"/><Relationship Id="rId9" Type="http://schemas.openxmlformats.org/officeDocument/2006/relationships/oleObject" Target="../embeddings/oleObject1.bin"/><Relationship Id="rId1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tags" Target="../tags/tag46.xml"/><Relationship Id="rId13" Type="http://schemas.openxmlformats.org/officeDocument/2006/relationships/tags" Target="../tags/tag51.xml"/><Relationship Id="rId18" Type="http://schemas.openxmlformats.org/officeDocument/2006/relationships/image" Target="../media/image13.png"/><Relationship Id="rId3" Type="http://schemas.openxmlformats.org/officeDocument/2006/relationships/tags" Target="../tags/tag41.xml"/><Relationship Id="rId7" Type="http://schemas.openxmlformats.org/officeDocument/2006/relationships/tags" Target="../tags/tag45.xml"/><Relationship Id="rId12" Type="http://schemas.openxmlformats.org/officeDocument/2006/relationships/tags" Target="../tags/tag50.xml"/><Relationship Id="rId17" Type="http://schemas.openxmlformats.org/officeDocument/2006/relationships/image" Target="../media/image12.png"/><Relationship Id="rId2" Type="http://schemas.openxmlformats.org/officeDocument/2006/relationships/tags" Target="../tags/tag40.xml"/><Relationship Id="rId16" Type="http://schemas.openxmlformats.org/officeDocument/2006/relationships/image" Target="../media/image11.png"/><Relationship Id="rId20" Type="http://schemas.openxmlformats.org/officeDocument/2006/relationships/image" Target="../media/image15.png"/><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tags" Target="../tags/tag49.xml"/><Relationship Id="rId5" Type="http://schemas.openxmlformats.org/officeDocument/2006/relationships/tags" Target="../tags/tag43.xml"/><Relationship Id="rId15" Type="http://schemas.openxmlformats.org/officeDocument/2006/relationships/image" Target="../media/image6.png"/><Relationship Id="rId10" Type="http://schemas.openxmlformats.org/officeDocument/2006/relationships/tags" Target="../tags/tag48.xml"/><Relationship Id="rId19" Type="http://schemas.openxmlformats.org/officeDocument/2006/relationships/image" Target="../media/image14.png"/><Relationship Id="rId4" Type="http://schemas.openxmlformats.org/officeDocument/2006/relationships/tags" Target="../tags/tag42.xml"/><Relationship Id="rId9" Type="http://schemas.openxmlformats.org/officeDocument/2006/relationships/tags" Target="../tags/tag47.xml"/><Relationship Id="rId1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tags" Target="../tags/tag64.xml"/><Relationship Id="rId18" Type="http://schemas.openxmlformats.org/officeDocument/2006/relationships/image" Target="../media/image18.png"/><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tags" Target="../tags/tag63.xml"/><Relationship Id="rId17" Type="http://schemas.openxmlformats.org/officeDocument/2006/relationships/image" Target="../media/image17.png"/><Relationship Id="rId2" Type="http://schemas.openxmlformats.org/officeDocument/2006/relationships/tags" Target="../tags/tag53.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5" Type="http://schemas.openxmlformats.org/officeDocument/2006/relationships/tags" Target="../tags/tag56.xml"/><Relationship Id="rId15" Type="http://schemas.openxmlformats.org/officeDocument/2006/relationships/image" Target="../media/image6.png"/><Relationship Id="rId10" Type="http://schemas.openxmlformats.org/officeDocument/2006/relationships/tags" Target="../tags/tag61.xml"/><Relationship Id="rId19" Type="http://schemas.openxmlformats.org/officeDocument/2006/relationships/image" Target="../media/image19.png"/><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67.xml"/><Relationship Id="rId7" Type="http://schemas.openxmlformats.org/officeDocument/2006/relationships/slideLayout" Target="../slideLayouts/slideLayout1.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s>
</file>

<file path=ppt/slides/_rels/slide8.xml.rels><?xml version="1.0" encoding="UTF-8" standalone="yes"?>
<Relationships xmlns="http://schemas.openxmlformats.org/package/2006/relationships"><Relationship Id="rId8" Type="http://schemas.openxmlformats.org/officeDocument/2006/relationships/tags" Target="../tags/tag78.xml"/><Relationship Id="rId3" Type="http://schemas.openxmlformats.org/officeDocument/2006/relationships/tags" Target="../tags/tag73.xml"/><Relationship Id="rId7" Type="http://schemas.openxmlformats.org/officeDocument/2006/relationships/tags" Target="../tags/tag77.xml"/><Relationship Id="rId12" Type="http://schemas.openxmlformats.org/officeDocument/2006/relationships/image" Target="../media/image6.png"/><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slideLayout" Target="../slideLayouts/slideLayout1.xml"/><Relationship Id="rId5" Type="http://schemas.openxmlformats.org/officeDocument/2006/relationships/tags" Target="../tags/tag75.xml"/><Relationship Id="rId10" Type="http://schemas.openxmlformats.org/officeDocument/2006/relationships/tags" Target="../tags/tag80.xml"/><Relationship Id="rId4" Type="http://schemas.openxmlformats.org/officeDocument/2006/relationships/tags" Target="../tags/tag74.xml"/><Relationship Id="rId9" Type="http://schemas.openxmlformats.org/officeDocument/2006/relationships/tags" Target="../tags/tag79.xml"/></Relationships>
</file>

<file path=ppt/slides/_rels/slide9.xml.rels><?xml version="1.0" encoding="UTF-8" standalone="yes"?>
<Relationships xmlns="http://schemas.openxmlformats.org/package/2006/relationships"><Relationship Id="rId8" Type="http://schemas.openxmlformats.org/officeDocument/2006/relationships/tags" Target="../tags/tag88.xml"/><Relationship Id="rId13" Type="http://schemas.openxmlformats.org/officeDocument/2006/relationships/image" Target="../media/image6.png"/><Relationship Id="rId3" Type="http://schemas.openxmlformats.org/officeDocument/2006/relationships/tags" Target="../tags/tag83.xml"/><Relationship Id="rId7" Type="http://schemas.openxmlformats.org/officeDocument/2006/relationships/tags" Target="../tags/tag87.xml"/><Relationship Id="rId12" Type="http://schemas.openxmlformats.org/officeDocument/2006/relationships/slideLayout" Target="../slideLayouts/slideLayout1.xml"/><Relationship Id="rId17" Type="http://schemas.openxmlformats.org/officeDocument/2006/relationships/image" Target="../media/image24.png"/><Relationship Id="rId2" Type="http://schemas.openxmlformats.org/officeDocument/2006/relationships/tags" Target="../tags/tag82.xml"/><Relationship Id="rId16" Type="http://schemas.openxmlformats.org/officeDocument/2006/relationships/image" Target="../media/image23.png"/><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tags" Target="../tags/tag91.xml"/><Relationship Id="rId5" Type="http://schemas.openxmlformats.org/officeDocument/2006/relationships/tags" Target="../tags/tag85.xml"/><Relationship Id="rId15" Type="http://schemas.openxmlformats.org/officeDocument/2006/relationships/image" Target="../media/image22.png"/><Relationship Id="rId10" Type="http://schemas.openxmlformats.org/officeDocument/2006/relationships/tags" Target="../tags/tag90.xml"/><Relationship Id="rId4" Type="http://schemas.openxmlformats.org/officeDocument/2006/relationships/tags" Target="../tags/tag84.xml"/><Relationship Id="rId9" Type="http://schemas.openxmlformats.org/officeDocument/2006/relationships/tags" Target="../tags/tag89.xml"/><Relationship Id="rId1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tags" Target="../tags/tag99.xml"/><Relationship Id="rId13" Type="http://schemas.openxmlformats.org/officeDocument/2006/relationships/tags" Target="../tags/tag104.xml"/><Relationship Id="rId18" Type="http://schemas.openxmlformats.org/officeDocument/2006/relationships/image" Target="../media/image25.png"/><Relationship Id="rId3" Type="http://schemas.openxmlformats.org/officeDocument/2006/relationships/tags" Target="../tags/tag94.xml"/><Relationship Id="rId7" Type="http://schemas.openxmlformats.org/officeDocument/2006/relationships/tags" Target="../tags/tag98.xml"/><Relationship Id="rId12" Type="http://schemas.openxmlformats.org/officeDocument/2006/relationships/tags" Target="../tags/tag103.xml"/><Relationship Id="rId17" Type="http://schemas.openxmlformats.org/officeDocument/2006/relationships/tags" Target="../tags/tag106.xml"/><Relationship Id="rId2" Type="http://schemas.openxmlformats.org/officeDocument/2006/relationships/tags" Target="../tags/tag93.xml"/><Relationship Id="rId16" Type="http://schemas.openxmlformats.org/officeDocument/2006/relationships/image" Target="../media/image6.png"/><Relationship Id="rId20" Type="http://schemas.openxmlformats.org/officeDocument/2006/relationships/image" Target="../media/image27.png"/><Relationship Id="rId1" Type="http://schemas.openxmlformats.org/officeDocument/2006/relationships/tags" Target="../tags/tag92.xml"/><Relationship Id="rId6" Type="http://schemas.openxmlformats.org/officeDocument/2006/relationships/tags" Target="../tags/tag97.xml"/><Relationship Id="rId11" Type="http://schemas.openxmlformats.org/officeDocument/2006/relationships/tags" Target="../tags/tag102.xml"/><Relationship Id="rId5" Type="http://schemas.openxmlformats.org/officeDocument/2006/relationships/tags" Target="../tags/tag96.xml"/><Relationship Id="rId15" Type="http://schemas.openxmlformats.org/officeDocument/2006/relationships/slideLayout" Target="../slideLayouts/slideLayout1.xml"/><Relationship Id="rId10" Type="http://schemas.openxmlformats.org/officeDocument/2006/relationships/tags" Target="../tags/tag101.xml"/><Relationship Id="rId19" Type="http://schemas.openxmlformats.org/officeDocument/2006/relationships/image" Target="../media/image26.png"/><Relationship Id="rId4" Type="http://schemas.openxmlformats.org/officeDocument/2006/relationships/tags" Target="../tags/tag95.xml"/><Relationship Id="rId9" Type="http://schemas.openxmlformats.org/officeDocument/2006/relationships/tags" Target="../tags/tag100.xml"/><Relationship Id="rId14" Type="http://schemas.openxmlformats.org/officeDocument/2006/relationships/tags" Target="../tags/tag105.xml"/></Relationships>
</file>

<file path=ppt/slides/_rels/slide11.xml.rels><?xml version="1.0" encoding="UTF-8" standalone="yes"?>
<Relationships xmlns="http://schemas.openxmlformats.org/package/2006/relationships"><Relationship Id="rId8" Type="http://schemas.openxmlformats.org/officeDocument/2006/relationships/tags" Target="../tags/tag114.xml"/><Relationship Id="rId3" Type="http://schemas.openxmlformats.org/officeDocument/2006/relationships/tags" Target="../tags/tag109.xml"/><Relationship Id="rId7" Type="http://schemas.openxmlformats.org/officeDocument/2006/relationships/tags" Target="../tags/tag113.xml"/><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tags" Target="../tags/tag112.xml"/><Relationship Id="rId5" Type="http://schemas.openxmlformats.org/officeDocument/2006/relationships/tags" Target="../tags/tag111.xml"/><Relationship Id="rId10" Type="http://schemas.openxmlformats.org/officeDocument/2006/relationships/image" Target="../media/image6.png"/><Relationship Id="rId4" Type="http://schemas.openxmlformats.org/officeDocument/2006/relationships/tags" Target="../tags/tag110.xml"/><Relationship Id="rId9"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117.xml"/><Relationship Id="rId7" Type="http://schemas.openxmlformats.org/officeDocument/2006/relationships/image" Target="../media/image28.png"/><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image" Target="../media/image6.png"/><Relationship Id="rId5" Type="http://schemas.openxmlformats.org/officeDocument/2006/relationships/slideLayout" Target="../slideLayouts/slideLayout1.xml"/><Relationship Id="rId4" Type="http://schemas.openxmlformats.org/officeDocument/2006/relationships/tags" Target="../tags/tag118.xml"/><Relationship Id="rId9" Type="http://schemas.openxmlformats.org/officeDocument/2006/relationships/image" Target="../media/image30.png"/></Relationships>
</file>

<file path=ppt/slides/_rels/slide1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121.xml"/><Relationship Id="rId7" Type="http://schemas.openxmlformats.org/officeDocument/2006/relationships/slideLayout" Target="../slideLayouts/slideLayout1.xml"/><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tags" Target="../tags/tag122.xml"/></Relationships>
</file>

<file path=ppt/slides/_rels/slide14.xml.rels><?xml version="1.0" encoding="UTF-8" standalone="yes"?>
<Relationships xmlns="http://schemas.openxmlformats.org/package/2006/relationships"><Relationship Id="rId8" Type="http://schemas.openxmlformats.org/officeDocument/2006/relationships/tags" Target="../tags/tag132.xml"/><Relationship Id="rId3" Type="http://schemas.openxmlformats.org/officeDocument/2006/relationships/tags" Target="../tags/tag127.xml"/><Relationship Id="rId7" Type="http://schemas.openxmlformats.org/officeDocument/2006/relationships/tags" Target="../tags/tag131.xml"/><Relationship Id="rId12" Type="http://schemas.openxmlformats.org/officeDocument/2006/relationships/image" Target="../media/image6.png"/><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tags" Target="../tags/tag130.xml"/><Relationship Id="rId11" Type="http://schemas.openxmlformats.org/officeDocument/2006/relationships/slideLayout" Target="../slideLayouts/slideLayout1.xml"/><Relationship Id="rId5" Type="http://schemas.openxmlformats.org/officeDocument/2006/relationships/tags" Target="../tags/tag129.xml"/><Relationship Id="rId10" Type="http://schemas.openxmlformats.org/officeDocument/2006/relationships/tags" Target="../tags/tag134.xml"/><Relationship Id="rId4" Type="http://schemas.openxmlformats.org/officeDocument/2006/relationships/tags" Target="../tags/tag128.xml"/><Relationship Id="rId9" Type="http://schemas.openxmlformats.org/officeDocument/2006/relationships/tags" Target="../tags/tag133.xml"/></Relationships>
</file>

<file path=ppt/slides/_rels/slide15.xml.rels><?xml version="1.0" encoding="UTF-8" standalone="yes"?>
<Relationships xmlns="http://schemas.openxmlformats.org/package/2006/relationships"><Relationship Id="rId8" Type="http://schemas.openxmlformats.org/officeDocument/2006/relationships/tags" Target="../tags/tag142.xml"/><Relationship Id="rId13" Type="http://schemas.openxmlformats.org/officeDocument/2006/relationships/tags" Target="../tags/tag147.xml"/><Relationship Id="rId18" Type="http://schemas.openxmlformats.org/officeDocument/2006/relationships/image" Target="../media/image31.png"/><Relationship Id="rId3" Type="http://schemas.openxmlformats.org/officeDocument/2006/relationships/tags" Target="../tags/tag137.xml"/><Relationship Id="rId21" Type="http://schemas.openxmlformats.org/officeDocument/2006/relationships/image" Target="../media/image34.png"/><Relationship Id="rId7" Type="http://schemas.openxmlformats.org/officeDocument/2006/relationships/tags" Target="../tags/tag141.xml"/><Relationship Id="rId12" Type="http://schemas.openxmlformats.org/officeDocument/2006/relationships/tags" Target="../tags/tag146.xml"/><Relationship Id="rId17" Type="http://schemas.openxmlformats.org/officeDocument/2006/relationships/tags" Target="../tags/tag149.xml"/><Relationship Id="rId2" Type="http://schemas.openxmlformats.org/officeDocument/2006/relationships/tags" Target="../tags/tag136.xml"/><Relationship Id="rId16" Type="http://schemas.openxmlformats.org/officeDocument/2006/relationships/image" Target="../media/image6.png"/><Relationship Id="rId20" Type="http://schemas.openxmlformats.org/officeDocument/2006/relationships/image" Target="../media/image33.png"/><Relationship Id="rId1" Type="http://schemas.openxmlformats.org/officeDocument/2006/relationships/tags" Target="../tags/tag135.xml"/><Relationship Id="rId6" Type="http://schemas.openxmlformats.org/officeDocument/2006/relationships/tags" Target="../tags/tag140.xml"/><Relationship Id="rId11" Type="http://schemas.openxmlformats.org/officeDocument/2006/relationships/tags" Target="../tags/tag145.xml"/><Relationship Id="rId5" Type="http://schemas.openxmlformats.org/officeDocument/2006/relationships/tags" Target="../tags/tag139.xml"/><Relationship Id="rId15" Type="http://schemas.openxmlformats.org/officeDocument/2006/relationships/slideLayout" Target="../slideLayouts/slideLayout1.xml"/><Relationship Id="rId23" Type="http://schemas.openxmlformats.org/officeDocument/2006/relationships/image" Target="../media/image36.png"/><Relationship Id="rId10" Type="http://schemas.openxmlformats.org/officeDocument/2006/relationships/tags" Target="../tags/tag144.xml"/><Relationship Id="rId19" Type="http://schemas.openxmlformats.org/officeDocument/2006/relationships/image" Target="../media/image32.png"/><Relationship Id="rId4" Type="http://schemas.openxmlformats.org/officeDocument/2006/relationships/tags" Target="../tags/tag138.xml"/><Relationship Id="rId9" Type="http://schemas.openxmlformats.org/officeDocument/2006/relationships/tags" Target="../tags/tag143.xml"/><Relationship Id="rId14" Type="http://schemas.openxmlformats.org/officeDocument/2006/relationships/tags" Target="../tags/tag148.xml"/><Relationship Id="rId22" Type="http://schemas.openxmlformats.org/officeDocument/2006/relationships/image" Target="../media/image35.png"/></Relationships>
</file>

<file path=ppt/slides/_rels/slide16.xml.rels><?xml version="1.0" encoding="UTF-8" standalone="yes"?>
<Relationships xmlns="http://schemas.openxmlformats.org/package/2006/relationships"><Relationship Id="rId8" Type="http://schemas.openxmlformats.org/officeDocument/2006/relationships/tags" Target="../tags/tag157.xml"/><Relationship Id="rId18" Type="http://schemas.openxmlformats.org/officeDocument/2006/relationships/image" Target="../media/image39.png"/><Relationship Id="rId3" Type="http://schemas.openxmlformats.org/officeDocument/2006/relationships/tags" Target="../tags/tag152.xml"/><Relationship Id="rId7" Type="http://schemas.openxmlformats.org/officeDocument/2006/relationships/tags" Target="../tags/tag156.xml"/><Relationship Id="rId17" Type="http://schemas.openxmlformats.org/officeDocument/2006/relationships/image" Target="../media/image38.png"/><Relationship Id="rId2" Type="http://schemas.openxmlformats.org/officeDocument/2006/relationships/tags" Target="../tags/tag151.xml"/><Relationship Id="rId16" Type="http://schemas.openxmlformats.org/officeDocument/2006/relationships/image" Target="../media/image37.png"/><Relationship Id="rId1" Type="http://schemas.openxmlformats.org/officeDocument/2006/relationships/tags" Target="../tags/tag150.xml"/><Relationship Id="rId6" Type="http://schemas.openxmlformats.org/officeDocument/2006/relationships/tags" Target="../tags/tag155.xml"/><Relationship Id="rId5" Type="http://schemas.openxmlformats.org/officeDocument/2006/relationships/tags" Target="../tags/tag154.xml"/><Relationship Id="rId15" Type="http://schemas.openxmlformats.org/officeDocument/2006/relationships/tags" Target="../tags/tag164.xml"/><Relationship Id="rId10" Type="http://schemas.openxmlformats.org/officeDocument/2006/relationships/image" Target="../media/image6.png"/><Relationship Id="rId4" Type="http://schemas.openxmlformats.org/officeDocument/2006/relationships/tags" Target="../tags/tag153.xml"/><Relationship Id="rId9"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tags" Target="../tags/tag166.xml"/><Relationship Id="rId3" Type="http://schemas.openxmlformats.org/officeDocument/2006/relationships/tags" Target="../tags/tag160.xml"/><Relationship Id="rId7" Type="http://schemas.openxmlformats.org/officeDocument/2006/relationships/tags" Target="../tags/tag165.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tags" Target="../tags/tag163.xml"/><Relationship Id="rId11" Type="http://schemas.openxmlformats.org/officeDocument/2006/relationships/image" Target="../media/image40.png"/><Relationship Id="rId5" Type="http://schemas.openxmlformats.org/officeDocument/2006/relationships/tags" Target="../tags/tag162.xml"/><Relationship Id="rId10" Type="http://schemas.openxmlformats.org/officeDocument/2006/relationships/image" Target="../media/image6.png"/><Relationship Id="rId4" Type="http://schemas.openxmlformats.org/officeDocument/2006/relationships/tags" Target="../tags/tag161.xml"/><Relationship Id="rId9"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69.xml"/><Relationship Id="rId7" Type="http://schemas.openxmlformats.org/officeDocument/2006/relationships/slideLayout" Target="../slideLayouts/slideLayout1.xml"/><Relationship Id="rId2" Type="http://schemas.openxmlformats.org/officeDocument/2006/relationships/tags" Target="../tags/tag168.xml"/><Relationship Id="rId1" Type="http://schemas.openxmlformats.org/officeDocument/2006/relationships/tags" Target="../tags/tag167.xml"/><Relationship Id="rId6" Type="http://schemas.openxmlformats.org/officeDocument/2006/relationships/tags" Target="../tags/tag172.xml"/><Relationship Id="rId5" Type="http://schemas.openxmlformats.org/officeDocument/2006/relationships/tags" Target="../tags/tag171.xml"/><Relationship Id="rId4" Type="http://schemas.openxmlformats.org/officeDocument/2006/relationships/tags" Target="../tags/tag170.xml"/><Relationship Id="rId9" Type="http://schemas.openxmlformats.org/officeDocument/2006/relationships/image" Target="../media/image41.png"/></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1.xml"/><Relationship Id="rId13" Type="http://schemas.openxmlformats.org/officeDocument/2006/relationships/image" Target="../media/image44.png"/><Relationship Id="rId3" Type="http://schemas.openxmlformats.org/officeDocument/2006/relationships/tags" Target="../tags/tag175.xml"/><Relationship Id="rId7" Type="http://schemas.openxmlformats.org/officeDocument/2006/relationships/tags" Target="../tags/tag179.xml"/><Relationship Id="rId12" Type="http://schemas.openxmlformats.org/officeDocument/2006/relationships/image" Target="../media/image43.png"/><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tags" Target="../tags/tag178.xml"/><Relationship Id="rId11" Type="http://schemas.openxmlformats.org/officeDocument/2006/relationships/image" Target="../media/image42.png"/><Relationship Id="rId5" Type="http://schemas.openxmlformats.org/officeDocument/2006/relationships/tags" Target="../tags/tag177.xml"/><Relationship Id="rId10" Type="http://schemas.openxmlformats.org/officeDocument/2006/relationships/tags" Target="../tags/tag184.xml"/><Relationship Id="rId4" Type="http://schemas.openxmlformats.org/officeDocument/2006/relationships/tags" Target="../tags/tag176.xml"/><Relationship Id="rId9" Type="http://schemas.openxmlformats.org/officeDocument/2006/relationships/image" Target="../media/image6.png"/></Relationships>
</file>

<file path=ppt/slides/_rels/slide2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182.xml"/><Relationship Id="rId7" Type="http://schemas.openxmlformats.org/officeDocument/2006/relationships/slideLayout" Target="../slideLayouts/slideLayout1.xml"/><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tags" Target="../tags/tag186.xml"/><Relationship Id="rId5" Type="http://schemas.openxmlformats.org/officeDocument/2006/relationships/tags" Target="../tags/tag185.xml"/><Relationship Id="rId4" Type="http://schemas.openxmlformats.org/officeDocument/2006/relationships/tags" Target="../tags/tag183.xml"/></Relationships>
</file>

<file path=ppt/slides/_rels/slide21.xml.rels><?xml version="1.0" encoding="UTF-8" standalone="yes"?>
<Relationships xmlns="http://schemas.openxmlformats.org/package/2006/relationships"><Relationship Id="rId3" Type="http://schemas.openxmlformats.org/officeDocument/2006/relationships/tags" Target="../tags/tag189.xml"/><Relationship Id="rId2" Type="http://schemas.openxmlformats.org/officeDocument/2006/relationships/tags" Target="../tags/tag188.xml"/><Relationship Id="rId1" Type="http://schemas.openxmlformats.org/officeDocument/2006/relationships/tags" Target="../tags/tag187.xml"/><Relationship Id="rId6" Type="http://schemas.openxmlformats.org/officeDocument/2006/relationships/image" Target="../media/image6.png"/><Relationship Id="rId5" Type="http://schemas.openxmlformats.org/officeDocument/2006/relationships/slideLayout" Target="../slideLayouts/slideLayout1.xml"/><Relationship Id="rId4" Type="http://schemas.openxmlformats.org/officeDocument/2006/relationships/tags" Target="../tags/tag190.xml"/></Relationships>
</file>

<file path=ppt/slides/_rels/slide22.xml.rels><?xml version="1.0" encoding="UTF-8" standalone="yes"?>
<Relationships xmlns="http://schemas.openxmlformats.org/package/2006/relationships"><Relationship Id="rId3" Type="http://schemas.openxmlformats.org/officeDocument/2006/relationships/tags" Target="../tags/tag193.xml"/><Relationship Id="rId2" Type="http://schemas.openxmlformats.org/officeDocument/2006/relationships/tags" Target="../tags/tag192.xml"/><Relationship Id="rId1" Type="http://schemas.openxmlformats.org/officeDocument/2006/relationships/tags" Target="../tags/tag191.xml"/><Relationship Id="rId6" Type="http://schemas.openxmlformats.org/officeDocument/2006/relationships/image" Target="../media/image6.png"/><Relationship Id="rId5" Type="http://schemas.openxmlformats.org/officeDocument/2006/relationships/slideLayout" Target="../slideLayouts/slideLayout1.xml"/><Relationship Id="rId4" Type="http://schemas.openxmlformats.org/officeDocument/2006/relationships/tags" Target="../tags/tag194.xml"/></Relationships>
</file>

<file path=ppt/slides/_rels/slide2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197.xml"/><Relationship Id="rId7" Type="http://schemas.openxmlformats.org/officeDocument/2006/relationships/slideLayout" Target="../slideLayouts/slideLayout1.xml"/><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tags" Target="../tags/tag200.xml"/><Relationship Id="rId5" Type="http://schemas.openxmlformats.org/officeDocument/2006/relationships/tags" Target="../tags/tag199.xml"/><Relationship Id="rId4" Type="http://schemas.openxmlformats.org/officeDocument/2006/relationships/tags" Target="../tags/tag198.xml"/></Relationships>
</file>

<file path=ppt/slides/_rels/slide24.xml.rels><?xml version="1.0" encoding="UTF-8" standalone="yes"?>
<Relationships xmlns="http://schemas.openxmlformats.org/package/2006/relationships"><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 Id="rId6" Type="http://schemas.openxmlformats.org/officeDocument/2006/relationships/image" Target="../media/image6.png"/><Relationship Id="rId5" Type="http://schemas.openxmlformats.org/officeDocument/2006/relationships/slideLayout" Target="../slideLayouts/slideLayout1.xml"/><Relationship Id="rId4" Type="http://schemas.openxmlformats.org/officeDocument/2006/relationships/tags" Target="../tags/tag20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a:extLst>
              <a:ext uri="{FF2B5EF4-FFF2-40B4-BE49-F238E27FC236}">
                <a16:creationId xmlns:a16="http://schemas.microsoft.com/office/drawing/2014/main" id="{9BA8EC37-6CFB-8199-0D26-7D59E5EC7AA0}"/>
              </a:ext>
            </a:extLst>
          </p:cNvPr>
          <p:cNvSpPr/>
          <p:nvPr/>
        </p:nvSpPr>
        <p:spPr>
          <a:xfrm>
            <a:off x="3666806" y="4563111"/>
            <a:ext cx="581026" cy="572744"/>
          </a:xfrm>
          <a:prstGeom prst="ellipse">
            <a:avLst/>
          </a:prstGeom>
          <a:solidFill>
            <a:srgbClr val="00633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3970" y="1840230"/>
            <a:ext cx="12201525" cy="25196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校徽+南京师范大学"/>
          <p:cNvPicPr>
            <a:picLocks noChangeAspect="1"/>
          </p:cNvPicPr>
          <p:nvPr/>
        </p:nvPicPr>
        <p:blipFill>
          <a:blip r:embed="rId7"/>
          <a:srcRect t="33231" b="38380"/>
          <a:stretch>
            <a:fillRect/>
          </a:stretch>
        </p:blipFill>
        <p:spPr>
          <a:xfrm>
            <a:off x="4001135" y="743585"/>
            <a:ext cx="4171950" cy="837565"/>
          </a:xfrm>
          <a:prstGeom prst="rect">
            <a:avLst/>
          </a:prstGeom>
        </p:spPr>
      </p:pic>
      <p:sp>
        <p:nvSpPr>
          <p:cNvPr id="7" name="文本框 6"/>
          <p:cNvSpPr txBox="1"/>
          <p:nvPr/>
        </p:nvSpPr>
        <p:spPr>
          <a:xfrm>
            <a:off x="906145" y="2272030"/>
            <a:ext cx="10734675" cy="1753235"/>
          </a:xfrm>
          <a:prstGeom prst="rect">
            <a:avLst/>
          </a:prstGeom>
          <a:noFill/>
        </p:spPr>
        <p:txBody>
          <a:bodyPr wrap="square" rtlCol="0">
            <a:spAutoFit/>
          </a:bodyPr>
          <a:lstStyle/>
          <a:p>
            <a:pPr algn="ctr"/>
            <a:r>
              <a:rPr lang="zh-CN" altLang="en-US" sz="5400" b="1" dirty="0">
                <a:solidFill>
                  <a:schemeClr val="bg1"/>
                </a:solidFill>
                <a:latin typeface="+mj-ea"/>
                <a:ea typeface="+mj-ea"/>
                <a:cs typeface="+mj-ea"/>
              </a:rPr>
              <a:t>分数阶傅里叶变换在信号处理</a:t>
            </a:r>
          </a:p>
          <a:p>
            <a:pPr algn="ctr"/>
            <a:r>
              <a:rPr lang="zh-CN" altLang="en-US" sz="5400" b="1" dirty="0">
                <a:solidFill>
                  <a:schemeClr val="bg1"/>
                </a:solidFill>
                <a:latin typeface="+mj-ea"/>
                <a:ea typeface="+mj-ea"/>
                <a:cs typeface="+mj-ea"/>
              </a:rPr>
              <a:t>与神经网络领域中的应用</a:t>
            </a:r>
          </a:p>
        </p:txBody>
      </p:sp>
      <p:grpSp>
        <p:nvGrpSpPr>
          <p:cNvPr id="13" name="组合 12"/>
          <p:cNvGrpSpPr/>
          <p:nvPr>
            <p:custDataLst>
              <p:tags r:id="rId2"/>
            </p:custDataLst>
          </p:nvPr>
        </p:nvGrpSpPr>
        <p:grpSpPr>
          <a:xfrm>
            <a:off x="3936999" y="4526280"/>
            <a:ext cx="5784215" cy="646430"/>
            <a:chOff x="6566" y="7644"/>
            <a:chExt cx="9109" cy="1018"/>
          </a:xfrm>
        </p:grpSpPr>
        <p:sp>
          <p:nvSpPr>
            <p:cNvPr id="10" name="文本框 9"/>
            <p:cNvSpPr txBox="1"/>
            <p:nvPr>
              <p:custDataLst>
                <p:tags r:id="rId3"/>
              </p:custDataLst>
            </p:nvPr>
          </p:nvSpPr>
          <p:spPr>
            <a:xfrm>
              <a:off x="6566" y="7644"/>
              <a:ext cx="5223" cy="1018"/>
            </a:xfrm>
            <a:prstGeom prst="rect">
              <a:avLst/>
            </a:prstGeom>
            <a:noFill/>
          </p:spPr>
          <p:txBody>
            <a:bodyPr wrap="square" rtlCol="0">
              <a:spAutoFit/>
            </a:bodyPr>
            <a:lstStyle/>
            <a:p>
              <a:pPr indent="408305" algn="just"/>
              <a:r>
                <a:rPr lang="zh-CN" altLang="zh-CN" b="1" dirty="0"/>
                <a:t/>
              </a:r>
              <a:r>
                <a:rPr lang="en-US" altLang="zh-CN" b="1" dirty="0"/>
                <a:t> </a:t>
              </a:r>
              <a:r>
                <a:rPr lang="zh-CN" altLang="zh-CN" b="1" dirty="0"/>
                <a:t/>
              </a:r>
              <a:endParaRPr lang="en-US" altLang="zh-CN" b="1" dirty="0"/>
            </a:p>
            <a:p>
              <a:pPr indent="408305" algn="just"/>
              <a:r>
                <a:rPr lang="zh-CN" altLang="en-US" b="1" dirty="0"/>
                <a:t> 赵学文 </a:t>
              </a:r>
              <a:r>
                <a:rPr lang="zh-CN" altLang="zh-CN" b="1" dirty="0"/>
                <a:t> </a:t>
              </a:r>
              <a:endParaRPr lang="zh-CN" altLang="en-US" b="1" dirty="0"/>
            </a:p>
          </p:txBody>
        </p:sp>
        <p:pic>
          <p:nvPicPr>
            <p:cNvPr id="11" name="图片 10" descr="3b32313536353934363b4eba"/>
            <p:cNvPicPr>
              <a:picLocks noChangeAspect="1"/>
            </p:cNvPicPr>
            <p:nvPr>
              <p:custDataLst>
                <p:tags r:id="rId4"/>
              </p:custDataLst>
            </p:nvPr>
          </p:nvPicPr>
          <p:blipFill>
            <a:blip r:embed="rId8">
              <a:extLst>
                <a:ext uri="{96DAC541-7B7A-43D3-8B79-37D633B846F1}">
                  <asvg:svgBlip xmlns:asvg="http://schemas.microsoft.com/office/drawing/2016/SVG/main" r:embed="rId9"/>
                </a:ext>
              </a:extLst>
            </a:blip>
            <a:stretch>
              <a:fillRect/>
            </a:stretch>
          </p:blipFill>
          <p:spPr>
            <a:xfrm>
              <a:off x="11140" y="7702"/>
              <a:ext cx="915" cy="902"/>
            </a:xfrm>
            <a:prstGeom prst="rect">
              <a:avLst/>
            </a:prstGeom>
          </p:spPr>
        </p:pic>
        <p:sp>
          <p:nvSpPr>
            <p:cNvPr id="12" name="文本框 11"/>
            <p:cNvSpPr txBox="1"/>
            <p:nvPr>
              <p:custDataLst>
                <p:tags r:id="rId5"/>
              </p:custDataLst>
            </p:nvPr>
          </p:nvSpPr>
          <p:spPr>
            <a:xfrm>
              <a:off x="12055" y="7863"/>
              <a:ext cx="3620" cy="580"/>
            </a:xfrm>
            <a:prstGeom prst="rect">
              <a:avLst/>
            </a:prstGeom>
            <a:noFill/>
          </p:spPr>
          <p:txBody>
            <a:bodyPr wrap="square" rtlCol="0">
              <a:spAutoFit/>
            </a:bodyPr>
            <a:lstStyle/>
            <a:p>
              <a:r>
                <a:rPr lang="zh-CN" altLang="en-US" b="1" dirty="0"/>
                <a:t>指导老师：刘国宝</a:t>
              </a:r>
            </a:p>
          </p:txBody>
        </p:sp>
      </p:grpSp>
      <p:pic>
        <p:nvPicPr>
          <p:cNvPr id="3" name="图形 2" descr="孩子 纯色填充">
            <a:extLst>
              <a:ext uri="{FF2B5EF4-FFF2-40B4-BE49-F238E27FC236}">
                <a16:creationId xmlns:a16="http://schemas.microsoft.com/office/drawing/2014/main" id="{8243D926-A938-105C-86E1-32C20D0A2D4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666805" y="4563110"/>
            <a:ext cx="581026" cy="581026"/>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34925" y="-17145"/>
            <a:ext cx="3890645" cy="6915150"/>
          </a:xfrm>
          <a:prstGeom prst="rect">
            <a:avLst/>
          </a:prstGeom>
          <a:solidFill>
            <a:srgbClr val="0063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821690" y="2533015"/>
            <a:ext cx="2176780" cy="1106805"/>
          </a:xfrm>
          <a:prstGeom prst="rect">
            <a:avLst/>
          </a:prstGeom>
          <a:noFill/>
        </p:spPr>
        <p:txBody>
          <a:bodyPr wrap="square" rtlCol="0">
            <a:spAutoFit/>
          </a:bodyPr>
          <a:lstStyle/>
          <a:p>
            <a:pPr algn="dist"/>
            <a:r>
              <a:rPr lang="zh-CN" altLang="en-US" sz="6600" b="1">
                <a:solidFill>
                  <a:srgbClr val="FFFFFF"/>
                </a:solidFill>
                <a:latin typeface="+mj-ea"/>
                <a:ea typeface="+mj-ea"/>
              </a:rPr>
              <a:t>目录</a:t>
            </a:r>
          </a:p>
        </p:txBody>
      </p:sp>
      <p:pic>
        <p:nvPicPr>
          <p:cNvPr id="21" name="图片 20" descr="校徽+南京师范大学(白)"/>
          <p:cNvPicPr>
            <a:picLocks noChangeAspect="1"/>
          </p:cNvPicPr>
          <p:nvPr/>
        </p:nvPicPr>
        <p:blipFill>
          <a:blip r:embed="rId24"/>
          <a:stretch>
            <a:fillRect/>
          </a:stretch>
        </p:blipFill>
        <p:spPr>
          <a:xfrm>
            <a:off x="414020" y="567055"/>
            <a:ext cx="2992755" cy="2116455"/>
          </a:xfrm>
          <a:prstGeom prst="rect">
            <a:avLst/>
          </a:prstGeom>
        </p:spPr>
      </p:pic>
      <p:sp>
        <p:nvSpPr>
          <p:cNvPr id="22" name="文本框 21"/>
          <p:cNvSpPr txBox="1"/>
          <p:nvPr>
            <p:custDataLst>
              <p:tags r:id="rId2"/>
            </p:custDataLst>
          </p:nvPr>
        </p:nvSpPr>
        <p:spPr>
          <a:xfrm>
            <a:off x="176530" y="3743325"/>
            <a:ext cx="3467735" cy="460375"/>
          </a:xfrm>
          <a:prstGeom prst="rect">
            <a:avLst/>
          </a:prstGeom>
          <a:noFill/>
        </p:spPr>
        <p:txBody>
          <a:bodyPr wrap="square" rtlCol="0">
            <a:spAutoFit/>
          </a:bodyPr>
          <a:lstStyle/>
          <a:p>
            <a:pPr algn="ctr"/>
            <a:r>
              <a:rPr lang="en-US" altLang="zh-CN" sz="2400" b="1">
                <a:solidFill>
                  <a:srgbClr val="FFFFFF"/>
                </a:solidFill>
                <a:latin typeface="+mj-ea"/>
                <a:ea typeface="+mj-ea"/>
              </a:rPr>
              <a:t>CONTENTS</a:t>
            </a:r>
          </a:p>
        </p:txBody>
      </p:sp>
      <p:grpSp>
        <p:nvGrpSpPr>
          <p:cNvPr id="27" name="组合 26"/>
          <p:cNvGrpSpPr/>
          <p:nvPr>
            <p:custDataLst>
              <p:tags r:id="rId3"/>
            </p:custDataLst>
          </p:nvPr>
        </p:nvGrpSpPr>
        <p:grpSpPr>
          <a:xfrm>
            <a:off x="5375910" y="1154430"/>
            <a:ext cx="6269355" cy="1088390"/>
            <a:chOff x="8466" y="1062"/>
            <a:chExt cx="9873" cy="1714"/>
          </a:xfrm>
        </p:grpSpPr>
        <p:sp>
          <p:nvSpPr>
            <p:cNvPr id="23" name="椭圆 22"/>
            <p:cNvSpPr/>
            <p:nvPr>
              <p:custDataLst>
                <p:tags r:id="rId19"/>
              </p:custDataLst>
            </p:nvPr>
          </p:nvSpPr>
          <p:spPr>
            <a:xfrm>
              <a:off x="8466" y="1062"/>
              <a:ext cx="1134" cy="1134"/>
            </a:xfrm>
            <a:prstGeom prst="ellipse">
              <a:avLst/>
            </a:prstGeom>
            <a:solidFill>
              <a:srgbClr val="00885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custDataLst>
                <p:tags r:id="rId20"/>
              </p:custDataLst>
            </p:nvPr>
          </p:nvSpPr>
          <p:spPr>
            <a:xfrm>
              <a:off x="8473" y="1218"/>
              <a:ext cx="1127" cy="822"/>
            </a:xfrm>
            <a:prstGeom prst="rect">
              <a:avLst/>
            </a:prstGeom>
            <a:noFill/>
          </p:spPr>
          <p:txBody>
            <a:bodyPr wrap="square" rtlCol="0">
              <a:spAutoFit/>
            </a:bodyPr>
            <a:lstStyle/>
            <a:p>
              <a:pPr algn="ctr"/>
              <a:r>
                <a:rPr lang="en-US" altLang="zh-CN" sz="2800" b="1">
                  <a:solidFill>
                    <a:srgbClr val="FFFFFF"/>
                  </a:solidFill>
                  <a:latin typeface="黑体" panose="02010609060101010101" charset="-122"/>
                  <a:ea typeface="黑体" panose="02010609060101010101" charset="-122"/>
                </a:rPr>
                <a:t>01</a:t>
              </a:r>
            </a:p>
          </p:txBody>
        </p:sp>
        <p:sp>
          <p:nvSpPr>
            <p:cNvPr id="25" name="圆角矩形 24"/>
            <p:cNvSpPr/>
            <p:nvPr>
              <p:custDataLst>
                <p:tags r:id="rId21"/>
              </p:custDataLst>
            </p:nvPr>
          </p:nvSpPr>
          <p:spPr>
            <a:xfrm>
              <a:off x="9799" y="1062"/>
              <a:ext cx="8540" cy="1133"/>
            </a:xfrm>
            <a:prstGeom prst="roundRect">
              <a:avLst>
                <a:gd name="adj" fmla="val 50000"/>
              </a:avLst>
            </a:prstGeom>
            <a:solidFill>
              <a:schemeClr val="bg2">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custDataLst>
                <p:tags r:id="rId22"/>
              </p:custDataLst>
            </p:nvPr>
          </p:nvSpPr>
          <p:spPr>
            <a:xfrm>
              <a:off x="12318" y="1178"/>
              <a:ext cx="3048" cy="1598"/>
            </a:xfrm>
            <a:prstGeom prst="rect">
              <a:avLst/>
            </a:prstGeom>
            <a:noFill/>
          </p:spPr>
          <p:txBody>
            <a:bodyPr wrap="square" rtlCol="0">
              <a:spAutoFit/>
            </a:bodyPr>
            <a:lstStyle/>
            <a:p>
              <a:pPr algn="dist"/>
              <a:r>
                <a:rPr lang="zh-CN" altLang="en-US" sz="3000" b="1">
                  <a:solidFill>
                    <a:srgbClr val="00633D"/>
                  </a:solidFill>
                  <a:latin typeface="微软雅黑" panose="020B0503020204020204" charset="-122"/>
                  <a:ea typeface="微软雅黑" panose="020B0503020204020204" charset="-122"/>
                  <a:sym typeface="+mn-ea"/>
                </a:rPr>
                <a:t>基本理论</a:t>
              </a:r>
              <a:endParaRPr kumimoji="0" lang="zh-CN" altLang="en-US" sz="3000" b="1" i="0" u="none" strike="noStrike" kern="1200" cap="none" spc="0" normalizeH="0" baseline="0">
                <a:solidFill>
                  <a:srgbClr val="00633D"/>
                </a:solidFill>
                <a:latin typeface="微软雅黑" panose="020B0503020204020204" charset="-122"/>
                <a:ea typeface="微软雅黑" panose="020B0503020204020204" charset="-122"/>
                <a:cs typeface="+mn-cs"/>
              </a:endParaRPr>
            </a:p>
            <a:p>
              <a:pPr algn="dist"/>
              <a:endParaRPr lang="zh-CN" altLang="en-US" sz="3000" b="1">
                <a:solidFill>
                  <a:srgbClr val="00633D"/>
                </a:solidFill>
                <a:latin typeface="微软雅黑" panose="020B0503020204020204" charset="-122"/>
                <a:ea typeface="微软雅黑" panose="020B0503020204020204" charset="-122"/>
              </a:endParaRPr>
            </a:p>
          </p:txBody>
        </p:sp>
      </p:grpSp>
      <p:grpSp>
        <p:nvGrpSpPr>
          <p:cNvPr id="28" name="组合 27"/>
          <p:cNvGrpSpPr/>
          <p:nvPr>
            <p:custDataLst>
              <p:tags r:id="rId4"/>
            </p:custDataLst>
          </p:nvPr>
        </p:nvGrpSpPr>
        <p:grpSpPr>
          <a:xfrm>
            <a:off x="5380355" y="2327275"/>
            <a:ext cx="6264275" cy="720090"/>
            <a:chOff x="8466" y="1062"/>
            <a:chExt cx="9865" cy="1134"/>
          </a:xfrm>
        </p:grpSpPr>
        <p:sp>
          <p:nvSpPr>
            <p:cNvPr id="29" name="椭圆 28"/>
            <p:cNvSpPr/>
            <p:nvPr>
              <p:custDataLst>
                <p:tags r:id="rId15"/>
              </p:custDataLst>
            </p:nvPr>
          </p:nvSpPr>
          <p:spPr>
            <a:xfrm>
              <a:off x="8466" y="1062"/>
              <a:ext cx="1134" cy="1134"/>
            </a:xfrm>
            <a:prstGeom prst="ellipse">
              <a:avLst/>
            </a:prstGeom>
            <a:solidFill>
              <a:srgbClr val="00885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custDataLst>
                <p:tags r:id="rId16"/>
              </p:custDataLst>
            </p:nvPr>
          </p:nvSpPr>
          <p:spPr>
            <a:xfrm>
              <a:off x="8473" y="1218"/>
              <a:ext cx="1127" cy="822"/>
            </a:xfrm>
            <a:prstGeom prst="rect">
              <a:avLst/>
            </a:prstGeom>
            <a:noFill/>
          </p:spPr>
          <p:txBody>
            <a:bodyPr wrap="square" rtlCol="0">
              <a:spAutoFit/>
            </a:bodyPr>
            <a:lstStyle/>
            <a:p>
              <a:pPr algn="ctr"/>
              <a:r>
                <a:rPr lang="en-US" altLang="zh-CN" sz="2800" b="1">
                  <a:solidFill>
                    <a:srgbClr val="FFFFFF"/>
                  </a:solidFill>
                  <a:latin typeface="黑体" panose="02010609060101010101" charset="-122"/>
                  <a:ea typeface="黑体" panose="02010609060101010101" charset="-122"/>
                </a:rPr>
                <a:t>02</a:t>
              </a:r>
            </a:p>
          </p:txBody>
        </p:sp>
        <p:sp>
          <p:nvSpPr>
            <p:cNvPr id="31" name="圆角矩形 30"/>
            <p:cNvSpPr/>
            <p:nvPr>
              <p:custDataLst>
                <p:tags r:id="rId17"/>
              </p:custDataLst>
            </p:nvPr>
          </p:nvSpPr>
          <p:spPr>
            <a:xfrm>
              <a:off x="9799" y="1062"/>
              <a:ext cx="8532" cy="1133"/>
            </a:xfrm>
            <a:prstGeom prst="roundRect">
              <a:avLst>
                <a:gd name="adj" fmla="val 50000"/>
              </a:avLst>
            </a:prstGeom>
            <a:solidFill>
              <a:schemeClr val="bg2">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custDataLst>
                <p:tags r:id="rId18"/>
              </p:custDataLst>
            </p:nvPr>
          </p:nvSpPr>
          <p:spPr>
            <a:xfrm>
              <a:off x="10913" y="1169"/>
              <a:ext cx="5552" cy="871"/>
            </a:xfrm>
            <a:prstGeom prst="rect">
              <a:avLst/>
            </a:prstGeom>
            <a:noFill/>
          </p:spPr>
          <p:txBody>
            <a:bodyPr wrap="square" rtlCol="0">
              <a:spAutoFit/>
            </a:bodyPr>
            <a:lstStyle/>
            <a:p>
              <a:pPr algn="dist"/>
              <a:r>
                <a:rPr lang="zh-CN" altLang="en-US" sz="3000" b="1">
                  <a:solidFill>
                    <a:srgbClr val="00633D"/>
                  </a:solidFill>
                  <a:latin typeface="微软雅黑" panose="020B0503020204020204" charset="-122"/>
                  <a:ea typeface="微软雅黑" panose="020B0503020204020204" charset="-122"/>
                  <a:sym typeface="+mn-ea"/>
                </a:rPr>
                <a:t>神经网络领域应用</a:t>
              </a:r>
            </a:p>
          </p:txBody>
        </p:sp>
      </p:grpSp>
      <p:grpSp>
        <p:nvGrpSpPr>
          <p:cNvPr id="33" name="组合 32"/>
          <p:cNvGrpSpPr/>
          <p:nvPr>
            <p:custDataLst>
              <p:tags r:id="rId5"/>
            </p:custDataLst>
          </p:nvPr>
        </p:nvGrpSpPr>
        <p:grpSpPr>
          <a:xfrm>
            <a:off x="5375910" y="3530600"/>
            <a:ext cx="6269355" cy="720090"/>
            <a:chOff x="8466" y="1062"/>
            <a:chExt cx="9873" cy="1134"/>
          </a:xfrm>
        </p:grpSpPr>
        <p:sp>
          <p:nvSpPr>
            <p:cNvPr id="34" name="椭圆 33"/>
            <p:cNvSpPr/>
            <p:nvPr>
              <p:custDataLst>
                <p:tags r:id="rId11"/>
              </p:custDataLst>
            </p:nvPr>
          </p:nvSpPr>
          <p:spPr>
            <a:xfrm>
              <a:off x="8466" y="1062"/>
              <a:ext cx="1134" cy="1134"/>
            </a:xfrm>
            <a:prstGeom prst="ellipse">
              <a:avLst/>
            </a:prstGeom>
            <a:solidFill>
              <a:srgbClr val="00885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custDataLst>
                <p:tags r:id="rId12"/>
              </p:custDataLst>
            </p:nvPr>
          </p:nvSpPr>
          <p:spPr>
            <a:xfrm>
              <a:off x="8473" y="1218"/>
              <a:ext cx="1127" cy="822"/>
            </a:xfrm>
            <a:prstGeom prst="rect">
              <a:avLst/>
            </a:prstGeom>
            <a:noFill/>
          </p:spPr>
          <p:txBody>
            <a:bodyPr wrap="square" rtlCol="0">
              <a:spAutoFit/>
            </a:bodyPr>
            <a:lstStyle/>
            <a:p>
              <a:pPr algn="ctr"/>
              <a:r>
                <a:rPr lang="en-US" altLang="zh-CN" sz="2800" b="1">
                  <a:solidFill>
                    <a:srgbClr val="FFFFFF"/>
                  </a:solidFill>
                  <a:latin typeface="黑体" panose="02010609060101010101" charset="-122"/>
                  <a:ea typeface="黑体" panose="02010609060101010101" charset="-122"/>
                </a:rPr>
                <a:t>03</a:t>
              </a:r>
            </a:p>
          </p:txBody>
        </p:sp>
        <p:sp>
          <p:nvSpPr>
            <p:cNvPr id="36" name="圆角矩形 35"/>
            <p:cNvSpPr/>
            <p:nvPr>
              <p:custDataLst>
                <p:tags r:id="rId13"/>
              </p:custDataLst>
            </p:nvPr>
          </p:nvSpPr>
          <p:spPr>
            <a:xfrm>
              <a:off x="9799" y="1062"/>
              <a:ext cx="8540" cy="1133"/>
            </a:xfrm>
            <a:prstGeom prst="roundRect">
              <a:avLst>
                <a:gd name="adj" fmla="val 50000"/>
              </a:avLst>
            </a:prstGeom>
            <a:solidFill>
              <a:schemeClr val="bg2">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custDataLst>
                <p:tags r:id="rId14"/>
              </p:custDataLst>
            </p:nvPr>
          </p:nvSpPr>
          <p:spPr>
            <a:xfrm>
              <a:off x="10920" y="1247"/>
              <a:ext cx="5552" cy="871"/>
            </a:xfrm>
            <a:prstGeom prst="rect">
              <a:avLst/>
            </a:prstGeom>
            <a:noFill/>
          </p:spPr>
          <p:txBody>
            <a:bodyPr wrap="square" rtlCol="0">
              <a:spAutoFit/>
            </a:bodyPr>
            <a:lstStyle/>
            <a:p>
              <a:pPr algn="dist"/>
              <a:r>
                <a:rPr lang="zh-CN" altLang="en-US" sz="3000" b="1">
                  <a:solidFill>
                    <a:srgbClr val="00633D"/>
                  </a:solidFill>
                  <a:latin typeface="微软雅黑" panose="020B0503020204020204" charset="-122"/>
                  <a:ea typeface="微软雅黑" panose="020B0503020204020204" charset="-122"/>
                </a:rPr>
                <a:t>信号处理</a:t>
              </a:r>
              <a:r>
                <a:rPr lang="zh-CN" altLang="en-US" sz="3000" b="1">
                  <a:solidFill>
                    <a:srgbClr val="00633D"/>
                  </a:solidFill>
                  <a:latin typeface="微软雅黑" panose="020B0503020204020204" charset="-122"/>
                  <a:ea typeface="微软雅黑" panose="020B0503020204020204" charset="-122"/>
                  <a:sym typeface="+mn-ea"/>
                </a:rPr>
                <a:t>领域应用</a:t>
              </a:r>
              <a:endParaRPr lang="zh-CN" altLang="en-US" sz="3000" b="1">
                <a:solidFill>
                  <a:srgbClr val="00633D"/>
                </a:solidFill>
                <a:latin typeface="微软雅黑" panose="020B0503020204020204" charset="-122"/>
                <a:ea typeface="微软雅黑" panose="020B0503020204020204" charset="-122"/>
              </a:endParaRPr>
            </a:p>
          </p:txBody>
        </p:sp>
      </p:grpSp>
      <p:grpSp>
        <p:nvGrpSpPr>
          <p:cNvPr id="38" name="组合 37"/>
          <p:cNvGrpSpPr/>
          <p:nvPr>
            <p:custDataLst>
              <p:tags r:id="rId6"/>
            </p:custDataLst>
          </p:nvPr>
        </p:nvGrpSpPr>
        <p:grpSpPr>
          <a:xfrm>
            <a:off x="5375910" y="4733925"/>
            <a:ext cx="6268085" cy="720090"/>
            <a:chOff x="8466" y="1062"/>
            <a:chExt cx="9871" cy="1134"/>
          </a:xfrm>
        </p:grpSpPr>
        <p:sp>
          <p:nvSpPr>
            <p:cNvPr id="39" name="椭圆 38"/>
            <p:cNvSpPr/>
            <p:nvPr>
              <p:custDataLst>
                <p:tags r:id="rId7"/>
              </p:custDataLst>
            </p:nvPr>
          </p:nvSpPr>
          <p:spPr>
            <a:xfrm>
              <a:off x="8466" y="1062"/>
              <a:ext cx="1134" cy="1134"/>
            </a:xfrm>
            <a:prstGeom prst="ellipse">
              <a:avLst/>
            </a:prstGeom>
            <a:solidFill>
              <a:srgbClr val="00885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custDataLst>
                <p:tags r:id="rId8"/>
              </p:custDataLst>
            </p:nvPr>
          </p:nvSpPr>
          <p:spPr>
            <a:xfrm>
              <a:off x="8473" y="1218"/>
              <a:ext cx="1127" cy="822"/>
            </a:xfrm>
            <a:prstGeom prst="rect">
              <a:avLst/>
            </a:prstGeom>
            <a:noFill/>
          </p:spPr>
          <p:txBody>
            <a:bodyPr wrap="square" rtlCol="0">
              <a:spAutoFit/>
            </a:bodyPr>
            <a:lstStyle/>
            <a:p>
              <a:pPr algn="ctr"/>
              <a:r>
                <a:rPr lang="en-US" altLang="zh-CN" sz="2800" b="1">
                  <a:solidFill>
                    <a:srgbClr val="FFFFFF"/>
                  </a:solidFill>
                  <a:latin typeface="黑体" panose="02010609060101010101" charset="-122"/>
                  <a:ea typeface="黑体" panose="02010609060101010101" charset="-122"/>
                </a:rPr>
                <a:t>04</a:t>
              </a:r>
            </a:p>
          </p:txBody>
        </p:sp>
        <p:sp>
          <p:nvSpPr>
            <p:cNvPr id="41" name="圆角矩形 40"/>
            <p:cNvSpPr/>
            <p:nvPr>
              <p:custDataLst>
                <p:tags r:id="rId9"/>
              </p:custDataLst>
            </p:nvPr>
          </p:nvSpPr>
          <p:spPr>
            <a:xfrm>
              <a:off x="9799" y="1062"/>
              <a:ext cx="8538" cy="1133"/>
            </a:xfrm>
            <a:prstGeom prst="roundRect">
              <a:avLst>
                <a:gd name="adj" fmla="val 50000"/>
              </a:avLst>
            </a:prstGeom>
            <a:solidFill>
              <a:schemeClr val="bg2">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txBox="1"/>
            <p:nvPr>
              <p:custDataLst>
                <p:tags r:id="rId10"/>
              </p:custDataLst>
            </p:nvPr>
          </p:nvSpPr>
          <p:spPr>
            <a:xfrm>
              <a:off x="11232" y="1170"/>
              <a:ext cx="4928" cy="871"/>
            </a:xfrm>
            <a:prstGeom prst="rect">
              <a:avLst/>
            </a:prstGeom>
            <a:noFill/>
          </p:spPr>
          <p:txBody>
            <a:bodyPr wrap="square" rtlCol="0">
              <a:spAutoFit/>
            </a:bodyPr>
            <a:lstStyle/>
            <a:p>
              <a:pPr algn="ctr"/>
              <a:r>
                <a:rPr lang="zh-CN" altLang="en-US" sz="3000" b="1">
                  <a:solidFill>
                    <a:srgbClr val="00633D"/>
                  </a:solidFill>
                  <a:latin typeface="微软雅黑" panose="020B0503020204020204" charset="-122"/>
                  <a:ea typeface="微软雅黑" panose="020B0503020204020204" charset="-122"/>
                  <a:sym typeface="+mn-ea"/>
                </a:rPr>
                <a:t>总结与展望</a:t>
              </a:r>
              <a:endParaRPr lang="zh-CN" altLang="en-US" sz="3000" b="1">
                <a:solidFill>
                  <a:srgbClr val="00633D"/>
                </a:solidFill>
                <a:latin typeface="微软雅黑" panose="020B0503020204020204" charset="-122"/>
                <a:ea typeface="微软雅黑" panose="020B0503020204020204" charset="-122"/>
              </a:endParaRPr>
            </a:p>
          </p:txBody>
        </p:sp>
      </p:gr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2"/>
            </p:custDataLst>
          </p:nvPr>
        </p:nvSpPr>
        <p:spPr>
          <a:xfrm>
            <a:off x="-13970" y="1840230"/>
            <a:ext cx="12201525" cy="25196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3"/>
            </p:custDataLst>
          </p:nvPr>
        </p:nvSpPr>
        <p:spPr>
          <a:xfrm>
            <a:off x="4601210" y="991235"/>
            <a:ext cx="2990215" cy="645160"/>
          </a:xfrm>
          <a:prstGeom prst="rect">
            <a:avLst/>
          </a:prstGeom>
          <a:noFill/>
        </p:spPr>
        <p:txBody>
          <a:bodyPr wrap="square" rtlCol="0">
            <a:spAutoFit/>
          </a:bodyPr>
          <a:lstStyle/>
          <a:p>
            <a:pPr algn="ctr"/>
            <a:r>
              <a:rPr lang="en-US" altLang="zh-CN" sz="3600" b="1" dirty="0">
                <a:solidFill>
                  <a:srgbClr val="00633D"/>
                </a:solidFill>
                <a:latin typeface="微软雅黑" panose="020B0503020204020204" charset="-122"/>
                <a:ea typeface="微软雅黑" panose="020B0503020204020204" charset="-122"/>
              </a:rPr>
              <a:t>Part.01</a:t>
            </a:r>
          </a:p>
        </p:txBody>
      </p:sp>
      <p:sp>
        <p:nvSpPr>
          <p:cNvPr id="3" name="文本框 2"/>
          <p:cNvSpPr txBox="1"/>
          <p:nvPr>
            <p:custDataLst>
              <p:tags r:id="rId4"/>
            </p:custDataLst>
          </p:nvPr>
        </p:nvSpPr>
        <p:spPr>
          <a:xfrm>
            <a:off x="3605530" y="2599055"/>
            <a:ext cx="542861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noProof="0" dirty="0">
                <a:ln>
                  <a:noFill/>
                </a:ln>
                <a:solidFill>
                  <a:srgbClr val="FFFFFF"/>
                </a:solidFill>
                <a:effectLst/>
                <a:uLnTx/>
                <a:uFillTx/>
                <a:latin typeface="微软雅黑" panose="020B0503020204020204" charset="-122"/>
                <a:ea typeface="微软雅黑" panose="020B0503020204020204" charset="-122"/>
                <a:sym typeface="+mn-ea"/>
              </a:rPr>
              <a:t>分数阶傅里叶变换的基本理论</a:t>
            </a:r>
            <a:endParaRPr lang="zh-CN" altLang="zh-CN" sz="2800" b="1" dirty="0">
              <a:solidFill>
                <a:schemeClr val="bg1"/>
              </a:solidFill>
            </a:endParaRPr>
          </a:p>
        </p:txBody>
      </p:sp>
      <p:sp>
        <p:nvSpPr>
          <p:cNvPr id="5" name="文本框 4"/>
          <p:cNvSpPr txBox="1"/>
          <p:nvPr>
            <p:custDataLst>
              <p:tags r:id="rId5"/>
            </p:custDataLst>
          </p:nvPr>
        </p:nvSpPr>
        <p:spPr>
          <a:xfrm>
            <a:off x="203847" y="3261370"/>
            <a:ext cx="11983707" cy="398780"/>
          </a:xfrm>
          <a:prstGeom prst="rect">
            <a:avLst/>
          </a:prstGeom>
          <a:noFill/>
        </p:spPr>
        <p:txBody>
          <a:bodyPr wrap="square" rtlCol="0">
            <a:spAutoFit/>
          </a:bodyPr>
          <a:lstStyle/>
          <a:p>
            <a:pPr algn="ctr"/>
            <a:r>
              <a:rPr lang="en-US" altLang="zh-CN" sz="2000" dirty="0">
                <a:solidFill>
                  <a:srgbClr val="FFFFFF"/>
                </a:solidFill>
                <a:latin typeface="+mj-ea"/>
                <a:ea typeface="+mj-ea"/>
              </a:rPr>
              <a:t>Basic Theory of Fractional Fourier Transform</a:t>
            </a:r>
          </a:p>
        </p:txBody>
      </p:sp>
      <p:pic>
        <p:nvPicPr>
          <p:cNvPr id="6" name="图片 5" descr="校徽+南京师范大学"/>
          <p:cNvPicPr>
            <a:picLocks noChangeAspect="1"/>
          </p:cNvPicPr>
          <p:nvPr>
            <p:custDataLst>
              <p:tags r:id="rId6"/>
            </p:custDataLst>
          </p:nvPr>
        </p:nvPicPr>
        <p:blipFill>
          <a:blip r:embed="rId8"/>
          <a:srcRect t="33231" b="38380"/>
          <a:stretch>
            <a:fillRect/>
          </a:stretch>
        </p:blipFill>
        <p:spPr>
          <a:xfrm>
            <a:off x="4601210" y="4655820"/>
            <a:ext cx="3127375" cy="628015"/>
          </a:xfrm>
          <a:prstGeom prst="rect">
            <a:avLst/>
          </a:prstGeom>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2"/>
            </p:custDataLst>
          </p:nvPr>
        </p:nvSpPr>
        <p:spPr>
          <a:xfrm>
            <a:off x="0" y="0"/>
            <a:ext cx="12201525" cy="68453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21" name="图片 20" descr="校徽+南京师范大学(白)"/>
          <p:cNvPicPr>
            <a:picLocks noChangeAspect="1"/>
          </p:cNvPicPr>
          <p:nvPr>
            <p:custDataLst>
              <p:tags r:id="rId3"/>
            </p:custDataLst>
          </p:nvPr>
        </p:nvPicPr>
        <p:blipFill>
          <a:blip r:embed="rId7"/>
          <a:stretch>
            <a:fillRect/>
          </a:stretch>
        </p:blipFill>
        <p:spPr>
          <a:xfrm>
            <a:off x="9427845" y="-587375"/>
            <a:ext cx="2764155" cy="1955165"/>
          </a:xfrm>
          <a:prstGeom prst="rect">
            <a:avLst/>
          </a:prstGeom>
        </p:spPr>
      </p:pic>
      <p:sp>
        <p:nvSpPr>
          <p:cNvPr id="11" name="矩形 10"/>
          <p:cNvSpPr/>
          <p:nvPr>
            <p:custDataLst>
              <p:tags r:id="rId4"/>
            </p:custDataLst>
          </p:nvPr>
        </p:nvSpPr>
        <p:spPr>
          <a:xfrm>
            <a:off x="-9525" y="6738620"/>
            <a:ext cx="12201525" cy="1193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 name="文本框 1"/>
          <p:cNvSpPr txBox="1"/>
          <p:nvPr/>
        </p:nvSpPr>
        <p:spPr>
          <a:xfrm>
            <a:off x="226060" y="109855"/>
            <a:ext cx="524891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分数阶傅里叶变换的基本理论</a:t>
            </a:r>
            <a:endParaRPr kumimoji="0" lang="zh-CN" altLang="en-US" sz="2400" b="1"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sp>
        <p:nvSpPr>
          <p:cNvPr id="63" name="五边形 3"/>
          <p:cNvSpPr/>
          <p:nvPr/>
        </p:nvSpPr>
        <p:spPr>
          <a:xfrm>
            <a:off x="392430" y="811530"/>
            <a:ext cx="3429294" cy="588010"/>
          </a:xfrm>
          <a:prstGeom prst="homePlate">
            <a:avLst>
              <a:gd name="adj" fmla="val 33465"/>
            </a:avLst>
          </a:prstGeom>
          <a:solidFill>
            <a:srgbClr val="16583D"/>
          </a:solidFill>
          <a:ln>
            <a:solidFill>
              <a:srgbClr val="1658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分数傅里叶变换的定义</a:t>
            </a:r>
          </a:p>
        </p:txBody>
      </p:sp>
      <p:sp>
        <p:nvSpPr>
          <p:cNvPr id="16" name="圆角矩形 27"/>
          <p:cNvSpPr/>
          <p:nvPr>
            <p:custDataLst>
              <p:tags r:id="rId5"/>
            </p:custDataLst>
          </p:nvPr>
        </p:nvSpPr>
        <p:spPr>
          <a:xfrm>
            <a:off x="7369791" y="1772920"/>
            <a:ext cx="4428192" cy="4118610"/>
          </a:xfrm>
          <a:prstGeom prst="roundRect">
            <a:avLst/>
          </a:prstGeom>
          <a:solidFill>
            <a:schemeClr val="bg1"/>
          </a:solidFill>
          <a:ln w="28575" cmpd="sng">
            <a:solidFill>
              <a:srgbClr val="16583D"/>
            </a:solidFill>
            <a:prstDash val="sysDash"/>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endParaRPr>
          </a:p>
        </p:txBody>
      </p:sp>
      <p:cxnSp>
        <p:nvCxnSpPr>
          <p:cNvPr id="8" name="直接连接符 7"/>
          <p:cNvCxnSpPr/>
          <p:nvPr/>
        </p:nvCxnSpPr>
        <p:spPr>
          <a:xfrm>
            <a:off x="4843705" y="2095597"/>
            <a:ext cx="11430" cy="3405505"/>
          </a:xfrm>
          <a:prstGeom prst="line">
            <a:avLst/>
          </a:prstGeom>
          <a:ln w="12700" cmpd="sng">
            <a:solidFill>
              <a:srgbClr val="00633D"/>
            </a:solidFill>
            <a:prstDash val="lgDash"/>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177165" y="1671907"/>
            <a:ext cx="4426279"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设输入函数为       ，</a:t>
            </a:r>
            <a:endParaRPr kumimoji="0" lang="en-US" altLang="zh-CN" sz="28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分数傅里叶变换的定义有</a:t>
            </a:r>
            <a:endParaRPr kumimoji="0" lang="zh-CN" altLang="en-US" sz="2800" b="1"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endParaRPr>
          </a:p>
        </p:txBody>
      </p:sp>
      <p:pic>
        <p:nvPicPr>
          <p:cNvPr id="14" name="图片 13" descr="图表, 雷达图, 表面图"/>
          <p:cNvPicPr>
            <a:picLocks noChangeAspect="1"/>
          </p:cNvPicPr>
          <p:nvPr/>
        </p:nvPicPr>
        <p:blipFill>
          <a:blip r:embed="rId8">
            <a:extLst>
              <a:ext uri="{28A0092B-C50C-407E-A947-70E740481C1C}">
                <a14:useLocalDpi xmlns:a14="http://schemas.microsoft.com/office/drawing/2010/main" val="0"/>
              </a:ext>
            </a:extLst>
          </a:blip>
          <a:srcRect r="49685"/>
          <a:stretch>
            <a:fillRect/>
          </a:stretch>
        </p:blipFill>
        <p:spPr>
          <a:xfrm>
            <a:off x="7844430" y="2526042"/>
            <a:ext cx="3478914" cy="2714820"/>
          </a:xfrm>
          <a:prstGeom prst="rect">
            <a:avLst/>
          </a:prstGeom>
        </p:spPr>
      </p:pic>
      <p:graphicFrame>
        <p:nvGraphicFramePr>
          <p:cNvPr id="38" name="对象 37"/>
          <p:cNvGraphicFramePr>
            <a:graphicFrameLocks noChangeAspect="1"/>
          </p:cNvGraphicFramePr>
          <p:nvPr/>
        </p:nvGraphicFramePr>
        <p:xfrm>
          <a:off x="922338" y="1972202"/>
          <a:ext cx="114300" cy="174625"/>
        </p:xfrm>
        <a:graphic>
          <a:graphicData uri="http://schemas.openxmlformats.org/presentationml/2006/ole">
            <mc:AlternateContent xmlns:mc="http://schemas.openxmlformats.org/markup-compatibility/2006">
              <mc:Choice xmlns:v="urn:schemas-microsoft-com:vml" Requires="v">
                <p:oleObj name="Equation" r:id="rId9" imgW="114300" imgH="177165" progId="Equation.DSMT4">
                  <p:embed/>
                </p:oleObj>
              </mc:Choice>
              <mc:Fallback>
                <p:oleObj name="Equation" r:id="rId9" imgW="114300" imgH="177165"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2338" y="1972202"/>
                        <a:ext cx="114300"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41" name="文本框 40"/>
              <p:cNvSpPr txBox="1"/>
              <p:nvPr/>
            </p:nvSpPr>
            <p:spPr>
              <a:xfrm>
                <a:off x="-16119" y="2626014"/>
                <a:ext cx="4385185" cy="6966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smtClean="0">
                              <a:solidFill>
                                <a:srgbClr val="836967"/>
                              </a:solidFill>
                              <a:latin typeface="Cambria Math" panose="02040503050406030204" pitchFamily="18" charset="0"/>
                            </a:rPr>
                          </m:ctrlPr>
                        </m:sSupPr>
                        <m:e>
                          <m:r>
                            <m:rPr>
                              <m:sty m:val="p"/>
                            </m:rPr>
                            <a:rPr lang="zh-CN" altLang="en-US">
                              <a:latin typeface="Cambria Math" panose="02040503050406030204" pitchFamily="18" charset="0"/>
                            </a:rPr>
                            <m:t>F</m:t>
                          </m:r>
                        </m:e>
                        <m:sup>
                          <m:r>
                            <m:rPr>
                              <m:sty m:val="p"/>
                            </m:rPr>
                            <a:rPr lang="zh-CN" altLang="en-US" i="0">
                              <a:latin typeface="Cambria Math" panose="02040503050406030204" pitchFamily="18" charset="0"/>
                            </a:rPr>
                            <m:t>p</m:t>
                          </m:r>
                        </m:sup>
                      </m:sSup>
                      <m:d>
                        <m:dPr>
                          <m:begChr m:val="["/>
                          <m:endChr m:val="]"/>
                          <m:ctrlPr>
                            <a:rPr lang="zh-CN" altLang="en-US" i="1">
                              <a:solidFill>
                                <a:srgbClr val="836967"/>
                              </a:solidFill>
                              <a:latin typeface="Cambria Math" panose="02040503050406030204" pitchFamily="18" charset="0"/>
                            </a:rPr>
                          </m:ctrlPr>
                        </m:dPr>
                        <m:e>
                          <m:r>
                            <m:rPr>
                              <m:sty m:val="p"/>
                            </m:rPr>
                            <a:rPr lang="zh-CN" altLang="en-US" i="0">
                              <a:latin typeface="Cambria Math" panose="02040503050406030204" pitchFamily="18" charset="0"/>
                            </a:rPr>
                            <m:t>f</m:t>
                          </m:r>
                          <m:d>
                            <m:dPr>
                              <m:ctrlPr>
                                <a:rPr lang="zh-CN" altLang="en-US" i="1">
                                  <a:solidFill>
                                    <a:srgbClr val="836967"/>
                                  </a:solidFill>
                                  <a:latin typeface="Cambria Math" panose="02040503050406030204" pitchFamily="18" charset="0"/>
                                </a:rPr>
                              </m:ctrlPr>
                            </m:dPr>
                            <m:e>
                              <m:r>
                                <m:rPr>
                                  <m:sty m:val="p"/>
                                </m:rPr>
                                <a:rPr lang="zh-CN" altLang="en-US" i="0">
                                  <a:latin typeface="Cambria Math" panose="02040503050406030204" pitchFamily="18" charset="0"/>
                                </a:rPr>
                                <m:t>x</m:t>
                              </m:r>
                            </m:e>
                          </m:d>
                        </m:e>
                      </m:d>
                      <m:r>
                        <a:rPr lang="zh-CN" altLang="en-US" i="0">
                          <a:latin typeface="Cambria Math" panose="02040503050406030204" pitchFamily="18" charset="0"/>
                        </a:rPr>
                        <m:t>=</m:t>
                      </m:r>
                      <m:nary>
                        <m:naryPr>
                          <m:limLoc m:val="subSup"/>
                          <m:grow m:val="on"/>
                          <m:ctrlPr>
                            <a:rPr lang="zh-CN" altLang="en-US" i="1">
                              <a:latin typeface="Cambria Math" panose="02040503050406030204" pitchFamily="18" charset="0"/>
                            </a:rPr>
                          </m:ctrlPr>
                        </m:naryPr>
                        <m:sub>
                          <m:r>
                            <a:rPr lang="zh-CN" altLang="en-US" i="0">
                              <a:latin typeface="Cambria Math" panose="02040503050406030204" pitchFamily="18" charset="0"/>
                            </a:rPr>
                            <m:t>−∞</m:t>
                          </m:r>
                        </m:sub>
                        <m:sup>
                          <m:r>
                            <a:rPr lang="zh-CN" altLang="en-US" i="0">
                              <a:latin typeface="Cambria Math" panose="02040503050406030204" pitchFamily="18" charset="0"/>
                            </a:rPr>
                            <m:t>∞</m:t>
                          </m:r>
                        </m:sup>
                        <m:e>
                          <m:r>
                            <a:rPr lang="zh-CN" altLang="en-US" i="0">
                              <a:latin typeface="Cambria Math" panose="02040503050406030204" pitchFamily="18" charset="0"/>
                            </a:rPr>
                            <m:t> </m:t>
                          </m:r>
                        </m:e>
                      </m:nary>
                      <m:r>
                        <a:rPr lang="zh-CN" altLang="en-US" i="0">
                          <a:latin typeface="Cambria Math" panose="02040503050406030204" pitchFamily="18" charset="0"/>
                        </a:rPr>
                        <m:t>  </m:t>
                      </m:r>
                      <m:sSub>
                        <m:sSubPr>
                          <m:ctrlPr>
                            <a:rPr lang="zh-CN" altLang="en-US" i="1">
                              <a:solidFill>
                                <a:srgbClr val="836967"/>
                              </a:solidFill>
                              <a:latin typeface="Cambria Math" panose="02040503050406030204" pitchFamily="18" charset="0"/>
                            </a:rPr>
                          </m:ctrlPr>
                        </m:sSubPr>
                        <m:e>
                          <m:r>
                            <m:rPr>
                              <m:sty m:val="p"/>
                            </m:rPr>
                            <a:rPr lang="zh-CN" altLang="en-US" i="0">
                              <a:latin typeface="Cambria Math" panose="02040503050406030204" pitchFamily="18" charset="0"/>
                            </a:rPr>
                            <m:t>B</m:t>
                          </m:r>
                        </m:e>
                        <m:sub>
                          <m:r>
                            <m:rPr>
                              <m:sty m:val="p"/>
                            </m:rPr>
                            <a:rPr lang="zh-CN" altLang="en-US" i="0">
                              <a:latin typeface="Cambria Math" panose="02040503050406030204" pitchFamily="18" charset="0"/>
                            </a:rPr>
                            <m:t>P</m:t>
                          </m:r>
                        </m:sub>
                      </m:sSub>
                      <m:d>
                        <m:dPr>
                          <m:ctrlPr>
                            <a:rPr lang="zh-CN" altLang="en-US" i="1">
                              <a:solidFill>
                                <a:srgbClr val="836967"/>
                              </a:solidFill>
                              <a:latin typeface="Cambria Math" panose="02040503050406030204" pitchFamily="18" charset="0"/>
                            </a:rPr>
                          </m:ctrlPr>
                        </m:dPr>
                        <m:e>
                          <m:r>
                            <m:rPr>
                              <m:sty m:val="p"/>
                            </m:rPr>
                            <a:rPr lang="zh-CN" altLang="en-US" i="0">
                              <a:latin typeface="Cambria Math" panose="02040503050406030204" pitchFamily="18" charset="0"/>
                            </a:rPr>
                            <m:t>x</m:t>
                          </m:r>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m:rPr>
                                  <m:sty m:val="p"/>
                                </m:rPr>
                                <a:rPr lang="zh-CN" altLang="en-US" i="0">
                                  <a:latin typeface="Cambria Math" panose="02040503050406030204" pitchFamily="18" charset="0"/>
                                </a:rPr>
                                <m:t>x</m:t>
                              </m:r>
                            </m:e>
                            <m:sup>
                              <m:r>
                                <a:rPr lang="zh-CN" altLang="en-US" i="0">
                                  <a:latin typeface="Cambria Math" panose="02040503050406030204" pitchFamily="18" charset="0"/>
                                </a:rPr>
                                <m:t>′</m:t>
                              </m:r>
                            </m:sup>
                          </m:sSup>
                        </m:e>
                      </m:d>
                      <m:r>
                        <m:rPr>
                          <m:sty m:val="p"/>
                        </m:rPr>
                        <a:rPr lang="zh-CN" altLang="en-US" i="0">
                          <a:latin typeface="Cambria Math" panose="02040503050406030204" pitchFamily="18" charset="0"/>
                        </a:rPr>
                        <m:t>f</m:t>
                      </m:r>
                      <m:d>
                        <m:dPr>
                          <m:ctrlPr>
                            <a:rPr lang="zh-CN" altLang="en-US" i="1">
                              <a:solidFill>
                                <a:srgbClr val="836967"/>
                              </a:solidFill>
                              <a:latin typeface="Cambria Math" panose="02040503050406030204" pitchFamily="18" charset="0"/>
                            </a:rPr>
                          </m:ctrlPr>
                        </m:dPr>
                        <m:e>
                          <m:sSup>
                            <m:sSupPr>
                              <m:ctrlPr>
                                <a:rPr lang="zh-CN" altLang="en-US" i="1">
                                  <a:solidFill>
                                    <a:srgbClr val="836967"/>
                                  </a:solidFill>
                                  <a:latin typeface="Cambria Math" panose="02040503050406030204" pitchFamily="18" charset="0"/>
                                </a:rPr>
                              </m:ctrlPr>
                            </m:sSupPr>
                            <m:e>
                              <m:r>
                                <m:rPr>
                                  <m:sty m:val="p"/>
                                </m:rPr>
                                <a:rPr lang="zh-CN" altLang="en-US" i="0">
                                  <a:latin typeface="Cambria Math" panose="02040503050406030204" pitchFamily="18" charset="0"/>
                                </a:rPr>
                                <m:t>x</m:t>
                              </m:r>
                            </m:e>
                            <m:sup>
                              <m:r>
                                <a:rPr lang="zh-CN" altLang="en-US" i="0">
                                  <a:latin typeface="Cambria Math" panose="02040503050406030204" pitchFamily="18" charset="0"/>
                                </a:rPr>
                                <m:t>′</m:t>
                              </m:r>
                            </m:sup>
                          </m:sSup>
                        </m:e>
                      </m:d>
                      <m:sSup>
                        <m:sSupPr>
                          <m:ctrlPr>
                            <a:rPr lang="zh-CN" altLang="en-US" i="1">
                              <a:solidFill>
                                <a:srgbClr val="836967"/>
                              </a:solidFill>
                              <a:latin typeface="Cambria Math" panose="02040503050406030204" pitchFamily="18" charset="0"/>
                            </a:rPr>
                          </m:ctrlPr>
                        </m:sSupPr>
                        <m:e>
                          <m:r>
                            <m:rPr>
                              <m:sty m:val="p"/>
                            </m:rPr>
                            <a:rPr lang="zh-CN" altLang="en-US" i="0">
                              <a:latin typeface="Cambria Math" panose="02040503050406030204" pitchFamily="18" charset="0"/>
                            </a:rPr>
                            <m:t>dx</m:t>
                          </m:r>
                        </m:e>
                        <m:sup>
                          <m:r>
                            <a:rPr lang="zh-CN" altLang="en-US" i="0">
                              <a:latin typeface="Cambria Math" panose="02040503050406030204" pitchFamily="18" charset="0"/>
                            </a:rPr>
                            <m:t>′</m:t>
                          </m:r>
                        </m:sup>
                      </m:sSup>
                    </m:oMath>
                  </m:oMathPara>
                </a14:m>
                <a:endParaRPr lang="zh-CN" altLang="en-US" dirty="0"/>
              </a:p>
            </p:txBody>
          </p:sp>
        </mc:Choice>
        <mc:Fallback xmlns="">
          <p:sp>
            <p:nvSpPr>
              <p:cNvPr id="41" name="文本框 40"/>
              <p:cNvSpPr txBox="1">
                <a:spLocks noRot="1" noChangeAspect="1" noMove="1" noResize="1" noEditPoints="1" noAdjustHandles="1" noChangeArrowheads="1" noChangeShapeType="1" noTextEdit="1"/>
              </p:cNvSpPr>
              <p:nvPr/>
            </p:nvSpPr>
            <p:spPr>
              <a:xfrm>
                <a:off x="-16119" y="2626014"/>
                <a:ext cx="4385185" cy="696657"/>
              </a:xfrm>
              <a:prstGeom prst="rect">
                <a:avLst/>
              </a:prstGeom>
              <a:blipFill rotWithShape="1">
                <a:blip r:embed="rId11"/>
                <a:stretch>
                  <a:fillRect l="6" t="-41" r="6" b="50"/>
                </a:stretch>
              </a:blipFill>
            </p:spPr>
            <p:txBody>
              <a:bodyPr/>
              <a:lstStyle/>
              <a:p>
                <a:r>
                  <a:rPr lang="zh-CN" altLang="en-US">
                    <a:noFill/>
                  </a:rPr>
                  <a:t> </a:t>
                </a:r>
              </a:p>
            </p:txBody>
          </p:sp>
        </mc:Fallback>
      </mc:AlternateContent>
      <p:sp>
        <p:nvSpPr>
          <p:cNvPr id="54" name="Rectangle 2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6" name="Rectangle 26"/>
          <p:cNvSpPr>
            <a:spLocks noChangeArrowheads="1"/>
          </p:cNvSpPr>
          <p:nvPr/>
        </p:nvSpPr>
        <p:spPr bwMode="auto">
          <a:xfrm>
            <a:off x="0" y="1905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800" b="0" i="0" u="none" strike="noStrike" cap="none" normalizeH="0" baseline="0">
                <a:ln>
                  <a:noFill/>
                </a:ln>
                <a:solidFill>
                  <a:schemeClr val="tx1"/>
                </a:solidFill>
                <a:effectLst/>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58" name="文本框 57"/>
          <p:cNvSpPr txBox="1"/>
          <p:nvPr/>
        </p:nvSpPr>
        <p:spPr>
          <a:xfrm>
            <a:off x="4901891" y="2262564"/>
            <a:ext cx="2378691" cy="3139321"/>
          </a:xfrm>
          <a:prstGeom prst="rect">
            <a:avLst/>
          </a:prstGeom>
          <a:noFill/>
        </p:spPr>
        <p:txBody>
          <a:bodyPr wrap="square">
            <a:spAutoFit/>
          </a:bodyPr>
          <a:lstStyle/>
          <a:p>
            <a:pPr algn="just"/>
            <a:r>
              <a:rPr lang="en-US" altLang="zh-CN" sz="1800" kern="100" dirty="0" err="1">
                <a:effectLst/>
                <a:latin typeface="Times New Roman" panose="02020603050405020304" pitchFamily="18" charset="0"/>
                <a:ea typeface="宋体" panose="02010600030101010101" pitchFamily="2" charset="-122"/>
              </a:rPr>
              <a:t>Mendlovic</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sz="1800" kern="100" dirty="0">
                <a:effectLst/>
                <a:ea typeface="Times New Roman" panose="02020603050405020304" pitchFamily="18" charset="0"/>
              </a:rPr>
              <a:t> </a:t>
            </a:r>
            <a:r>
              <a:rPr lang="en-US" altLang="zh-CN" sz="1800" kern="100" dirty="0" err="1">
                <a:effectLst/>
                <a:ea typeface="Times New Roman" panose="02020603050405020304" pitchFamily="18" charset="0"/>
              </a:rPr>
              <a:t>Ozaktas</a:t>
            </a:r>
            <a:r>
              <a:rPr lang="en-US" altLang="zh-CN" sz="1800" kern="100" dirty="0">
                <a:effectLst/>
                <a:ea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等人从</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光在负二次型渐变折射率介质中的传播</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入手，</a:t>
            </a:r>
            <a:r>
              <a:rPr lang="zh-CN" altLang="zh-CN" sz="1800" kern="100" dirty="0">
                <a:effectLst/>
                <a:ea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给出了分数傅里叶变换的级数形式的表达式，而</a:t>
            </a:r>
            <a:r>
              <a:rPr lang="zh-CN" altLang="zh-CN" sz="1800" kern="100" dirty="0">
                <a:effectLst/>
                <a:ea typeface="Times New Roman" panose="02020603050405020304" pitchFamily="18" charset="0"/>
              </a:rPr>
              <a:t> </a:t>
            </a:r>
            <a:r>
              <a:rPr lang="en-US" altLang="zh-CN" sz="1800" kern="100" dirty="0">
                <a:effectLst/>
                <a:ea typeface="Times New Roman" panose="02020603050405020304" pitchFamily="18" charset="0"/>
              </a:rPr>
              <a:t>Lohmann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则从</a:t>
            </a:r>
            <a:r>
              <a:rPr lang="zh-CN" altLang="zh-CN" sz="1800" kern="100" dirty="0">
                <a:effectLst/>
                <a:ea typeface="Times New Roman" panose="02020603050405020304" pitchFamily="18" charset="0"/>
              </a:rPr>
              <a:t> </a:t>
            </a:r>
            <a:r>
              <a:rPr lang="en-US" altLang="zh-CN" sz="1800" kern="100" dirty="0">
                <a:effectLst/>
                <a:ea typeface="Times New Roman" panose="02020603050405020304" pitchFamily="18" charset="0"/>
              </a:rPr>
              <a:t>Wigner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分布函数出发，用</a:t>
            </a:r>
            <a:r>
              <a:rPr lang="zh-CN" altLang="zh-CN" sz="1800" kern="100" dirty="0">
                <a:effectLst/>
                <a:ea typeface="Times New Roman" panose="02020603050405020304" pitchFamily="18" charset="0"/>
              </a:rPr>
              <a:t> </a:t>
            </a:r>
            <a:r>
              <a:rPr lang="en-US" altLang="zh-CN" sz="1800" kern="100" dirty="0">
                <a:effectLst/>
                <a:ea typeface="Times New Roman" panose="02020603050405020304" pitchFamily="18" charset="0"/>
              </a:rPr>
              <a:t>Wigner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分布函数的旋转来定义分数傅里叶变换。</a:t>
            </a:r>
            <a:endParaRPr lang="zh-CN" altLang="en-US" dirty="0"/>
          </a:p>
        </p:txBody>
      </p:sp>
      <p:sp>
        <p:nvSpPr>
          <p:cNvPr id="61"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028" name="对象 1027"/>
          <p:cNvGraphicFramePr>
            <a:graphicFrameLocks noChangeAspect="1"/>
          </p:cNvGraphicFramePr>
          <p:nvPr/>
        </p:nvGraphicFramePr>
        <p:xfrm>
          <a:off x="2367934" y="1652014"/>
          <a:ext cx="800332" cy="571666"/>
        </p:xfrm>
        <a:graphic>
          <a:graphicData uri="http://schemas.openxmlformats.org/presentationml/2006/ole">
            <mc:AlternateContent xmlns:mc="http://schemas.openxmlformats.org/markup-compatibility/2006">
              <mc:Choice xmlns:v="urn:schemas-microsoft-com:vml" Requires="v">
                <p:oleObj name="Equation" r:id="rId12" imgW="266700" imgH="190500" progId="Equation.DSMT4">
                  <p:embed/>
                </p:oleObj>
              </mc:Choice>
              <mc:Fallback>
                <p:oleObj name="Equation" r:id="rId12" imgW="266700" imgH="190500" progId="Equation.DSMT4">
                  <p:embed/>
                  <p:pic>
                    <p:nvPicPr>
                      <p:cNvPr id="0" name="Object 3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67934" y="1652014"/>
                        <a:ext cx="800332" cy="571666"/>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1031" name="文本框 1030"/>
              <p:cNvSpPr txBox="1"/>
              <p:nvPr/>
            </p:nvSpPr>
            <p:spPr>
              <a:xfrm>
                <a:off x="-324581" y="3795112"/>
                <a:ext cx="5799551" cy="17002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𝐵</m:t>
                          </m:r>
                        </m:e>
                        <m:sub>
                          <m:r>
                            <a:rPr lang="zh-CN" altLang="en-US" i="1">
                              <a:latin typeface="Cambria Math" panose="02040503050406030204" pitchFamily="18" charset="0"/>
                            </a:rPr>
                            <m:t>𝑃</m:t>
                          </m:r>
                        </m:sub>
                      </m:sSub>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𝑥</m:t>
                          </m:r>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𝑥</m:t>
                              </m:r>
                            </m:e>
                            <m:sup>
                              <m:r>
                                <a:rPr lang="zh-CN" altLang="en-US" i="0">
                                  <a:latin typeface="Cambria Math" panose="02040503050406030204" pitchFamily="18" charset="0"/>
                                </a:rPr>
                                <m:t>′</m:t>
                              </m:r>
                            </m:sup>
                          </m:sSup>
                        </m:e>
                      </m:d>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exp</m:t>
                              </m:r>
                            </m:fName>
                            <m:e>
                              <m:d>
                                <m:dPr>
                                  <m:begChr m:val="["/>
                                  <m:endChr m:val="]"/>
                                  <m:ctrlPr>
                                    <a:rPr lang="zh-CN" altLang="en-US" i="1">
                                      <a:solidFill>
                                        <a:srgbClr val="836967"/>
                                      </a:solidFill>
                                      <a:latin typeface="Cambria Math" panose="02040503050406030204" pitchFamily="18" charset="0"/>
                                    </a:rPr>
                                  </m:ctrlPr>
                                </m:dPr>
                                <m:e>
                                  <m:r>
                                    <a:rPr lang="zh-CN" altLang="en-US" i="0">
                                      <a:latin typeface="Cambria Math" panose="02040503050406030204" pitchFamily="18" charset="0"/>
                                    </a:rPr>
                                    <m:t>−</m:t>
                                  </m:r>
                                  <m:r>
                                    <a:rPr lang="zh-CN" altLang="en-US" i="1">
                                      <a:latin typeface="Cambria Math" panose="02040503050406030204" pitchFamily="18" charset="0"/>
                                    </a:rPr>
                                    <m:t>𝑖</m:t>
                                  </m:r>
                                  <m:d>
                                    <m:dPr>
                                      <m:ctrlPr>
                                        <a:rPr lang="zh-CN" altLang="en-US" i="1">
                                          <a:solidFill>
                                            <a:srgbClr val="836967"/>
                                          </a:solidFill>
                                          <a:latin typeface="Cambria Math" panose="02040503050406030204" pitchFamily="18" charset="0"/>
                                        </a:rPr>
                                      </m:ctrlPr>
                                    </m:dPr>
                                    <m:e>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𝜋</m:t>
                                          </m:r>
                                          <m:acc>
                                            <m:accPr>
                                              <m:chr m:val="̂"/>
                                              <m:ctrlPr>
                                                <a:rPr lang="zh-CN" altLang="en-US" i="1">
                                                  <a:solidFill>
                                                    <a:srgbClr val="836967"/>
                                                  </a:solidFill>
                                                  <a:latin typeface="Cambria Math" panose="02040503050406030204" pitchFamily="18" charset="0"/>
                                                </a:rPr>
                                              </m:ctrlPr>
                                            </m:accPr>
                                            <m:e>
                                              <m:r>
                                                <a:rPr lang="zh-CN" altLang="en-US" i="1">
                                                  <a:latin typeface="Cambria Math" panose="02040503050406030204" pitchFamily="18" charset="0"/>
                                                </a:rPr>
                                                <m:t>𝜙</m:t>
                                              </m:r>
                                            </m:e>
                                          </m:acc>
                                        </m:num>
                                        <m:den>
                                          <m:r>
                                            <a:rPr lang="zh-CN" altLang="en-US" i="0">
                                              <a:latin typeface="Cambria Math" panose="02040503050406030204" pitchFamily="18" charset="0"/>
                                            </a:rPr>
                                            <m:t>4</m:t>
                                          </m:r>
                                        </m:den>
                                      </m:f>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𝜙</m:t>
                                          </m:r>
                                        </m:num>
                                        <m:den>
                                          <m:r>
                                            <a:rPr lang="zh-CN" altLang="en-US" i="0">
                                              <a:latin typeface="Cambria Math" panose="02040503050406030204" pitchFamily="18" charset="0"/>
                                            </a:rPr>
                                            <m:t>2</m:t>
                                          </m:r>
                                        </m:den>
                                      </m:f>
                                    </m:e>
                                  </m:d>
                                </m:e>
                              </m:d>
                            </m:e>
                          </m:func>
                        </m:num>
                        <m:den>
                          <m:sSup>
                            <m:sSupPr>
                              <m:ctrlPr>
                                <a:rPr lang="zh-CN" altLang="en-US" i="1">
                                  <a:solidFill>
                                    <a:srgbClr val="836967"/>
                                  </a:solidFill>
                                  <a:latin typeface="Cambria Math" panose="02040503050406030204" pitchFamily="18" charset="0"/>
                                </a:rPr>
                              </m:ctrlPr>
                            </m:sSupPr>
                            <m:e>
                              <m:d>
                                <m:dPr>
                                  <m:begChr m:val="|"/>
                                  <m:endChr m:val="|"/>
                                  <m:ctrlPr>
                                    <a:rPr lang="zh-CN" altLang="en-US" i="1">
                                      <a:solidFill>
                                        <a:srgbClr val="836967"/>
                                      </a:solidFill>
                                      <a:latin typeface="Cambria Math" panose="02040503050406030204" pitchFamily="18" charset="0"/>
                                    </a:rPr>
                                  </m:ctrlPr>
                                </m:dPr>
                                <m:e>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sin</m:t>
                                      </m:r>
                                    </m:fName>
                                    <m:e>
                                      <m:r>
                                        <a:rPr lang="zh-CN" altLang="en-US" i="1">
                                          <a:latin typeface="Cambria Math" panose="02040503050406030204" pitchFamily="18" charset="0"/>
                                        </a:rPr>
                                        <m:t>𝜙</m:t>
                                      </m:r>
                                    </m:e>
                                  </m:func>
                                </m:e>
                              </m:d>
                            </m:e>
                            <m:sup>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2</m:t>
                                  </m:r>
                                </m:den>
                              </m:f>
                            </m:sup>
                          </m:sSup>
                        </m:den>
                      </m:f>
                      <m:r>
                        <a:rPr lang="zh-CN" altLang="en-US" i="0">
                          <a:latin typeface="Cambria Math" panose="02040503050406030204" pitchFamily="18" charset="0"/>
                        </a:rPr>
                        <m:t>∙</m:t>
                      </m:r>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exp</m:t>
                          </m:r>
                        </m:fName>
                        <m:e>
                          <m:d>
                            <m:dPr>
                              <m:begChr m:val="["/>
                              <m:endChr m:val="]"/>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𝑖</m:t>
                              </m:r>
                              <m:r>
                                <a:rPr lang="zh-CN" altLang="en-US" i="1">
                                  <a:latin typeface="Cambria Math" panose="02040503050406030204" pitchFamily="18" charset="0"/>
                                </a:rPr>
                                <m:t>𝜋</m:t>
                              </m:r>
                              <m:d>
                                <m:dPr>
                                  <m:ctrlPr>
                                    <a:rPr lang="zh-CN" altLang="en-US" i="1">
                                      <a:solidFill>
                                        <a:srgbClr val="836967"/>
                                      </a:solidFill>
                                      <a:latin typeface="Cambria Math" panose="02040503050406030204" pitchFamily="18" charset="0"/>
                                    </a:rPr>
                                  </m:ctrlPr>
                                </m:dPr>
                                <m:e>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𝑥</m:t>
                                      </m:r>
                                    </m:e>
                                    <m:sup>
                                      <m:r>
                                        <a:rPr lang="zh-CN" altLang="en-US" i="0">
                                          <a:latin typeface="Cambria Math" panose="02040503050406030204" pitchFamily="18" charset="0"/>
                                        </a:rPr>
                                        <m:t>2</m:t>
                                      </m:r>
                                    </m:sup>
                                  </m:sSup>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cot</m:t>
                                      </m:r>
                                    </m:fName>
                                    <m:e>
                                      <m:r>
                                        <a:rPr lang="zh-CN" altLang="en-US" i="1">
                                          <a:latin typeface="Cambria Math" panose="02040503050406030204" pitchFamily="18" charset="0"/>
                                        </a:rPr>
                                        <m:t>𝜙</m:t>
                                      </m:r>
                                    </m:e>
                                  </m:func>
                                  <m:r>
                                    <a:rPr lang="zh-CN" altLang="en-US" i="0">
                                      <a:latin typeface="Cambria Math" panose="02040503050406030204" pitchFamily="18" charset="0"/>
                                    </a:rPr>
                                    <m:t>−2</m:t>
                                  </m:r>
                                  <m:r>
                                    <a:rPr lang="zh-CN" altLang="en-US" i="1">
                                      <a:latin typeface="Cambria Math" panose="02040503050406030204" pitchFamily="18" charset="0"/>
                                    </a:rPr>
                                    <m:t>𝑥</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𝑥</m:t>
                                      </m:r>
                                    </m:e>
                                    <m:sup>
                                      <m:r>
                                        <a:rPr lang="zh-CN" altLang="en-US" i="0">
                                          <a:latin typeface="Cambria Math" panose="02040503050406030204" pitchFamily="18" charset="0"/>
                                        </a:rPr>
                                        <m:t>′</m:t>
                                      </m:r>
                                    </m:sup>
                                  </m:sSup>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csc</m:t>
                                      </m:r>
                                    </m:fName>
                                    <m:e>
                                      <m:r>
                                        <a:rPr lang="zh-CN" altLang="en-US" i="1">
                                          <a:latin typeface="Cambria Math" panose="02040503050406030204" pitchFamily="18" charset="0"/>
                                        </a:rPr>
                                        <m:t>𝜙</m:t>
                                      </m:r>
                                    </m:e>
                                  </m:func>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𝑥</m:t>
                                      </m:r>
                                    </m:e>
                                    <m:sup>
                                      <m:r>
                                        <a:rPr lang="zh-CN" altLang="en-US" i="0">
                                          <a:latin typeface="Cambria Math" panose="02040503050406030204" pitchFamily="18" charset="0"/>
                                        </a:rPr>
                                        <m:t>′2</m:t>
                                      </m:r>
                                    </m:sup>
                                  </m:sSup>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cot</m:t>
                                      </m:r>
                                    </m:fName>
                                    <m:e>
                                      <m:r>
                                        <a:rPr lang="zh-CN" altLang="en-US" i="1">
                                          <a:latin typeface="Cambria Math" panose="02040503050406030204" pitchFamily="18" charset="0"/>
                                        </a:rPr>
                                        <m:t>𝜙</m:t>
                                      </m:r>
                                    </m:e>
                                  </m:func>
                                </m:e>
                              </m:d>
                            </m:e>
                          </m:d>
                        </m:e>
                      </m:func>
                    </m:oMath>
                  </m:oMathPara>
                </a14:m>
                <a:endParaRPr lang="zh-CN" altLang="en-US" dirty="0"/>
              </a:p>
            </p:txBody>
          </p:sp>
        </mc:Choice>
        <mc:Fallback xmlns="">
          <p:sp>
            <p:nvSpPr>
              <p:cNvPr id="1031" name="文本框 1030"/>
              <p:cNvSpPr txBox="1">
                <a:spLocks noRot="1" noChangeAspect="1" noMove="1" noResize="1" noEditPoints="1" noAdjustHandles="1" noChangeArrowheads="1" noChangeShapeType="1" noTextEdit="1"/>
              </p:cNvSpPr>
              <p:nvPr/>
            </p:nvSpPr>
            <p:spPr>
              <a:xfrm>
                <a:off x="-324581" y="3795112"/>
                <a:ext cx="5799551" cy="1700274"/>
              </a:xfrm>
              <a:prstGeom prst="rect">
                <a:avLst/>
              </a:prstGeom>
              <a:blipFill rotWithShape="1">
                <a:blip r:embed="rId14"/>
                <a:stretch>
                  <a:fillRect l="2" t="-21" b="6"/>
                </a:stretch>
              </a:blipFill>
            </p:spPr>
            <p:txBody>
              <a:bodyPr/>
              <a:lstStyle/>
              <a:p>
                <a:r>
                  <a:rPr lang="zh-CN" altLang="en-US">
                    <a:noFill/>
                  </a:rPr>
                  <a:t> </a:t>
                </a:r>
              </a:p>
            </p:txBody>
          </p:sp>
        </mc:Fallback>
      </mc:AlternateContent>
      <p:sp>
        <p:nvSpPr>
          <p:cNvPr id="1032" name="文本框 1031"/>
          <p:cNvSpPr txBox="1"/>
          <p:nvPr/>
        </p:nvSpPr>
        <p:spPr>
          <a:xfrm>
            <a:off x="177165" y="3261143"/>
            <a:ext cx="421014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其中</a:t>
            </a:r>
            <a:endParaRPr kumimoji="0" lang="zh-CN" altLang="en-US" sz="2000" b="1"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endParaRPr>
          </a:p>
        </p:txBody>
      </p:sp>
      <mc:AlternateContent xmlns:mc="http://schemas.openxmlformats.org/markup-compatibility/2006" xmlns:a14="http://schemas.microsoft.com/office/drawing/2010/main">
        <mc:Choice Requires="a14">
          <p:sp>
            <p:nvSpPr>
              <p:cNvPr id="1036" name="文本框 1035"/>
              <p:cNvSpPr txBox="1"/>
              <p:nvPr/>
            </p:nvSpPr>
            <p:spPr>
              <a:xfrm>
                <a:off x="103821" y="5426693"/>
                <a:ext cx="4619754" cy="1321452"/>
              </a:xfrm>
              <a:prstGeom prst="rect">
                <a:avLst/>
              </a:prstGeom>
              <a:noFill/>
            </p:spPr>
            <p:txBody>
              <a:bodyPr wrap="square">
                <a:spAutoFit/>
              </a:bodyPr>
              <a:lstStyle/>
              <a:p>
                <a:pPr indent="2667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这里，</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𝜙</m:t>
                    </m:r>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𝑃</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𝜋</m:t>
                        </m:r>
                      </m:num>
                      <m:den>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并且</a:t>
                </a:r>
                <a14:m>
                  <m:oMath xmlns:m="http://schemas.openxmlformats.org/officeDocument/2006/math">
                    <m:acc>
                      <m:accPr>
                        <m: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𝜙</m:t>
                        </m:r>
                      </m:e>
                    </m:acc>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sgn</m:t>
                    </m:r>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sin</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𝜙</m:t>
                        </m:r>
                      </m:e>
                    </m:d>
                  </m:oMath>
                </a14:m>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𝑃</m:t>
                    </m:r>
                  </m:oMath>
                </a14:m>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为分数傅里叶变换的级次，对</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𝑃</m:t>
                    </m:r>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0</m:t>
                    </m:r>
                  </m:oMath>
                </a14:m>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𝑃</m:t>
                    </m:r>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2</m:t>
                    </m:r>
                  </m:oMath>
                </a14:m>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时，函数有确定的值</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𝐵</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0</m:t>
                        </m:r>
                      </m:sub>
                    </m:sSub>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up>
                        </m:sSup>
                      </m:e>
                    </m:d>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𝛿</m:t>
                    </m:r>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up>
                        </m:sSup>
                      </m:e>
                    </m:d>
                  </m:oMath>
                </a14:m>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𝐵</m:t>
                        </m:r>
                      </m:e>
                      <m:sub>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sub>
                    </m:s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2</m:t>
                    </m:r>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up>
                        </m:sSup>
                      </m:e>
                    </m:d>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𝛿</m:t>
                    </m:r>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up>
                        </m:sSup>
                      </m:e>
                    </m:d>
                  </m:oMath>
                </a14:m>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mc:Choice>
        <mc:Fallback xmlns="">
          <p:sp>
            <p:nvSpPr>
              <p:cNvPr id="1036" name="文本框 1035"/>
              <p:cNvSpPr txBox="1">
                <a:spLocks noRot="1" noChangeAspect="1" noMove="1" noResize="1" noEditPoints="1" noAdjustHandles="1" noChangeArrowheads="1" noChangeShapeType="1" noTextEdit="1"/>
              </p:cNvSpPr>
              <p:nvPr/>
            </p:nvSpPr>
            <p:spPr>
              <a:xfrm>
                <a:off x="103821" y="5426693"/>
                <a:ext cx="4619754" cy="1321452"/>
              </a:xfrm>
              <a:prstGeom prst="rect">
                <a:avLst/>
              </a:prstGeom>
              <a:blipFill rotWithShape="1">
                <a:blip r:embed="rId15"/>
                <a:stretch>
                  <a:fillRect l="-7" t="-47" r="-1667"/>
                </a:stretch>
              </a:blipFill>
            </p:spPr>
            <p:txBody>
              <a:bodyPr/>
              <a:lstStyle/>
              <a:p>
                <a:r>
                  <a:rPr lang="zh-CN" altLang="en-US">
                    <a:noFill/>
                  </a:rPr>
                  <a:t> </a:t>
                </a:r>
              </a:p>
            </p:txBody>
          </p:sp>
        </mc:Fallback>
      </mc:AlternateContent>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2"/>
            </p:custDataLst>
          </p:nvPr>
        </p:nvSpPr>
        <p:spPr>
          <a:xfrm>
            <a:off x="0" y="0"/>
            <a:ext cx="12201525" cy="68453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21" name="图片 20" descr="校徽+南京师范大学(白)"/>
          <p:cNvPicPr>
            <a:picLocks noChangeAspect="1"/>
          </p:cNvPicPr>
          <p:nvPr>
            <p:custDataLst>
              <p:tags r:id="rId3"/>
            </p:custDataLst>
          </p:nvPr>
        </p:nvPicPr>
        <p:blipFill>
          <a:blip r:embed="rId15"/>
          <a:stretch>
            <a:fillRect/>
          </a:stretch>
        </p:blipFill>
        <p:spPr>
          <a:xfrm>
            <a:off x="9427845" y="-587375"/>
            <a:ext cx="2764155" cy="1955165"/>
          </a:xfrm>
          <a:prstGeom prst="rect">
            <a:avLst/>
          </a:prstGeom>
        </p:spPr>
      </p:pic>
      <p:sp>
        <p:nvSpPr>
          <p:cNvPr id="11" name="矩形 10"/>
          <p:cNvSpPr/>
          <p:nvPr>
            <p:custDataLst>
              <p:tags r:id="rId4"/>
            </p:custDataLst>
          </p:nvPr>
        </p:nvSpPr>
        <p:spPr>
          <a:xfrm>
            <a:off x="-9525" y="6738620"/>
            <a:ext cx="12201525" cy="1193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 name="文本框 1"/>
          <p:cNvSpPr txBox="1"/>
          <p:nvPr/>
        </p:nvSpPr>
        <p:spPr>
          <a:xfrm>
            <a:off x="226060" y="109855"/>
            <a:ext cx="524891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分数阶傅里叶变换的基本理论</a:t>
            </a:r>
            <a:endParaRPr kumimoji="0" lang="zh-CN" altLang="en-US" sz="2400" b="1"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sp>
        <p:nvSpPr>
          <p:cNvPr id="63" name="五边形 3"/>
          <p:cNvSpPr/>
          <p:nvPr/>
        </p:nvSpPr>
        <p:spPr>
          <a:xfrm>
            <a:off x="6021264" y="893830"/>
            <a:ext cx="1604727" cy="588010"/>
          </a:xfrm>
          <a:prstGeom prst="homePlate">
            <a:avLst>
              <a:gd name="adj" fmla="val 33465"/>
            </a:avLst>
          </a:prstGeom>
          <a:solidFill>
            <a:srgbClr val="16583D"/>
          </a:solidFill>
          <a:ln>
            <a:solidFill>
              <a:srgbClr val="1658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基本性质</a:t>
            </a:r>
          </a:p>
        </p:txBody>
      </p:sp>
      <p:sp>
        <p:nvSpPr>
          <p:cNvPr id="54" name="Rectangle 2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6" name="Rectangle 26"/>
          <p:cNvSpPr>
            <a:spLocks noChangeArrowheads="1"/>
          </p:cNvSpPr>
          <p:nvPr/>
        </p:nvSpPr>
        <p:spPr bwMode="auto">
          <a:xfrm>
            <a:off x="0" y="1905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800" b="0" i="0" u="none" strike="noStrike" cap="none" normalizeH="0" baseline="0">
                <a:ln>
                  <a:noFill/>
                </a:ln>
                <a:solidFill>
                  <a:schemeClr val="tx1"/>
                </a:solidFill>
                <a:effectLst/>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61"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custDataLst>
              <p:tags r:id="rId5"/>
            </p:custDataLst>
          </p:nvPr>
        </p:nvGrpSpPr>
        <p:grpSpPr>
          <a:xfrm>
            <a:off x="5932445" y="720279"/>
            <a:ext cx="147600" cy="5738721"/>
            <a:chOff x="6034087" y="2027816"/>
            <a:chExt cx="147600" cy="4786868"/>
          </a:xfrm>
        </p:grpSpPr>
        <p:cxnSp>
          <p:nvCxnSpPr>
            <p:cNvPr id="4" name="直接连接符 3"/>
            <p:cNvCxnSpPr>
              <a:stCxn id="5" idx="4"/>
              <a:endCxn id="6" idx="0"/>
            </p:cNvCxnSpPr>
            <p:nvPr>
              <p:custDataLst>
                <p:tags r:id="rId11"/>
              </p:custDataLst>
            </p:nvPr>
          </p:nvCxnSpPr>
          <p:spPr>
            <a:xfrm>
              <a:off x="6107887" y="2150934"/>
              <a:ext cx="0" cy="4539925"/>
            </a:xfrm>
            <a:prstGeom prst="line">
              <a:avLst/>
            </a:prstGeom>
            <a:ln w="9525">
              <a:solidFill>
                <a:srgbClr val="008853"/>
              </a:solidFill>
            </a:ln>
          </p:spPr>
          <p:style>
            <a:lnRef idx="1">
              <a:schemeClr val="accent1"/>
            </a:lnRef>
            <a:fillRef idx="0">
              <a:schemeClr val="accent1"/>
            </a:fillRef>
            <a:effectRef idx="0">
              <a:schemeClr val="accent1"/>
            </a:effectRef>
            <a:fontRef idx="minor">
              <a:schemeClr val="tx1"/>
            </a:fontRef>
          </p:style>
        </p:cxnSp>
        <p:sp>
          <p:nvSpPr>
            <p:cNvPr id="5" name="椭圆 4"/>
            <p:cNvSpPr/>
            <p:nvPr>
              <p:custDataLst>
                <p:tags r:id="rId12"/>
              </p:custDataLst>
            </p:nvPr>
          </p:nvSpPr>
          <p:spPr>
            <a:xfrm>
              <a:off x="6034087" y="2027816"/>
              <a:ext cx="147600" cy="123118"/>
            </a:xfrm>
            <a:prstGeom prst="ellipse">
              <a:avLst/>
            </a:prstGeom>
            <a:solidFill>
              <a:srgbClr val="0063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sym typeface="+mn-lt"/>
              </a:endParaRPr>
            </a:p>
          </p:txBody>
        </p:sp>
        <p:sp>
          <p:nvSpPr>
            <p:cNvPr id="6" name="椭圆 5"/>
            <p:cNvSpPr/>
            <p:nvPr>
              <p:custDataLst>
                <p:tags r:id="rId13"/>
              </p:custDataLst>
            </p:nvPr>
          </p:nvSpPr>
          <p:spPr>
            <a:xfrm>
              <a:off x="6034087" y="6690859"/>
              <a:ext cx="147600" cy="123825"/>
            </a:xfrm>
            <a:prstGeom prst="ellipse">
              <a:avLst/>
            </a:prstGeom>
            <a:solidFill>
              <a:srgbClr val="0063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sym typeface="+mn-lt"/>
              </a:endParaRPr>
            </a:p>
          </p:txBody>
        </p:sp>
      </p:grpSp>
      <p:sp>
        <p:nvSpPr>
          <p:cNvPr id="7" name="圆角矩形 16"/>
          <p:cNvSpPr/>
          <p:nvPr>
            <p:custDataLst>
              <p:tags r:id="rId6"/>
            </p:custDataLst>
          </p:nvPr>
        </p:nvSpPr>
        <p:spPr>
          <a:xfrm>
            <a:off x="5275063" y="1478970"/>
            <a:ext cx="743585" cy="730250"/>
          </a:xfrm>
          <a:prstGeom prst="roundRect">
            <a:avLst/>
          </a:prstGeom>
          <a:noFill/>
          <a:ln>
            <a:solidFill>
              <a:srgbClr val="0063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633D"/>
                </a:solidFill>
                <a:effectLst/>
                <a:uLnTx/>
                <a:uFillTx/>
                <a:latin typeface="Arial" panose="020B0604020202020204"/>
                <a:ea typeface="微软雅黑" panose="020B0503020204020204" charset="-122"/>
                <a:cs typeface="+mn-ea"/>
                <a:sym typeface="+mn-lt"/>
              </a:rPr>
              <a:t>线性性质</a:t>
            </a:r>
          </a:p>
        </p:txBody>
      </p:sp>
      <p:sp>
        <p:nvSpPr>
          <p:cNvPr id="17" name="圆角矩形 16"/>
          <p:cNvSpPr/>
          <p:nvPr>
            <p:custDataLst>
              <p:tags r:id="rId7"/>
            </p:custDataLst>
          </p:nvPr>
        </p:nvSpPr>
        <p:spPr>
          <a:xfrm>
            <a:off x="6018648" y="2357786"/>
            <a:ext cx="743585" cy="730250"/>
          </a:xfrm>
          <a:prstGeom prst="roundRect">
            <a:avLst/>
          </a:prstGeom>
          <a:noFill/>
          <a:ln>
            <a:solidFill>
              <a:srgbClr val="0063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633D"/>
                </a:solidFill>
                <a:effectLst/>
                <a:uLnTx/>
                <a:uFillTx/>
                <a:latin typeface="Arial" panose="020B0604020202020204"/>
                <a:ea typeface="微软雅黑" panose="020B0503020204020204" charset="-122"/>
                <a:cs typeface="+mn-ea"/>
                <a:sym typeface="+mn-lt"/>
              </a:rPr>
              <a:t>可逆性质</a:t>
            </a:r>
          </a:p>
        </p:txBody>
      </p:sp>
      <p:sp>
        <p:nvSpPr>
          <p:cNvPr id="18" name="圆角矩形 16"/>
          <p:cNvSpPr/>
          <p:nvPr>
            <p:custDataLst>
              <p:tags r:id="rId8"/>
            </p:custDataLst>
          </p:nvPr>
        </p:nvSpPr>
        <p:spPr>
          <a:xfrm>
            <a:off x="5262660" y="3224091"/>
            <a:ext cx="743585" cy="730250"/>
          </a:xfrm>
          <a:prstGeom prst="roundRect">
            <a:avLst/>
          </a:prstGeom>
          <a:noFill/>
          <a:ln>
            <a:solidFill>
              <a:srgbClr val="0063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633D"/>
                </a:solidFill>
                <a:effectLst/>
                <a:uLnTx/>
                <a:uFillTx/>
                <a:latin typeface="Arial" panose="020B0604020202020204"/>
                <a:ea typeface="微软雅黑" panose="020B0503020204020204" charset="-122"/>
                <a:cs typeface="+mn-ea"/>
                <a:sym typeface="+mn-lt"/>
              </a:rPr>
              <a:t>连续性质</a:t>
            </a:r>
          </a:p>
        </p:txBody>
      </p:sp>
      <p:sp>
        <p:nvSpPr>
          <p:cNvPr id="19" name="圆角矩形 16"/>
          <p:cNvSpPr/>
          <p:nvPr>
            <p:custDataLst>
              <p:tags r:id="rId9"/>
            </p:custDataLst>
          </p:nvPr>
        </p:nvSpPr>
        <p:spPr>
          <a:xfrm>
            <a:off x="6006246" y="4200307"/>
            <a:ext cx="743585" cy="730250"/>
          </a:xfrm>
          <a:prstGeom prst="roundRect">
            <a:avLst/>
          </a:prstGeom>
          <a:noFill/>
          <a:ln>
            <a:solidFill>
              <a:srgbClr val="0063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633D"/>
                </a:solidFill>
                <a:effectLst/>
                <a:uLnTx/>
                <a:uFillTx/>
                <a:latin typeface="Arial" panose="020B0604020202020204"/>
                <a:ea typeface="微软雅黑" panose="020B0503020204020204" charset="-122"/>
                <a:cs typeface="+mn-ea"/>
                <a:sym typeface="+mn-lt"/>
              </a:rPr>
              <a:t>周期性质</a:t>
            </a:r>
          </a:p>
        </p:txBody>
      </p:sp>
      <p:sp>
        <p:nvSpPr>
          <p:cNvPr id="20" name="圆角矩形 16"/>
          <p:cNvSpPr/>
          <p:nvPr>
            <p:custDataLst>
              <p:tags r:id="rId10"/>
            </p:custDataLst>
          </p:nvPr>
        </p:nvSpPr>
        <p:spPr>
          <a:xfrm>
            <a:off x="5036915" y="5158801"/>
            <a:ext cx="969330" cy="890592"/>
          </a:xfrm>
          <a:prstGeom prst="roundRect">
            <a:avLst/>
          </a:prstGeom>
          <a:noFill/>
          <a:ln>
            <a:solidFill>
              <a:srgbClr val="0063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633D"/>
                </a:solidFill>
                <a:effectLst/>
                <a:uLnTx/>
                <a:uFillTx/>
                <a:latin typeface="Arial" panose="020B0604020202020204"/>
                <a:ea typeface="微软雅黑" panose="020B0503020204020204" charset="-122"/>
                <a:cs typeface="+mn-ea"/>
                <a:sym typeface="+mn-lt"/>
              </a:rPr>
              <a:t>指数可加和变换性质</a:t>
            </a:r>
          </a:p>
        </p:txBody>
      </p:sp>
      <mc:AlternateContent xmlns:mc="http://schemas.openxmlformats.org/markup-compatibility/2006" xmlns:a14="http://schemas.microsoft.com/office/drawing/2010/main">
        <mc:Choice Requires="a14">
          <p:sp>
            <p:nvSpPr>
              <p:cNvPr id="25" name="文本框 24"/>
              <p:cNvSpPr txBox="1"/>
              <p:nvPr/>
            </p:nvSpPr>
            <p:spPr>
              <a:xfrm>
                <a:off x="36899" y="919306"/>
                <a:ext cx="5201264" cy="2031325"/>
              </a:xfrm>
              <a:prstGeom prst="rect">
                <a:avLst/>
              </a:prstGeom>
              <a:noFill/>
            </p:spPr>
            <p:txBody>
              <a:bodyPr wrap="square">
                <a:spAutoFit/>
              </a:bodyPr>
              <a:lstStyle/>
              <a:p>
                <a:pPr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几个函数线性叠加的分数傅里叶变换等于这几个函数同级次的分数傅里叶变换的线性叠加，</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p>
                        <m:sSupPr>
                          <m:ctrlPr>
                            <a:rPr lang="zh-CN" altLang="zh-CN" sz="1800" i="1" kern="100" smtClean="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F</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𝑔</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e>
                      </m:d>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e>
                      </m:d>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b>
                      </m:sSub>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𝑔</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e>
                      </m:d>
                    </m:oMath>
                  </m:oMathPara>
                </a14:m>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是任意复常数。</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mc:Choice>
        <mc:Fallback xmlns="">
          <p:sp>
            <p:nvSpPr>
              <p:cNvPr id="25" name="文本框 24"/>
              <p:cNvSpPr txBox="1">
                <a:spLocks noRot="1" noChangeAspect="1" noMove="1" noResize="1" noEditPoints="1" noAdjustHandles="1" noChangeArrowheads="1" noChangeShapeType="1" noTextEdit="1"/>
              </p:cNvSpPr>
              <p:nvPr/>
            </p:nvSpPr>
            <p:spPr>
              <a:xfrm>
                <a:off x="36899" y="919306"/>
                <a:ext cx="5201264" cy="2031325"/>
              </a:xfrm>
              <a:prstGeom prst="rect">
                <a:avLst/>
              </a:prstGeom>
              <a:blipFill rotWithShape="1">
                <a:blip r:embed="rId16"/>
                <a:stretch>
                  <a:fillRect l="-1" t="-23" r="1" b="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p:cNvSpPr txBox="1"/>
              <p:nvPr/>
            </p:nvSpPr>
            <p:spPr>
              <a:xfrm>
                <a:off x="46378" y="3233505"/>
                <a:ext cx="5201264" cy="923330"/>
              </a:xfrm>
              <a:prstGeom prst="rect">
                <a:avLst/>
              </a:prstGeom>
              <a:noFill/>
            </p:spPr>
            <p:txBody>
              <a:bodyPr wrap="square">
                <a:spAutoFit/>
              </a:bodyPr>
              <a:lstStyle/>
              <a:p>
                <a:pPr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对于</a:t>
                </a:r>
                <a:r>
                  <a:rPr lang="zh-CN" altLang="zh-CN" sz="1800" kern="1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altLang="zh-CN" sz="1800" kern="100" dirty="0">
                    <a:effectLst/>
                    <a:latin typeface="Calibri" panose="020F0502020204030204" pitchFamily="34" charset="0"/>
                    <a:ea typeface="Times New Roman" panose="02020603050405020304" pitchFamily="18" charset="0"/>
                    <a:cs typeface="Times New Roman" panose="02020603050405020304" pitchFamily="18" charset="0"/>
                  </a:rPr>
                  <a:t>P1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P2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阶两次分数傅里叶变换，有</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p>
                        <m:sSupPr>
                          <m:ctrlPr>
                            <a:rPr lang="zh-CN" altLang="zh-CN" sz="1800" i="1" kern="100" smtClean="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b>
                          </m:sSub>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b>
                          </m:sSub>
                        </m:sup>
                      </m:s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sup>
                      </m:sSup>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b>
                          </m:sSub>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b>
                          </m:sSub>
                        </m:sup>
                      </m:s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b>
                          </m:sSub>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b>
                          </m:sSub>
                        </m:sup>
                      </m:sSup>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sup>
                      </m:s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oMath>
                  </m:oMathPara>
                </a14:m>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mc:Choice>
        <mc:Fallback xmlns="">
          <p:sp>
            <p:nvSpPr>
              <p:cNvPr id="27" name="文本框 26"/>
              <p:cNvSpPr txBox="1">
                <a:spLocks noRot="1" noChangeAspect="1" noMove="1" noResize="1" noEditPoints="1" noAdjustHandles="1" noChangeArrowheads="1" noChangeShapeType="1" noTextEdit="1"/>
              </p:cNvSpPr>
              <p:nvPr/>
            </p:nvSpPr>
            <p:spPr>
              <a:xfrm>
                <a:off x="46378" y="3233505"/>
                <a:ext cx="5201264" cy="923330"/>
              </a:xfrm>
              <a:prstGeom prst="rect">
                <a:avLst/>
              </a:prstGeom>
              <a:blipFill rotWithShape="1">
                <a:blip r:embed="rId17"/>
                <a:stretch>
                  <a:fillRect t="-9" b="14"/>
                </a:stretch>
              </a:blipFill>
            </p:spPr>
            <p:txBody>
              <a:bodyPr/>
              <a:lstStyle/>
              <a:p>
                <a:r>
                  <a:rPr lang="zh-CN" altLang="en-US">
                    <a:noFill/>
                  </a:rPr>
                  <a:t> </a:t>
                </a:r>
              </a:p>
            </p:txBody>
          </p:sp>
        </mc:Fallback>
      </mc:AlternateContent>
      <p:cxnSp>
        <p:nvCxnSpPr>
          <p:cNvPr id="28" name="直接连接符 27"/>
          <p:cNvCxnSpPr/>
          <p:nvPr/>
        </p:nvCxnSpPr>
        <p:spPr>
          <a:xfrm>
            <a:off x="58163" y="2948705"/>
            <a:ext cx="4874348" cy="0"/>
          </a:xfrm>
          <a:prstGeom prst="line">
            <a:avLst/>
          </a:prstGeom>
          <a:ln w="12700" cmpd="sng">
            <a:solidFill>
              <a:srgbClr val="00633D"/>
            </a:solidFill>
            <a:prstDash val="lgDash"/>
          </a:ln>
        </p:spPr>
        <p:style>
          <a:lnRef idx="2">
            <a:schemeClr val="accent1"/>
          </a:lnRef>
          <a:fillRef idx="0">
            <a:srgbClr val="FFFFFF"/>
          </a:fillRef>
          <a:effectRef idx="0">
            <a:srgbClr val="FFFFFF"/>
          </a:effectRef>
          <a:fontRef idx="minor">
            <a:schemeClr val="tx1"/>
          </a:fontRef>
        </p:style>
      </p:cxnSp>
      <p:cxnSp>
        <p:nvCxnSpPr>
          <p:cNvPr id="30" name="直接连接符 29"/>
          <p:cNvCxnSpPr/>
          <p:nvPr/>
        </p:nvCxnSpPr>
        <p:spPr>
          <a:xfrm>
            <a:off x="350729" y="4521961"/>
            <a:ext cx="4686186" cy="0"/>
          </a:xfrm>
          <a:prstGeom prst="line">
            <a:avLst/>
          </a:prstGeom>
          <a:ln w="12700" cmpd="sng">
            <a:solidFill>
              <a:srgbClr val="00633D"/>
            </a:solidFill>
            <a:prstDash val="lgDash"/>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32" name="文本框 31"/>
              <p:cNvSpPr txBox="1"/>
              <p:nvPr/>
            </p:nvSpPr>
            <p:spPr>
              <a:xfrm>
                <a:off x="-88036" y="5125280"/>
                <a:ext cx="5109933" cy="957634"/>
              </a:xfrm>
              <a:prstGeom prst="rect">
                <a:avLst/>
              </a:prstGeom>
              <a:noFill/>
            </p:spPr>
            <p:txBody>
              <a:bodyPr wrap="square">
                <a:spAutoFit/>
              </a:bodyPr>
              <a:lstStyle/>
              <a:p>
                <a:pPr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级联的数学分数傅里叶变换可以改变其先后次序，并有可加性和交换性，有</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p>
                        <m:sSupPr>
                          <m:ctrlPr>
                            <a:rPr lang="zh-CN" altLang="zh-CN" sz="1800" i="1" kern="100" smtClean="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b>
                              </m:sSub>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e>
                          </m:d>
                        </m:e>
                      </m:d>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b>
                          </m:sSub>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e>
                          </m:d>
                        </m:e>
                      </m:d>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b>
                          </m:sSub>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e>
                      </m:d>
                    </m:oMath>
                  </m:oMathPara>
                </a14:m>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mc:Choice>
        <mc:Fallback xmlns="">
          <p:sp>
            <p:nvSpPr>
              <p:cNvPr id="32" name="文本框 31"/>
              <p:cNvSpPr txBox="1">
                <a:spLocks noRot="1" noChangeAspect="1" noMove="1" noResize="1" noEditPoints="1" noAdjustHandles="1" noChangeArrowheads="1" noChangeShapeType="1" noTextEdit="1"/>
              </p:cNvSpPr>
              <p:nvPr/>
            </p:nvSpPr>
            <p:spPr>
              <a:xfrm>
                <a:off x="-88036" y="5125280"/>
                <a:ext cx="5109933" cy="957634"/>
              </a:xfrm>
              <a:prstGeom prst="rect">
                <a:avLst/>
              </a:prstGeom>
              <a:blipFill rotWithShape="1">
                <a:blip r:embed="rId18"/>
                <a:stretch>
                  <a:fillRect l="8" t="-20" r="-205" b="26"/>
                </a:stretch>
              </a:blipFill>
            </p:spPr>
            <p:txBody>
              <a:bodyPr/>
              <a:lstStyle/>
              <a:p>
                <a:r>
                  <a:rPr lang="zh-CN" altLang="en-US">
                    <a:noFill/>
                  </a:rPr>
                  <a:t> </a:t>
                </a:r>
              </a:p>
            </p:txBody>
          </p:sp>
        </mc:Fallback>
      </mc:AlternateContent>
      <p:cxnSp>
        <p:nvCxnSpPr>
          <p:cNvPr id="37" name="直接连接符 36"/>
          <p:cNvCxnSpPr/>
          <p:nvPr/>
        </p:nvCxnSpPr>
        <p:spPr>
          <a:xfrm>
            <a:off x="7084751" y="3589216"/>
            <a:ext cx="4686186" cy="0"/>
          </a:xfrm>
          <a:prstGeom prst="line">
            <a:avLst/>
          </a:prstGeom>
          <a:ln w="12700" cmpd="sng">
            <a:solidFill>
              <a:srgbClr val="00633D"/>
            </a:solidFill>
            <a:prstDash val="lgDash"/>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42" name="文本框 41"/>
              <p:cNvSpPr txBox="1"/>
              <p:nvPr/>
            </p:nvSpPr>
            <p:spPr>
              <a:xfrm>
                <a:off x="6854457" y="2096312"/>
                <a:ext cx="5146771" cy="957634"/>
              </a:xfrm>
              <a:prstGeom prst="rect">
                <a:avLst/>
              </a:prstGeom>
              <a:noFill/>
            </p:spPr>
            <p:txBody>
              <a:bodyPr wrap="square">
                <a:spAutoFit/>
              </a:bodyPr>
              <a:lstStyle/>
              <a:p>
                <a:pPr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对一个函数进行</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P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级分数傅里叶变换后，接着进行一</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P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级的分数傅里叶变换，</a:t>
                </a:r>
                <a:r>
                  <a:rPr lang="zh-CN" altLang="zh-CN" sz="1800" kern="100" dirty="0">
                    <a:effectLst/>
                    <a:latin typeface="Calibri" panose="020F0502020204030204" pitchFamily="34" charset="0"/>
                    <a:ea typeface="Times New Roman" panose="02020603050405020304" pitchFamily="18" charset="0"/>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则可得到原函数</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p>
                        <m:sSupPr>
                          <m:ctrlPr>
                            <a:rPr lang="zh-CN" altLang="zh-CN" sz="1800" i="1" kern="100" smtClean="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e>
                          </m:d>
                        </m:e>
                      </m:d>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0</m:t>
                          </m:r>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e>
                      </m:d>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oMath>
                  </m:oMathPara>
                </a14:m>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mc:Choice>
        <mc:Fallback xmlns="">
          <p:sp>
            <p:nvSpPr>
              <p:cNvPr id="42" name="文本框 41"/>
              <p:cNvSpPr txBox="1">
                <a:spLocks noRot="1" noChangeAspect="1" noMove="1" noResize="1" noEditPoints="1" noAdjustHandles="1" noChangeArrowheads="1" noChangeShapeType="1" noTextEdit="1"/>
              </p:cNvSpPr>
              <p:nvPr/>
            </p:nvSpPr>
            <p:spPr>
              <a:xfrm>
                <a:off x="6854457" y="2096312"/>
                <a:ext cx="5146771" cy="957634"/>
              </a:xfrm>
              <a:prstGeom prst="rect">
                <a:avLst/>
              </a:prstGeom>
              <a:blipFill rotWithShape="1">
                <a:blip r:embed="rId19"/>
                <a:stretch>
                  <a:fillRect l="-5" t="-18" r="7" b="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p:cNvSpPr txBox="1"/>
              <p:nvPr/>
            </p:nvSpPr>
            <p:spPr>
              <a:xfrm>
                <a:off x="7315066" y="4164898"/>
                <a:ext cx="4225555" cy="2031325"/>
              </a:xfrm>
              <a:prstGeom prst="rect">
                <a:avLst/>
              </a:prstGeom>
              <a:noFill/>
            </p:spPr>
            <p:txBody>
              <a:bodyPr wrap="square">
                <a:spAutoFit/>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分数傅里叶变换是周期为</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4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的变换，</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p>
                        <m:sSupPr>
                          <m:ctrlPr>
                            <a:rPr lang="zh-CN" altLang="zh-CN" sz="1800" i="1" kern="100" smtClean="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4</m:t>
                          </m:r>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e>
                      </m:d>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e>
                      </m:d>
                    </m:oMath>
                  </m:oMathPara>
                </a14:m>
                <a:endParaRPr lang="en-US" altLang="zh-CN" sz="1800" kern="100" dirty="0">
                  <a:solidFill>
                    <a:schemeClr val="accent6">
                      <a:lumMod val="50000"/>
                    </a:schemeClr>
                  </a:solidFill>
                  <a:effectLst/>
                  <a:latin typeface="Calibri" panose="020F0502020204030204" pitchFamily="34" charset="0"/>
                  <a:ea typeface="宋体" panose="02010600030101010101" pitchFamily="2" charset="-122"/>
                  <a:cs typeface="Times New Roman" panose="02020603050405020304" pitchFamily="18" charset="0"/>
                </a:endParaRPr>
              </a:p>
              <a:p>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特别是当</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式中</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2</m:t>
                        </m:r>
                      </m:sub>
                    </m:sSub>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4</m:t>
                    </m:r>
                  </m:oMath>
                </a14:m>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时，有</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p>
                        <m:sSupPr>
                          <m:ctrlPr>
                            <a:rPr lang="zh-CN" altLang="zh-CN" sz="1800" i="1" kern="100" smtClean="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4</m:t>
                          </m:r>
                        </m:sup>
                      </m:s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sup>
                      </m:sSup>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4</m:t>
                          </m:r>
                        </m:sup>
                      </m:s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sup>
                      </m:s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oMath>
                  </m:oMathPara>
                </a14:m>
                <a:endParaRPr lang="zh-CN" altLang="zh-CN" sz="1800" kern="100" dirty="0">
                  <a:solidFill>
                    <a:schemeClr val="accent6">
                      <a:lumMod val="50000"/>
                    </a:schemeClr>
                  </a:solidFill>
                  <a:effectLst/>
                  <a:latin typeface="Calibri" panose="020F0502020204030204" pitchFamily="34" charset="0"/>
                  <a:ea typeface="宋体" panose="02010600030101010101" pitchFamily="2" charset="-122"/>
                  <a:cs typeface="Times New Roman" panose="02020603050405020304" pitchFamily="18" charset="0"/>
                </a:endParaRPr>
              </a:p>
            </p:txBody>
          </p:sp>
        </mc:Choice>
        <mc:Fallback xmlns="">
          <p:sp>
            <p:nvSpPr>
              <p:cNvPr id="44" name="文本框 43"/>
              <p:cNvSpPr txBox="1">
                <a:spLocks noRot="1" noChangeAspect="1" noMove="1" noResize="1" noEditPoints="1" noAdjustHandles="1" noChangeArrowheads="1" noChangeShapeType="1" noTextEdit="1"/>
              </p:cNvSpPr>
              <p:nvPr/>
            </p:nvSpPr>
            <p:spPr>
              <a:xfrm>
                <a:off x="7315066" y="4164898"/>
                <a:ext cx="4225555" cy="2031325"/>
              </a:xfrm>
              <a:prstGeom prst="rect">
                <a:avLst/>
              </a:prstGeom>
              <a:blipFill rotWithShape="1">
                <a:blip r:embed="rId20"/>
                <a:stretch>
                  <a:fillRect l="-12" t="-28" r="3" b="26"/>
                </a:stretch>
              </a:blipFill>
            </p:spPr>
            <p:txBody>
              <a:bodyPr/>
              <a:lstStyle/>
              <a:p>
                <a:r>
                  <a:rPr lang="zh-CN" altLang="en-US">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2"/>
            </p:custDataLst>
          </p:nvPr>
        </p:nvSpPr>
        <p:spPr>
          <a:xfrm>
            <a:off x="0" y="0"/>
            <a:ext cx="12201525" cy="68453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21" name="图片 20" descr="校徽+南京师范大学(白)"/>
          <p:cNvPicPr>
            <a:picLocks noChangeAspect="1"/>
          </p:cNvPicPr>
          <p:nvPr>
            <p:custDataLst>
              <p:tags r:id="rId3"/>
            </p:custDataLst>
          </p:nvPr>
        </p:nvPicPr>
        <p:blipFill>
          <a:blip r:embed="rId15"/>
          <a:stretch>
            <a:fillRect/>
          </a:stretch>
        </p:blipFill>
        <p:spPr>
          <a:xfrm>
            <a:off x="9427845" y="-587375"/>
            <a:ext cx="2764155" cy="1955165"/>
          </a:xfrm>
          <a:prstGeom prst="rect">
            <a:avLst/>
          </a:prstGeom>
        </p:spPr>
      </p:pic>
      <p:sp>
        <p:nvSpPr>
          <p:cNvPr id="11" name="矩形 10"/>
          <p:cNvSpPr/>
          <p:nvPr>
            <p:custDataLst>
              <p:tags r:id="rId4"/>
            </p:custDataLst>
          </p:nvPr>
        </p:nvSpPr>
        <p:spPr>
          <a:xfrm>
            <a:off x="-9525" y="6738620"/>
            <a:ext cx="12201525" cy="1193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 name="文本框 1"/>
          <p:cNvSpPr txBox="1"/>
          <p:nvPr/>
        </p:nvSpPr>
        <p:spPr>
          <a:xfrm>
            <a:off x="226060" y="109855"/>
            <a:ext cx="524891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分数阶傅里叶变换的基本理论</a:t>
            </a:r>
            <a:endParaRPr kumimoji="0" lang="zh-CN" altLang="en-US" sz="2400" b="1"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sp>
        <p:nvSpPr>
          <p:cNvPr id="54" name="Rectangle 2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6" name="Rectangle 26"/>
          <p:cNvSpPr>
            <a:spLocks noChangeArrowheads="1"/>
          </p:cNvSpPr>
          <p:nvPr/>
        </p:nvSpPr>
        <p:spPr bwMode="auto">
          <a:xfrm>
            <a:off x="0" y="1905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800" b="0" i="0" u="none" strike="noStrike" cap="none" normalizeH="0" baseline="0">
                <a:ln>
                  <a:noFill/>
                </a:ln>
                <a:solidFill>
                  <a:schemeClr val="tx1"/>
                </a:solidFill>
                <a:effectLst/>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61"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custDataLst>
              <p:tags r:id="rId5"/>
            </p:custDataLst>
          </p:nvPr>
        </p:nvGrpSpPr>
        <p:grpSpPr>
          <a:xfrm>
            <a:off x="6808745" y="720279"/>
            <a:ext cx="147600" cy="5738721"/>
            <a:chOff x="6034087" y="2027816"/>
            <a:chExt cx="147600" cy="4786868"/>
          </a:xfrm>
        </p:grpSpPr>
        <p:cxnSp>
          <p:nvCxnSpPr>
            <p:cNvPr id="4" name="直接连接符 3"/>
            <p:cNvCxnSpPr>
              <a:stCxn id="5" idx="4"/>
              <a:endCxn id="6" idx="0"/>
            </p:cNvCxnSpPr>
            <p:nvPr>
              <p:custDataLst>
                <p:tags r:id="rId11"/>
              </p:custDataLst>
            </p:nvPr>
          </p:nvCxnSpPr>
          <p:spPr>
            <a:xfrm>
              <a:off x="6107887" y="2150934"/>
              <a:ext cx="0" cy="4539925"/>
            </a:xfrm>
            <a:prstGeom prst="line">
              <a:avLst/>
            </a:prstGeom>
            <a:ln w="9525">
              <a:solidFill>
                <a:srgbClr val="008853"/>
              </a:solidFill>
            </a:ln>
          </p:spPr>
          <p:style>
            <a:lnRef idx="1">
              <a:schemeClr val="accent1"/>
            </a:lnRef>
            <a:fillRef idx="0">
              <a:schemeClr val="accent1"/>
            </a:fillRef>
            <a:effectRef idx="0">
              <a:schemeClr val="accent1"/>
            </a:effectRef>
            <a:fontRef idx="minor">
              <a:schemeClr val="tx1"/>
            </a:fontRef>
          </p:style>
        </p:cxnSp>
        <p:sp>
          <p:nvSpPr>
            <p:cNvPr id="5" name="椭圆 4"/>
            <p:cNvSpPr/>
            <p:nvPr>
              <p:custDataLst>
                <p:tags r:id="rId12"/>
              </p:custDataLst>
            </p:nvPr>
          </p:nvSpPr>
          <p:spPr>
            <a:xfrm>
              <a:off x="6034087" y="2027816"/>
              <a:ext cx="147600" cy="123118"/>
            </a:xfrm>
            <a:prstGeom prst="ellipse">
              <a:avLst/>
            </a:prstGeom>
            <a:solidFill>
              <a:srgbClr val="0063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sym typeface="+mn-lt"/>
              </a:endParaRPr>
            </a:p>
          </p:txBody>
        </p:sp>
        <p:sp>
          <p:nvSpPr>
            <p:cNvPr id="6" name="椭圆 5"/>
            <p:cNvSpPr/>
            <p:nvPr>
              <p:custDataLst>
                <p:tags r:id="rId13"/>
              </p:custDataLst>
            </p:nvPr>
          </p:nvSpPr>
          <p:spPr>
            <a:xfrm>
              <a:off x="6034087" y="6690859"/>
              <a:ext cx="147600" cy="123825"/>
            </a:xfrm>
            <a:prstGeom prst="ellipse">
              <a:avLst/>
            </a:prstGeom>
            <a:solidFill>
              <a:srgbClr val="0063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sym typeface="+mn-lt"/>
              </a:endParaRPr>
            </a:p>
          </p:txBody>
        </p:sp>
      </p:grpSp>
      <p:sp>
        <p:nvSpPr>
          <p:cNvPr id="7" name="圆角矩形 16"/>
          <p:cNvSpPr/>
          <p:nvPr>
            <p:custDataLst>
              <p:tags r:id="rId6"/>
            </p:custDataLst>
          </p:nvPr>
        </p:nvSpPr>
        <p:spPr>
          <a:xfrm>
            <a:off x="6135859" y="1965158"/>
            <a:ext cx="743585" cy="730250"/>
          </a:xfrm>
          <a:prstGeom prst="roundRect">
            <a:avLst/>
          </a:prstGeom>
          <a:noFill/>
          <a:ln>
            <a:solidFill>
              <a:srgbClr val="0063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00633D"/>
                </a:solidFill>
                <a:latin typeface="Arial" panose="020B0604020202020204"/>
                <a:ea typeface="微软雅黑" panose="020B0503020204020204" charset="-122"/>
                <a:cs typeface="+mn-ea"/>
                <a:sym typeface="+mn-lt"/>
              </a:rPr>
              <a:t>平移</a:t>
            </a:r>
            <a:r>
              <a:rPr kumimoji="0" lang="zh-CN" altLang="en-US" sz="1800" b="0" i="0" u="none" strike="noStrike" kern="1200" cap="none" spc="0" normalizeH="0" baseline="0" noProof="0" dirty="0">
                <a:ln>
                  <a:noFill/>
                </a:ln>
                <a:solidFill>
                  <a:srgbClr val="00633D"/>
                </a:solidFill>
                <a:effectLst/>
                <a:uLnTx/>
                <a:uFillTx/>
                <a:latin typeface="Arial" panose="020B0604020202020204"/>
                <a:ea typeface="微软雅黑" panose="020B0503020204020204" charset="-122"/>
                <a:cs typeface="+mn-ea"/>
                <a:sym typeface="+mn-lt"/>
              </a:rPr>
              <a:t>性质</a:t>
            </a:r>
          </a:p>
        </p:txBody>
      </p:sp>
      <p:sp>
        <p:nvSpPr>
          <p:cNvPr id="17" name="圆角矩形 16"/>
          <p:cNvSpPr/>
          <p:nvPr>
            <p:custDataLst>
              <p:tags r:id="rId7"/>
            </p:custDataLst>
          </p:nvPr>
        </p:nvSpPr>
        <p:spPr>
          <a:xfrm>
            <a:off x="6899382" y="3015584"/>
            <a:ext cx="731180" cy="806898"/>
          </a:xfrm>
          <a:prstGeom prst="roundRect">
            <a:avLst/>
          </a:prstGeom>
          <a:noFill/>
          <a:ln>
            <a:solidFill>
              <a:srgbClr val="0063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633D"/>
                </a:solidFill>
                <a:effectLst/>
                <a:uLnTx/>
                <a:uFillTx/>
                <a:latin typeface="Arial" panose="020B0604020202020204"/>
                <a:ea typeface="微软雅黑" panose="020B0503020204020204" charset="-122"/>
                <a:cs typeface="+mn-ea"/>
                <a:sym typeface="+mn-lt"/>
              </a:rPr>
              <a:t>帕色伐定律</a:t>
            </a:r>
          </a:p>
        </p:txBody>
      </p:sp>
      <p:sp>
        <p:nvSpPr>
          <p:cNvPr id="18" name="圆角矩形 16"/>
          <p:cNvSpPr/>
          <p:nvPr>
            <p:custDataLst>
              <p:tags r:id="rId8"/>
            </p:custDataLst>
          </p:nvPr>
        </p:nvSpPr>
        <p:spPr>
          <a:xfrm>
            <a:off x="6119739" y="4158945"/>
            <a:ext cx="743585" cy="730250"/>
          </a:xfrm>
          <a:prstGeom prst="roundRect">
            <a:avLst/>
          </a:prstGeom>
          <a:noFill/>
          <a:ln>
            <a:solidFill>
              <a:srgbClr val="0063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00633D"/>
                </a:solidFill>
                <a:latin typeface="Arial" panose="020B0604020202020204"/>
                <a:ea typeface="微软雅黑" panose="020B0503020204020204" charset="-122"/>
                <a:cs typeface="+mn-ea"/>
                <a:sym typeface="+mn-lt"/>
              </a:rPr>
              <a:t>相似</a:t>
            </a:r>
            <a:r>
              <a:rPr kumimoji="0" lang="zh-CN" altLang="en-US" sz="1800" b="0" i="0" u="none" strike="noStrike" kern="1200" cap="none" spc="0" normalizeH="0" baseline="0" noProof="0" dirty="0">
                <a:ln>
                  <a:noFill/>
                </a:ln>
                <a:solidFill>
                  <a:srgbClr val="00633D"/>
                </a:solidFill>
                <a:effectLst/>
                <a:uLnTx/>
                <a:uFillTx/>
                <a:latin typeface="Arial" panose="020B0604020202020204"/>
                <a:ea typeface="微软雅黑" panose="020B0503020204020204" charset="-122"/>
                <a:cs typeface="+mn-ea"/>
                <a:sym typeface="+mn-lt"/>
              </a:rPr>
              <a:t>性质</a:t>
            </a:r>
          </a:p>
        </p:txBody>
      </p:sp>
      <p:sp>
        <p:nvSpPr>
          <p:cNvPr id="19" name="圆角矩形 16"/>
          <p:cNvSpPr/>
          <p:nvPr>
            <p:custDataLst>
              <p:tags r:id="rId9"/>
            </p:custDataLst>
          </p:nvPr>
        </p:nvSpPr>
        <p:spPr>
          <a:xfrm>
            <a:off x="6892070" y="4747305"/>
            <a:ext cx="743585" cy="730250"/>
          </a:xfrm>
          <a:prstGeom prst="roundRect">
            <a:avLst/>
          </a:prstGeom>
          <a:noFill/>
          <a:ln>
            <a:solidFill>
              <a:srgbClr val="0063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633D"/>
                </a:solidFill>
                <a:effectLst/>
                <a:uLnTx/>
                <a:uFillTx/>
                <a:latin typeface="Arial" panose="020B0604020202020204"/>
                <a:ea typeface="微软雅黑" panose="020B0503020204020204" charset="-122"/>
                <a:cs typeface="+mn-ea"/>
                <a:sym typeface="+mn-lt"/>
              </a:rPr>
              <a:t>乘法法则</a:t>
            </a:r>
          </a:p>
        </p:txBody>
      </p:sp>
      <p:sp>
        <p:nvSpPr>
          <p:cNvPr id="20" name="圆角矩形 16"/>
          <p:cNvSpPr/>
          <p:nvPr>
            <p:custDataLst>
              <p:tags r:id="rId10"/>
            </p:custDataLst>
          </p:nvPr>
        </p:nvSpPr>
        <p:spPr>
          <a:xfrm>
            <a:off x="6873021" y="927855"/>
            <a:ext cx="731180" cy="1118836"/>
          </a:xfrm>
          <a:prstGeom prst="roundRect">
            <a:avLst/>
          </a:prstGeom>
          <a:noFill/>
          <a:ln>
            <a:solidFill>
              <a:srgbClr val="0063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633D"/>
                </a:solidFill>
                <a:effectLst/>
                <a:uLnTx/>
                <a:uFillTx/>
                <a:latin typeface="Arial" panose="020B0604020202020204"/>
                <a:ea typeface="微软雅黑" panose="020B0503020204020204" charset="-122"/>
                <a:cs typeface="+mn-ea"/>
                <a:sym typeface="+mn-lt"/>
              </a:rPr>
              <a:t>部分卷积与相关</a:t>
            </a:r>
          </a:p>
        </p:txBody>
      </p:sp>
      <p:cxnSp>
        <p:nvCxnSpPr>
          <p:cNvPr id="28" name="直接连接符 27"/>
          <p:cNvCxnSpPr/>
          <p:nvPr/>
        </p:nvCxnSpPr>
        <p:spPr>
          <a:xfrm>
            <a:off x="7740540" y="3002245"/>
            <a:ext cx="4322445" cy="0"/>
          </a:xfrm>
          <a:prstGeom prst="line">
            <a:avLst/>
          </a:prstGeom>
          <a:ln w="12700" cmpd="sng">
            <a:solidFill>
              <a:srgbClr val="00633D"/>
            </a:solidFill>
            <a:prstDash val="lgDash"/>
          </a:ln>
        </p:spPr>
        <p:style>
          <a:lnRef idx="2">
            <a:schemeClr val="accent1"/>
          </a:lnRef>
          <a:fillRef idx="0">
            <a:srgbClr val="FFFFFF"/>
          </a:fillRef>
          <a:effectRef idx="0">
            <a:srgbClr val="FFFFFF"/>
          </a:effectRef>
          <a:fontRef idx="minor">
            <a:schemeClr val="tx1"/>
          </a:fontRef>
        </p:style>
      </p:cxnSp>
      <p:cxnSp>
        <p:nvCxnSpPr>
          <p:cNvPr id="30" name="直接连接符 29"/>
          <p:cNvCxnSpPr/>
          <p:nvPr/>
        </p:nvCxnSpPr>
        <p:spPr>
          <a:xfrm>
            <a:off x="89911" y="3039770"/>
            <a:ext cx="6550003" cy="0"/>
          </a:xfrm>
          <a:prstGeom prst="line">
            <a:avLst/>
          </a:prstGeom>
          <a:ln w="12700" cmpd="sng">
            <a:solidFill>
              <a:srgbClr val="00633D"/>
            </a:solidFill>
            <a:prstDash val="lgDash"/>
          </a:ln>
        </p:spPr>
        <p:style>
          <a:lnRef idx="2">
            <a:schemeClr val="accent1"/>
          </a:lnRef>
          <a:fillRef idx="0">
            <a:srgbClr val="FFFFFF"/>
          </a:fillRef>
          <a:effectRef idx="0">
            <a:srgbClr val="FFFFFF"/>
          </a:effectRef>
          <a:fontRef idx="minor">
            <a:schemeClr val="tx1"/>
          </a:fontRef>
        </p:style>
      </p:cxnSp>
      <p:cxnSp>
        <p:nvCxnSpPr>
          <p:cNvPr id="37" name="直接连接符 36"/>
          <p:cNvCxnSpPr/>
          <p:nvPr/>
        </p:nvCxnSpPr>
        <p:spPr>
          <a:xfrm>
            <a:off x="7740539" y="4524070"/>
            <a:ext cx="4322445" cy="0"/>
          </a:xfrm>
          <a:prstGeom prst="line">
            <a:avLst/>
          </a:prstGeom>
          <a:ln w="12700" cmpd="sng">
            <a:solidFill>
              <a:srgbClr val="00633D"/>
            </a:solidFill>
            <a:prstDash val="lgDash"/>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10" name="文本框 9"/>
              <p:cNvSpPr txBox="1"/>
              <p:nvPr/>
            </p:nvSpPr>
            <p:spPr>
              <a:xfrm>
                <a:off x="25364" y="794079"/>
                <a:ext cx="5177268" cy="1963936"/>
              </a:xfrm>
              <a:prstGeom prst="rect">
                <a:avLst/>
              </a:prstGeom>
              <a:noFill/>
            </p:spPr>
            <p:txBody>
              <a:bodyPr wrap="square">
                <a:spAutoFit/>
              </a:bodyPr>
              <a:lstStyle/>
              <a:p>
                <a:pPr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分数傅里叶变换具有特殊的平移性质：</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p>
                        <m:sSupPr>
                          <m:ctrlPr>
                            <a:rPr lang="zh-CN" altLang="zh-CN" sz="1800" i="1" kern="100" smtClean="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𝑚</m:t>
                              </m:r>
                            </m:e>
                          </m:d>
                        </m:e>
                      </m:d>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func>
                        <m:func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exp</m:t>
                          </m:r>
                        </m:fName>
                        <m:e>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func>
                                <m:func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imsin</m:t>
                                  </m:r>
                                </m:fName>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𝛼</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𝑣</m:t>
                                      </m:r>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fPr>
                                        <m:num>
                                          <m:func>
                                            <m:func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mcos</m:t>
                                              </m:r>
                                            </m:fName>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𝛼</m:t>
                                              </m:r>
                                            </m:e>
                                          </m:func>
                                        </m:num>
                                        <m:den>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den>
                                      </m:f>
                                    </m:e>
                                  </m:d>
                                </m:e>
                              </m:func>
                            </m:e>
                          </m:d>
                        </m:e>
                      </m:func>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sup>
                      </m:sSup>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e>
                          </m:d>
                        </m:e>
                        <m:sub>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𝑣</m:t>
                              </m:r>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func>
                                <m:func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mcos</m:t>
                                  </m:r>
                                </m:fName>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𝛼</m:t>
                                  </m:r>
                                </m:e>
                              </m:func>
                            </m:e>
                          </m:d>
                        </m:sub>
                      </m:sSub>
                    </m:oMath>
                  </m:oMathPara>
                </a14:m>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其中</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𝑚</m:t>
                    </m:r>
                  </m:oMath>
                </a14:m>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是输入平移量。可见输入信号的平移不仅导致一个附加的位相因</a:t>
                </a:r>
                <a:r>
                  <a:rPr lang="zh-CN" altLang="zh-CN" sz="1800" kern="100" dirty="0">
                    <a:effectLst/>
                    <a:latin typeface="Calibri" panose="020F0502020204030204" pitchFamily="34" charset="0"/>
                    <a:ea typeface="Times New Roman" panose="02020603050405020304" pitchFamily="18" charset="0"/>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子，还使其分数傅里叶变换的输出信号产生了一个平移。</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25364" y="794079"/>
                <a:ext cx="5177268" cy="1963936"/>
              </a:xfrm>
              <a:prstGeom prst="rect">
                <a:avLst/>
              </a:prstGeom>
              <a:blipFill rotWithShape="1">
                <a:blip r:embed="rId16"/>
                <a:stretch>
                  <a:fillRect l="-12" t="-17" r="1" b="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89911" y="3223119"/>
                <a:ext cx="6835832" cy="3002169"/>
              </a:xfrm>
              <a:prstGeom prst="rect">
                <a:avLst/>
              </a:prstGeom>
              <a:noFill/>
            </p:spPr>
            <p:txBody>
              <a:bodyPr wrap="square">
                <a:spAutoFit/>
              </a:bodyPr>
              <a:lstStyle/>
              <a:p>
                <a:pPr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分数傅里叶变换的输入信号的尺度发生变化时，不仅会</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引入一个与尺度因子有关的二次位相</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，而且还会引起</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分数傅里叶变换的级次发生改变</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p>
                        <m:sSupPr>
                          <m:ctrlPr>
                            <a:rPr lang="zh-CN" altLang="zh-CN" sz="1800" i="1" kern="100" smtClean="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𝑃</m:t>
                          </m:r>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𝑐𝑥</m:t>
                              </m:r>
                            </m:e>
                          </m:d>
                        </m:e>
                      </m:d>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rad>
                        <m:radPr>
                          <m:degHide m:val="on"/>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func>
                                <m:func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icot</m:t>
                                  </m:r>
                                </m:fName>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𝛼</m:t>
                                  </m:r>
                                </m:e>
                              </m:func>
                            </m:num>
                            <m:den>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𝑐</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func>
                                <m:func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icot</m:t>
                                  </m:r>
                                </m:fName>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𝛼</m:t>
                                  </m:r>
                                </m:e>
                              </m:func>
                            </m:den>
                          </m:f>
                        </m:e>
                      </m:rad>
                      <m:func>
                        <m:func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exp</m:t>
                          </m:r>
                        </m:fName>
                        <m:e>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𝑖</m:t>
                              </m:r>
                              <m:f>
                                <m:f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𝑣</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p>
                                  </m:sSup>
                                </m:num>
                                <m:den>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den>
                              </m:f>
                              <m:func>
                                <m:func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cot</m:t>
                                  </m:r>
                                </m:fName>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𝛼</m:t>
                                  </m:r>
                                </m:e>
                              </m:func>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f>
                                    <m:f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fPr>
                                    <m:num>
                                      <m:func>
                                        <m:func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cos</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p>
                                          </m:sSup>
                                        </m:fName>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𝛽</m:t>
                                          </m:r>
                                        </m:e>
                                      </m:func>
                                    </m:num>
                                    <m:den>
                                      <m:func>
                                        <m:func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cos</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p>
                                          </m:sSup>
                                        </m:fName>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𝛼</m:t>
                                          </m:r>
                                        </m:e>
                                      </m:func>
                                    </m:den>
                                  </m:f>
                                </m:e>
                              </m:d>
                            </m:e>
                          </m:d>
                        </m:e>
                      </m:func>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𝑃</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up>
                          </m:sSup>
                        </m:sup>
                      </m:sSup>
                      <m:sSub>
                        <m:sSub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e>
                          </m:d>
                        </m:e>
                        <m:sub>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𝑟</m:t>
                              </m:r>
                              <m:f>
                                <m:f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fPr>
                                <m:num>
                                  <m:func>
                                    <m:func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sin</m:t>
                                      </m:r>
                                    </m:fName>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𝛽</m:t>
                                      </m:r>
                                    </m:e>
                                  </m:func>
                                </m:num>
                                <m:den>
                                  <m:func>
                                    <m:func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csin</m:t>
                                      </m:r>
                                    </m:fName>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𝛼</m:t>
                                      </m:r>
                                    </m:e>
                                  </m:func>
                                </m:den>
                              </m:f>
                            </m:e>
                          </m:d>
                        </m:sub>
                      </m:sSub>
                    </m:oMath>
                  </m:oMathPara>
                </a14:m>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其中</a:t>
                </a:r>
                <a:r>
                  <a:rPr lang="zh-CN" altLang="zh-CN" sz="1800" kern="100"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𝑐</m:t>
                    </m:r>
                  </m:oMath>
                </a14:m>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是输入信号的尺度变化因子，</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𝛽</m:t>
                    </m:r>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𝑃</m:t>
                            </m:r>
                          </m:e>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𝜋</m:t>
                        </m:r>
                      </m:num>
                      <m:den>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并且有</a:t>
                </a:r>
                <a14:m>
                  <m:oMath xmlns:m="http://schemas.openxmlformats.org/officeDocument/2006/math">
                    <m:r>
                      <m:rPr>
                        <m:sty m:val="p"/>
                      </m:rP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tan</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𝛽</m:t>
                    </m:r>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𝑐</m:t>
                        </m:r>
                      </m:e>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2</m:t>
                        </m:r>
                      </m:sup>
                    </m:sSup>
                    <m:r>
                      <m:rPr>
                        <m:sty m:val="p"/>
                      </m:rP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tan</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𝛼</m:t>
                    </m:r>
                  </m:oMath>
                </a14:m>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。这</a:t>
                </a:r>
                <a:r>
                  <a:rPr lang="zh-CN" altLang="zh-CN" sz="1800" kern="100" dirty="0">
                    <a:effectLst/>
                    <a:latin typeface="Calibri" panose="020F0502020204030204" pitchFamily="34" charset="0"/>
                    <a:ea typeface="Times New Roman" panose="02020603050405020304" pitchFamily="18" charset="0"/>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与传统的傅里叶变换有着明显的不同。</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89911" y="3223119"/>
                <a:ext cx="6835832" cy="3002169"/>
              </a:xfrm>
              <a:prstGeom prst="rect">
                <a:avLst/>
              </a:prstGeom>
              <a:blipFill rotWithShape="1">
                <a:blip r:embed="rId17"/>
                <a:stretch>
                  <a:fillRect l="-6" t="-16" r="6" b="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p:cNvSpPr txBox="1"/>
              <p:nvPr/>
            </p:nvSpPr>
            <p:spPr>
              <a:xfrm>
                <a:off x="7600229" y="1010264"/>
                <a:ext cx="4874349" cy="1754326"/>
              </a:xfrm>
              <a:prstGeom prst="rect">
                <a:avLst/>
              </a:prstGeom>
              <a:noFill/>
            </p:spPr>
            <p:txBody>
              <a:bodyPr wrap="square">
                <a:spAutoFit/>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可如下定义函数</a:t>
                </a:r>
                <a:r>
                  <a:rPr lang="zh-CN" altLang="zh-CN" sz="1800" kern="100"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𝑥</m:t>
                        </m:r>
                      </m:e>
                    </m:d>
                  </m:oMath>
                </a14:m>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𝑔</m:t>
                    </m:r>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𝑥</m:t>
                        </m:r>
                      </m:e>
                    </m:d>
                  </m:oMath>
                </a14:m>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的卷积操作：</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800" i="1" kern="100" smtClean="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𝐶𝑂𝑁𝑉</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𝑔</m:t>
                          </m:r>
                        </m:e>
                      </m:d>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p>
                          </m:s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p>
                          </m:s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𝑔</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e>
                      </m:d>
                    </m:oMath>
                  </m:oMathPara>
                </a14:m>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类似地可定义分数阶卷积为：</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800" i="1" kern="100" smtClean="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𝐶𝑂𝑁</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𝑉</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sup>
                      </m:sSup>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𝑔</m:t>
                          </m:r>
                        </m:e>
                      </m:d>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sup>
                          </m:s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sup>
                          </m:s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𝑔</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e>
                      </m:d>
                    </m:oMath>
                  </m:oMathPara>
                </a14:m>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分数相关定义为：</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800" i="1" kern="100" smtClean="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𝐶𝑂𝑅</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𝑃</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𝑃</m:t>
                          </m:r>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𝑔</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e>
                      </m:d>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𝐶𝑂𝑁</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𝑃</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𝑃</m:t>
                          </m:r>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𝑔</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up>
                          </m:sSup>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e>
                      </m:d>
                    </m:oMath>
                  </m:oMathPara>
                </a14:m>
                <a:endParaRPr lang="zh-CN" altLang="zh-CN" sz="1800" kern="100" dirty="0">
                  <a:solidFill>
                    <a:schemeClr val="accent6">
                      <a:lumMod val="50000"/>
                    </a:schemeClr>
                  </a:solidFill>
                  <a:effectLst/>
                  <a:latin typeface="Calibri" panose="020F0502020204030204" pitchFamily="34" charset="0"/>
                  <a:ea typeface="宋体" panose="02010600030101010101" pitchFamily="2" charset="-122"/>
                  <a:cs typeface="Times New Roman" panose="02020603050405020304" pitchFamily="18" charset="0"/>
                </a:endParaRPr>
              </a:p>
            </p:txBody>
          </p:sp>
        </mc:Choice>
        <mc:Fallback xmlns="">
          <p:sp>
            <p:nvSpPr>
              <p:cNvPr id="22" name="文本框 21"/>
              <p:cNvSpPr txBox="1">
                <a:spLocks noRot="1" noChangeAspect="1" noMove="1" noResize="1" noEditPoints="1" noAdjustHandles="1" noChangeArrowheads="1" noChangeShapeType="1" noTextEdit="1"/>
              </p:cNvSpPr>
              <p:nvPr/>
            </p:nvSpPr>
            <p:spPr>
              <a:xfrm>
                <a:off x="7600229" y="1010264"/>
                <a:ext cx="4874349" cy="1754326"/>
              </a:xfrm>
              <a:prstGeom prst="rect">
                <a:avLst/>
              </a:prstGeom>
              <a:blipFill rotWithShape="1">
                <a:blip r:embed="rId18"/>
                <a:stretch>
                  <a:fillRect l="-11" t="-35" b="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p:cNvSpPr txBox="1"/>
              <p:nvPr/>
            </p:nvSpPr>
            <p:spPr>
              <a:xfrm>
                <a:off x="7669142" y="3419033"/>
                <a:ext cx="4465243" cy="933845"/>
              </a:xfrm>
              <a:prstGeom prst="rect">
                <a:avLst/>
              </a:prstGeom>
              <a:noFill/>
            </p:spPr>
            <p:txBody>
              <a:bodyPr wrap="square">
                <a:spAutoFit/>
              </a:bodyPr>
              <a:lstStyle/>
              <a:p>
                <a:pPr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同传统的傅里叶变换相同，分数傅里叶变换也是能量守恒的，满足帕色伐定律</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r>
                        <a:rPr lang="en-US" altLang="zh-CN" sz="1800" kern="100" smtClean="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e>
                          </m:d>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𝑑𝑥</m:t>
                      </m:r>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e>
                              </m:d>
                            </m:e>
                          </m:d>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𝑑𝑣</m:t>
                      </m:r>
                    </m:oMath>
                  </m:oMathPara>
                </a14:m>
                <a:endParaRPr lang="zh-CN" altLang="zh-CN" sz="1800" kern="100" dirty="0">
                  <a:solidFill>
                    <a:schemeClr val="accent6">
                      <a:lumMod val="50000"/>
                    </a:schemeClr>
                  </a:solidFill>
                  <a:effectLst/>
                  <a:latin typeface="Calibri" panose="020F0502020204030204" pitchFamily="34" charset="0"/>
                  <a:ea typeface="宋体" panose="02010600030101010101" pitchFamily="2" charset="-122"/>
                  <a:cs typeface="Times New Roman" panose="02020603050405020304" pitchFamily="18" charset="0"/>
                </a:endParaRPr>
              </a:p>
            </p:txBody>
          </p:sp>
        </mc:Choice>
        <mc:Fallback xmlns="">
          <p:sp>
            <p:nvSpPr>
              <p:cNvPr id="26" name="文本框 25"/>
              <p:cNvSpPr txBox="1">
                <a:spLocks noRot="1" noChangeAspect="1" noMove="1" noResize="1" noEditPoints="1" noAdjustHandles="1" noChangeArrowheads="1" noChangeShapeType="1" noTextEdit="1"/>
              </p:cNvSpPr>
              <p:nvPr/>
            </p:nvSpPr>
            <p:spPr>
              <a:xfrm>
                <a:off x="7669142" y="3419033"/>
                <a:ext cx="4465243" cy="933845"/>
              </a:xfrm>
              <a:prstGeom prst="rect">
                <a:avLst/>
              </a:prstGeom>
              <a:blipFill rotWithShape="1">
                <a:blip r:embed="rId19"/>
                <a:stretch>
                  <a:fillRect l="-6" t="-21" r="4" b="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p:cNvSpPr txBox="1"/>
              <p:nvPr/>
            </p:nvSpPr>
            <p:spPr>
              <a:xfrm>
                <a:off x="7604201" y="5062797"/>
                <a:ext cx="4668418" cy="916982"/>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sSup>
                        <m:sSupPr>
                          <m:ctrlPr>
                            <a:rPr lang="zh-CN" altLang="zh-CN" sz="1800" i="1" kern="100" smtClean="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𝑦</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𝑚</m:t>
                              </m:r>
                            </m:sup>
                          </m:s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𝑦</m:t>
                              </m:r>
                            </m:e>
                          </m:d>
                        </m:e>
                      </m:d>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r>
                                <m:rPr>
                                  <m:sty m:val="p"/>
                                </m:rP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cos</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𝜋</m:t>
                                  </m:r>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𝑃</m:t>
                                  </m:r>
                                </m:e>
                              </m:d>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𝑖</m:t>
                              </m:r>
                              <m:r>
                                <m:rPr>
                                  <m:sty m:val="p"/>
                                </m:rP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sin</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2</m:t>
                                  </m:r>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𝜋</m:t>
                                  </m:r>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𝑃</m:t>
                                  </m:r>
                                </m:e>
                              </m:d>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𝐷</m:t>
                              </m:r>
                            </m:e>
                          </m:d>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𝑚</m:t>
                          </m:r>
                        </m:sup>
                      </m:sSup>
                      <m:sSup>
                        <m:sSup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𝐹</m:t>
                          </m:r>
                        </m:e>
                        <m:sup>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𝑝</m:t>
                          </m:r>
                        </m:sup>
                      </m:sSup>
                      <m:d>
                        <m:dPr>
                          <m:begChr m:val="["/>
                          <m:endChr m:val="]"/>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𝑦</m:t>
                              </m:r>
                            </m:e>
                          </m:d>
                        </m:e>
                      </m:d>
                      <m:d>
                        <m:dPr>
                          <m:ctrlPr>
                            <a:rPr lang="zh-CN" altLang="zh-CN" sz="1800" i="1" kern="100">
                              <a:solidFill>
                                <a:schemeClr val="accent6">
                                  <a:lumMod val="50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chemeClr val="accent6">
                                  <a:lumMod val="50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oMath>
                  </m:oMathPara>
                </a14:m>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D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表示微分算符</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d/dx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mc:Choice>
        <mc:Fallback xmlns="">
          <p:sp>
            <p:nvSpPr>
              <p:cNvPr id="36" name="文本框 35"/>
              <p:cNvSpPr txBox="1">
                <a:spLocks noRot="1" noChangeAspect="1" noMove="1" noResize="1" noEditPoints="1" noAdjustHandles="1" noChangeArrowheads="1" noChangeShapeType="1" noTextEdit="1"/>
              </p:cNvSpPr>
              <p:nvPr/>
            </p:nvSpPr>
            <p:spPr>
              <a:xfrm>
                <a:off x="7604201" y="5062797"/>
                <a:ext cx="4668418" cy="916982"/>
              </a:xfrm>
              <a:prstGeom prst="rect">
                <a:avLst/>
              </a:prstGeom>
              <a:blipFill rotWithShape="1">
                <a:blip r:embed="rId20"/>
                <a:stretch>
                  <a:fillRect l="-2" t="-63" r="13" b="68"/>
                </a:stretch>
              </a:blipFill>
            </p:spPr>
            <p:txBody>
              <a:bodyPr/>
              <a:lstStyle/>
              <a:p>
                <a:r>
                  <a:rPr lang="zh-CN" altLang="en-US">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2"/>
            </p:custDataLst>
          </p:nvPr>
        </p:nvSpPr>
        <p:spPr>
          <a:xfrm>
            <a:off x="-13970" y="1840230"/>
            <a:ext cx="12201525" cy="25196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3"/>
            </p:custDataLst>
          </p:nvPr>
        </p:nvSpPr>
        <p:spPr>
          <a:xfrm>
            <a:off x="4601210" y="991235"/>
            <a:ext cx="2990215" cy="645160"/>
          </a:xfrm>
          <a:prstGeom prst="rect">
            <a:avLst/>
          </a:prstGeom>
          <a:noFill/>
        </p:spPr>
        <p:txBody>
          <a:bodyPr wrap="square" rtlCol="0">
            <a:spAutoFit/>
          </a:bodyPr>
          <a:lstStyle/>
          <a:p>
            <a:pPr algn="ctr"/>
            <a:r>
              <a:rPr lang="en-US" altLang="zh-CN" sz="3600" b="1" dirty="0">
                <a:solidFill>
                  <a:srgbClr val="00633D"/>
                </a:solidFill>
                <a:latin typeface="微软雅黑" panose="020B0503020204020204" charset="-122"/>
                <a:ea typeface="微软雅黑" panose="020B0503020204020204" charset="-122"/>
              </a:rPr>
              <a:t>Part.02</a:t>
            </a:r>
          </a:p>
        </p:txBody>
      </p:sp>
      <p:sp>
        <p:nvSpPr>
          <p:cNvPr id="3" name="文本框 2"/>
          <p:cNvSpPr txBox="1"/>
          <p:nvPr>
            <p:custDataLst>
              <p:tags r:id="rId4"/>
            </p:custDataLst>
          </p:nvPr>
        </p:nvSpPr>
        <p:spPr>
          <a:xfrm>
            <a:off x="0" y="2599343"/>
            <a:ext cx="12300718" cy="523220"/>
          </a:xfrm>
          <a:prstGeom prst="rect">
            <a:avLst/>
          </a:prstGeom>
          <a:noFill/>
        </p:spPr>
        <p:txBody>
          <a:bodyPr wrap="square" rtlCol="0">
            <a:spAutoFit/>
          </a:bodyPr>
          <a:lstStyle/>
          <a:p>
            <a:pPr algn="ctr"/>
            <a:r>
              <a:rPr lang="zh-CN" altLang="en-US" sz="2800" b="1" dirty="0">
                <a:solidFill>
                  <a:schemeClr val="bg1"/>
                </a:solidFill>
              </a:rPr>
              <a:t>用于神经网络的分数阶傅里叶变换预处理及其在目标识别中的应用</a:t>
            </a:r>
            <a:endParaRPr lang="zh-CN" altLang="zh-CN" sz="2800" b="1" dirty="0">
              <a:solidFill>
                <a:schemeClr val="bg1"/>
              </a:solidFill>
            </a:endParaRPr>
          </a:p>
        </p:txBody>
      </p:sp>
      <p:sp>
        <p:nvSpPr>
          <p:cNvPr id="5" name="文本框 4"/>
          <p:cNvSpPr txBox="1"/>
          <p:nvPr>
            <p:custDataLst>
              <p:tags r:id="rId5"/>
            </p:custDataLst>
          </p:nvPr>
        </p:nvSpPr>
        <p:spPr>
          <a:xfrm>
            <a:off x="203847" y="3261370"/>
            <a:ext cx="11983707" cy="400110"/>
          </a:xfrm>
          <a:prstGeom prst="rect">
            <a:avLst/>
          </a:prstGeom>
          <a:noFill/>
        </p:spPr>
        <p:txBody>
          <a:bodyPr wrap="square" rtlCol="0">
            <a:spAutoFit/>
          </a:bodyPr>
          <a:lstStyle/>
          <a:p>
            <a:pPr algn="ctr"/>
            <a:r>
              <a:rPr lang="en-US" altLang="zh-CN" sz="2000" dirty="0">
                <a:solidFill>
                  <a:srgbClr val="FFFFFF"/>
                </a:solidFill>
                <a:latin typeface="+mj-ea"/>
                <a:ea typeface="+mj-ea"/>
              </a:rPr>
              <a:t>Fractional Fourier transform pre-processing for neural networks and its application to object recognition</a:t>
            </a:r>
            <a:endParaRPr lang="zh-CN" altLang="en-US" sz="2000" dirty="0">
              <a:solidFill>
                <a:srgbClr val="FFFFFF"/>
              </a:solidFill>
              <a:latin typeface="+mj-ea"/>
              <a:ea typeface="+mj-ea"/>
            </a:endParaRPr>
          </a:p>
        </p:txBody>
      </p:sp>
      <p:pic>
        <p:nvPicPr>
          <p:cNvPr id="6" name="图片 5" descr="校徽+南京师范大学"/>
          <p:cNvPicPr>
            <a:picLocks noChangeAspect="1"/>
          </p:cNvPicPr>
          <p:nvPr>
            <p:custDataLst>
              <p:tags r:id="rId6"/>
            </p:custDataLst>
          </p:nvPr>
        </p:nvPicPr>
        <p:blipFill>
          <a:blip r:embed="rId8"/>
          <a:srcRect t="33231" b="38380"/>
          <a:stretch>
            <a:fillRect/>
          </a:stretch>
        </p:blipFill>
        <p:spPr>
          <a:xfrm>
            <a:off x="4601210" y="4655820"/>
            <a:ext cx="3127375" cy="628015"/>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34925" y="-17145"/>
            <a:ext cx="3890645" cy="6915150"/>
          </a:xfrm>
          <a:prstGeom prst="rect">
            <a:avLst/>
          </a:prstGeom>
          <a:solidFill>
            <a:srgbClr val="0063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821690" y="2533015"/>
            <a:ext cx="2176780" cy="1106805"/>
          </a:xfrm>
          <a:prstGeom prst="rect">
            <a:avLst/>
          </a:prstGeom>
          <a:noFill/>
        </p:spPr>
        <p:txBody>
          <a:bodyPr wrap="square" rtlCol="0">
            <a:spAutoFit/>
          </a:bodyPr>
          <a:lstStyle/>
          <a:p>
            <a:pPr algn="dist"/>
            <a:r>
              <a:rPr lang="zh-CN" altLang="en-US" sz="6600" b="1">
                <a:solidFill>
                  <a:srgbClr val="FFFFFF"/>
                </a:solidFill>
                <a:latin typeface="+mj-ea"/>
                <a:ea typeface="+mj-ea"/>
              </a:rPr>
              <a:t>目录</a:t>
            </a:r>
          </a:p>
        </p:txBody>
      </p:sp>
      <p:pic>
        <p:nvPicPr>
          <p:cNvPr id="21" name="图片 20" descr="校徽+南京师范大学(白)"/>
          <p:cNvPicPr>
            <a:picLocks noChangeAspect="1"/>
          </p:cNvPicPr>
          <p:nvPr/>
        </p:nvPicPr>
        <p:blipFill>
          <a:blip r:embed="rId12"/>
          <a:stretch>
            <a:fillRect/>
          </a:stretch>
        </p:blipFill>
        <p:spPr>
          <a:xfrm>
            <a:off x="414020" y="567055"/>
            <a:ext cx="2992755" cy="2116455"/>
          </a:xfrm>
          <a:prstGeom prst="rect">
            <a:avLst/>
          </a:prstGeom>
        </p:spPr>
      </p:pic>
      <p:sp>
        <p:nvSpPr>
          <p:cNvPr id="22" name="文本框 21"/>
          <p:cNvSpPr txBox="1"/>
          <p:nvPr>
            <p:custDataLst>
              <p:tags r:id="rId2"/>
            </p:custDataLst>
          </p:nvPr>
        </p:nvSpPr>
        <p:spPr>
          <a:xfrm>
            <a:off x="176530" y="3743325"/>
            <a:ext cx="3467735" cy="460375"/>
          </a:xfrm>
          <a:prstGeom prst="rect">
            <a:avLst/>
          </a:prstGeom>
          <a:noFill/>
        </p:spPr>
        <p:txBody>
          <a:bodyPr wrap="square" rtlCol="0">
            <a:spAutoFit/>
          </a:bodyPr>
          <a:lstStyle/>
          <a:p>
            <a:pPr algn="ctr"/>
            <a:r>
              <a:rPr lang="en-US" altLang="zh-CN" sz="2400" b="1">
                <a:solidFill>
                  <a:srgbClr val="FFFFFF"/>
                </a:solidFill>
                <a:latin typeface="+mj-ea"/>
                <a:ea typeface="+mj-ea"/>
              </a:rPr>
              <a:t>CONTENTS</a:t>
            </a:r>
          </a:p>
        </p:txBody>
      </p:sp>
      <p:grpSp>
        <p:nvGrpSpPr>
          <p:cNvPr id="27" name="组合 26"/>
          <p:cNvGrpSpPr/>
          <p:nvPr/>
        </p:nvGrpSpPr>
        <p:grpSpPr>
          <a:xfrm>
            <a:off x="5375910" y="1678610"/>
            <a:ext cx="5291455" cy="745490"/>
            <a:chOff x="8466" y="1062"/>
            <a:chExt cx="8333" cy="1174"/>
          </a:xfrm>
        </p:grpSpPr>
        <p:sp>
          <p:nvSpPr>
            <p:cNvPr id="23" name="椭圆 22"/>
            <p:cNvSpPr/>
            <p:nvPr/>
          </p:nvSpPr>
          <p:spPr>
            <a:xfrm>
              <a:off x="8466" y="1062"/>
              <a:ext cx="1134" cy="1134"/>
            </a:xfrm>
            <a:prstGeom prst="ellipse">
              <a:avLst/>
            </a:prstGeom>
            <a:solidFill>
              <a:srgbClr val="00885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8473" y="1218"/>
              <a:ext cx="1127" cy="822"/>
            </a:xfrm>
            <a:prstGeom prst="rect">
              <a:avLst/>
            </a:prstGeom>
            <a:noFill/>
          </p:spPr>
          <p:txBody>
            <a:bodyPr wrap="square" rtlCol="0">
              <a:spAutoFit/>
            </a:bodyPr>
            <a:lstStyle/>
            <a:p>
              <a:pPr algn="ctr"/>
              <a:r>
                <a:rPr lang="en-US" altLang="zh-CN" sz="2800" b="1">
                  <a:solidFill>
                    <a:srgbClr val="FFFFFF"/>
                  </a:solidFill>
                  <a:latin typeface="黑体" panose="02010609060101010101" charset="-122"/>
                  <a:ea typeface="黑体" panose="02010609060101010101" charset="-122"/>
                </a:rPr>
                <a:t>01</a:t>
              </a:r>
            </a:p>
          </p:txBody>
        </p:sp>
        <p:sp>
          <p:nvSpPr>
            <p:cNvPr id="25" name="圆角矩形 24"/>
            <p:cNvSpPr/>
            <p:nvPr/>
          </p:nvSpPr>
          <p:spPr>
            <a:xfrm>
              <a:off x="9799" y="1103"/>
              <a:ext cx="7000" cy="1133"/>
            </a:xfrm>
            <a:prstGeom prst="roundRect">
              <a:avLst>
                <a:gd name="adj" fmla="val 50000"/>
              </a:avLst>
            </a:prstGeom>
            <a:solidFill>
              <a:schemeClr val="bg2">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10068" y="1193"/>
              <a:ext cx="4709" cy="872"/>
            </a:xfrm>
            <a:prstGeom prst="rect">
              <a:avLst/>
            </a:prstGeom>
            <a:noFill/>
          </p:spPr>
          <p:txBody>
            <a:bodyPr wrap="square" rtlCol="0">
              <a:spAutoFit/>
            </a:bodyPr>
            <a:lstStyle/>
            <a:p>
              <a:pPr algn="dist"/>
              <a:r>
                <a:rPr lang="zh-CN" altLang="zh-CN" sz="3000" b="1" dirty="0">
                  <a:solidFill>
                    <a:srgbClr val="00633D"/>
                  </a:solidFill>
                  <a:latin typeface="微软雅黑" panose="020B0503020204020204" charset="-122"/>
                  <a:ea typeface="微软雅黑" panose="020B0503020204020204" charset="-122"/>
                </a:rPr>
                <a:t>相关理论补充</a:t>
              </a:r>
              <a:endParaRPr lang="zh-CN" altLang="en-US" sz="3000" b="1" dirty="0">
                <a:solidFill>
                  <a:srgbClr val="00633D"/>
                </a:solidFill>
                <a:latin typeface="微软雅黑" panose="020B0503020204020204" charset="-122"/>
                <a:ea typeface="微软雅黑" panose="020B0503020204020204" charset="-122"/>
              </a:endParaRPr>
            </a:p>
          </p:txBody>
        </p:sp>
      </p:grpSp>
      <p:grpSp>
        <p:nvGrpSpPr>
          <p:cNvPr id="28" name="组合 27"/>
          <p:cNvGrpSpPr/>
          <p:nvPr/>
        </p:nvGrpSpPr>
        <p:grpSpPr>
          <a:xfrm>
            <a:off x="5380355" y="2851455"/>
            <a:ext cx="5291455" cy="720090"/>
            <a:chOff x="8466" y="1062"/>
            <a:chExt cx="8333" cy="1134"/>
          </a:xfrm>
        </p:grpSpPr>
        <p:sp>
          <p:nvSpPr>
            <p:cNvPr id="29" name="椭圆 28"/>
            <p:cNvSpPr/>
            <p:nvPr>
              <p:custDataLst>
                <p:tags r:id="rId7"/>
              </p:custDataLst>
            </p:nvPr>
          </p:nvSpPr>
          <p:spPr>
            <a:xfrm>
              <a:off x="8466" y="1062"/>
              <a:ext cx="1134" cy="1134"/>
            </a:xfrm>
            <a:prstGeom prst="ellipse">
              <a:avLst/>
            </a:prstGeom>
            <a:solidFill>
              <a:srgbClr val="00885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custDataLst>
                <p:tags r:id="rId8"/>
              </p:custDataLst>
            </p:nvPr>
          </p:nvSpPr>
          <p:spPr>
            <a:xfrm>
              <a:off x="8473" y="1218"/>
              <a:ext cx="1127" cy="822"/>
            </a:xfrm>
            <a:prstGeom prst="rect">
              <a:avLst/>
            </a:prstGeom>
            <a:noFill/>
          </p:spPr>
          <p:txBody>
            <a:bodyPr wrap="square" rtlCol="0">
              <a:spAutoFit/>
            </a:bodyPr>
            <a:lstStyle/>
            <a:p>
              <a:pPr algn="ctr"/>
              <a:r>
                <a:rPr lang="en-US" altLang="zh-CN" sz="2800" b="1">
                  <a:solidFill>
                    <a:srgbClr val="FFFFFF"/>
                  </a:solidFill>
                  <a:latin typeface="黑体" panose="02010609060101010101" charset="-122"/>
                  <a:ea typeface="黑体" panose="02010609060101010101" charset="-122"/>
                </a:rPr>
                <a:t>02</a:t>
              </a:r>
            </a:p>
          </p:txBody>
        </p:sp>
        <p:sp>
          <p:nvSpPr>
            <p:cNvPr id="31" name="圆角矩形 30"/>
            <p:cNvSpPr/>
            <p:nvPr>
              <p:custDataLst>
                <p:tags r:id="rId9"/>
              </p:custDataLst>
            </p:nvPr>
          </p:nvSpPr>
          <p:spPr>
            <a:xfrm>
              <a:off x="9799" y="1062"/>
              <a:ext cx="7000" cy="1133"/>
            </a:xfrm>
            <a:prstGeom prst="roundRect">
              <a:avLst>
                <a:gd name="adj" fmla="val 50000"/>
              </a:avLst>
            </a:prstGeom>
            <a:solidFill>
              <a:schemeClr val="bg2">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custDataLst>
                <p:tags r:id="rId10"/>
              </p:custDataLst>
            </p:nvPr>
          </p:nvSpPr>
          <p:spPr>
            <a:xfrm>
              <a:off x="10061" y="1168"/>
              <a:ext cx="6462" cy="872"/>
            </a:xfrm>
            <a:prstGeom prst="rect">
              <a:avLst/>
            </a:prstGeom>
            <a:noFill/>
          </p:spPr>
          <p:txBody>
            <a:bodyPr wrap="square" rtlCol="0">
              <a:spAutoFit/>
            </a:bodyPr>
            <a:lstStyle/>
            <a:p>
              <a:pPr algn="dist"/>
              <a:r>
                <a:rPr lang="zh-CN" altLang="en-US" sz="3000" b="1" dirty="0">
                  <a:solidFill>
                    <a:srgbClr val="00633D"/>
                  </a:solidFill>
                  <a:latin typeface="微软雅黑" panose="020B0503020204020204" charset="-122"/>
                  <a:ea typeface="微软雅黑" panose="020B0503020204020204" charset="-122"/>
                </a:rPr>
                <a:t>研究内容、方法与结果</a:t>
              </a:r>
            </a:p>
          </p:txBody>
        </p:sp>
      </p:grpSp>
      <p:grpSp>
        <p:nvGrpSpPr>
          <p:cNvPr id="33" name="组合 32"/>
          <p:cNvGrpSpPr/>
          <p:nvPr/>
        </p:nvGrpSpPr>
        <p:grpSpPr>
          <a:xfrm>
            <a:off x="5375910" y="4054780"/>
            <a:ext cx="5824220" cy="720090"/>
            <a:chOff x="8466" y="1062"/>
            <a:chExt cx="9172" cy="1134"/>
          </a:xfrm>
        </p:grpSpPr>
        <p:sp>
          <p:nvSpPr>
            <p:cNvPr id="34" name="椭圆 33"/>
            <p:cNvSpPr/>
            <p:nvPr>
              <p:custDataLst>
                <p:tags r:id="rId3"/>
              </p:custDataLst>
            </p:nvPr>
          </p:nvSpPr>
          <p:spPr>
            <a:xfrm>
              <a:off x="8466" y="1062"/>
              <a:ext cx="1134" cy="1134"/>
            </a:xfrm>
            <a:prstGeom prst="ellipse">
              <a:avLst/>
            </a:prstGeom>
            <a:solidFill>
              <a:srgbClr val="00885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custDataLst>
                <p:tags r:id="rId4"/>
              </p:custDataLst>
            </p:nvPr>
          </p:nvSpPr>
          <p:spPr>
            <a:xfrm>
              <a:off x="8473" y="1218"/>
              <a:ext cx="1127" cy="822"/>
            </a:xfrm>
            <a:prstGeom prst="rect">
              <a:avLst/>
            </a:prstGeom>
            <a:noFill/>
          </p:spPr>
          <p:txBody>
            <a:bodyPr wrap="square" rtlCol="0">
              <a:spAutoFit/>
            </a:bodyPr>
            <a:lstStyle/>
            <a:p>
              <a:pPr algn="ctr"/>
              <a:r>
                <a:rPr lang="en-US" altLang="zh-CN" sz="2800" b="1">
                  <a:solidFill>
                    <a:srgbClr val="FFFFFF"/>
                  </a:solidFill>
                  <a:latin typeface="黑体" panose="02010609060101010101" charset="-122"/>
                  <a:ea typeface="黑体" panose="02010609060101010101" charset="-122"/>
                </a:rPr>
                <a:t>03</a:t>
              </a:r>
            </a:p>
          </p:txBody>
        </p:sp>
        <p:sp>
          <p:nvSpPr>
            <p:cNvPr id="36" name="圆角矩形 35"/>
            <p:cNvSpPr/>
            <p:nvPr>
              <p:custDataLst>
                <p:tags r:id="rId5"/>
              </p:custDataLst>
            </p:nvPr>
          </p:nvSpPr>
          <p:spPr>
            <a:xfrm>
              <a:off x="9799" y="1062"/>
              <a:ext cx="7000" cy="1133"/>
            </a:xfrm>
            <a:prstGeom prst="roundRect">
              <a:avLst>
                <a:gd name="adj" fmla="val 50000"/>
              </a:avLst>
            </a:prstGeom>
            <a:solidFill>
              <a:schemeClr val="bg2">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custDataLst>
                <p:tags r:id="rId6"/>
              </p:custDataLst>
            </p:nvPr>
          </p:nvSpPr>
          <p:spPr>
            <a:xfrm>
              <a:off x="10068" y="1192"/>
              <a:ext cx="7570" cy="872"/>
            </a:xfrm>
            <a:prstGeom prst="rect">
              <a:avLst/>
            </a:prstGeom>
            <a:noFill/>
          </p:spPr>
          <p:txBody>
            <a:bodyPr wrap="square" rtlCol="0">
              <a:spAutoFit/>
            </a:bodyPr>
            <a:lstStyle/>
            <a:p>
              <a:r>
                <a:rPr lang="zh-CN" altLang="en-US" sz="3000" b="1" dirty="0">
                  <a:solidFill>
                    <a:srgbClr val="00633D"/>
                  </a:solidFill>
                  <a:latin typeface="微软雅黑" panose="020B0503020204020204" charset="-122"/>
                  <a:ea typeface="微软雅黑" panose="020B0503020204020204" charset="-122"/>
                </a:rPr>
                <a:t>改进与优化</a:t>
              </a:r>
              <a:endParaRPr lang="zh-CN" altLang="zh-CN" sz="3000" b="1" dirty="0">
                <a:solidFill>
                  <a:srgbClr val="00633D"/>
                </a:solidFill>
                <a:latin typeface="微软雅黑" panose="020B0503020204020204" charset="-122"/>
                <a:ea typeface="微软雅黑" panose="020B0503020204020204" charset="-122"/>
              </a:endParaRPr>
            </a:p>
          </p:txBody>
        </p:sp>
      </p:gr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2"/>
            </p:custDataLst>
          </p:nvPr>
        </p:nvSpPr>
        <p:spPr>
          <a:xfrm>
            <a:off x="0" y="0"/>
            <a:ext cx="12201525" cy="68453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descr="校徽+南京师范大学(白)"/>
          <p:cNvPicPr>
            <a:picLocks noChangeAspect="1"/>
          </p:cNvPicPr>
          <p:nvPr>
            <p:custDataLst>
              <p:tags r:id="rId3"/>
            </p:custDataLst>
          </p:nvPr>
        </p:nvPicPr>
        <p:blipFill>
          <a:blip r:embed="rId13"/>
          <a:stretch>
            <a:fillRect/>
          </a:stretch>
        </p:blipFill>
        <p:spPr>
          <a:xfrm>
            <a:off x="9427845" y="-587375"/>
            <a:ext cx="2764155" cy="1955165"/>
          </a:xfrm>
          <a:prstGeom prst="rect">
            <a:avLst/>
          </a:prstGeom>
        </p:spPr>
      </p:pic>
      <p:sp>
        <p:nvSpPr>
          <p:cNvPr id="10" name="文本框 9"/>
          <p:cNvSpPr txBox="1"/>
          <p:nvPr/>
        </p:nvSpPr>
        <p:spPr>
          <a:xfrm>
            <a:off x="226060" y="109855"/>
            <a:ext cx="2644140" cy="461665"/>
          </a:xfrm>
          <a:prstGeom prst="rect">
            <a:avLst/>
          </a:prstGeom>
          <a:noFill/>
        </p:spPr>
        <p:txBody>
          <a:bodyPr wrap="square" rtlCol="0">
            <a:spAutoFit/>
          </a:bodyPr>
          <a:lstStyle/>
          <a:p>
            <a:r>
              <a:rPr lang="zh-CN" altLang="zh-CN" sz="2400" b="1" dirty="0">
                <a:solidFill>
                  <a:schemeClr val="bg1"/>
                </a:solidFill>
                <a:latin typeface="微软雅黑" panose="020B0503020204020204" charset="-122"/>
                <a:ea typeface="微软雅黑" panose="020B0503020204020204" charset="-122"/>
              </a:rPr>
              <a:t>相关理论补</a:t>
            </a:r>
            <a:r>
              <a:rPr lang="zh-CN" altLang="en-US" sz="2400" b="1" dirty="0">
                <a:solidFill>
                  <a:schemeClr val="bg1"/>
                </a:solidFill>
                <a:latin typeface="微软雅黑" panose="020B0503020204020204" charset="-122"/>
                <a:ea typeface="微软雅黑" panose="020B0503020204020204" charset="-122"/>
              </a:rPr>
              <a:t>充</a:t>
            </a:r>
            <a:endParaRPr lang="zh-CN" altLang="en-US" sz="2400" b="1" dirty="0">
              <a:solidFill>
                <a:schemeClr val="bg1"/>
              </a:solidFill>
            </a:endParaRPr>
          </a:p>
        </p:txBody>
      </p:sp>
      <p:sp>
        <p:nvSpPr>
          <p:cNvPr id="11" name="矩形 10"/>
          <p:cNvSpPr/>
          <p:nvPr>
            <p:custDataLst>
              <p:tags r:id="rId4"/>
            </p:custDataLst>
          </p:nvPr>
        </p:nvSpPr>
        <p:spPr>
          <a:xfrm>
            <a:off x="-9525" y="6738620"/>
            <a:ext cx="12201525" cy="1193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组合 55"/>
          <p:cNvGrpSpPr/>
          <p:nvPr/>
        </p:nvGrpSpPr>
        <p:grpSpPr>
          <a:xfrm>
            <a:off x="8457883" y="1933315"/>
            <a:ext cx="771437" cy="771436"/>
            <a:chOff x="6938352" y="2232000"/>
            <a:chExt cx="771437" cy="771436"/>
          </a:xfrm>
        </p:grpSpPr>
        <p:sp>
          <p:nvSpPr>
            <p:cNvPr id="57" name="Oval 6"/>
            <p:cNvSpPr>
              <a:spLocks noChangeAspect="1"/>
            </p:cNvSpPr>
            <p:nvPr>
              <p:custDataLst>
                <p:tags r:id="rId10"/>
              </p:custDataLst>
            </p:nvPr>
          </p:nvSpPr>
          <p:spPr>
            <a:xfrm>
              <a:off x="6938352" y="2232000"/>
              <a:ext cx="771437" cy="771436"/>
            </a:xfrm>
            <a:prstGeom prst="ellipse">
              <a:avLst/>
            </a:prstGeom>
            <a:solidFill>
              <a:srgbClr val="00633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60" name="Freeform 62"/>
            <p:cNvSpPr>
              <a:spLocks noChangeAspect="1" noEditPoints="1"/>
            </p:cNvSpPr>
            <p:nvPr>
              <p:custDataLst>
                <p:tags r:id="rId11"/>
              </p:custDataLst>
            </p:nvPr>
          </p:nvSpPr>
          <p:spPr bwMode="auto">
            <a:xfrm>
              <a:off x="7152617" y="2445031"/>
              <a:ext cx="342906" cy="345373"/>
            </a:xfrm>
            <a:custGeom>
              <a:avLst/>
              <a:gdLst/>
              <a:ahLst/>
              <a:cxnLst>
                <a:cxn ang="0">
                  <a:pos x="58" y="33"/>
                </a:cxn>
                <a:cxn ang="0">
                  <a:pos x="57" y="34"/>
                </a:cxn>
                <a:cxn ang="0">
                  <a:pos x="50" y="35"/>
                </a:cxn>
                <a:cxn ang="0">
                  <a:pos x="49" y="39"/>
                </a:cxn>
                <a:cxn ang="0">
                  <a:pos x="53" y="44"/>
                </a:cxn>
                <a:cxn ang="0">
                  <a:pos x="53" y="45"/>
                </a:cxn>
                <a:cxn ang="0">
                  <a:pos x="53" y="46"/>
                </a:cxn>
                <a:cxn ang="0">
                  <a:pos x="45" y="53"/>
                </a:cxn>
                <a:cxn ang="0">
                  <a:pos x="44" y="52"/>
                </a:cxn>
                <a:cxn ang="0">
                  <a:pos x="39" y="48"/>
                </a:cxn>
                <a:cxn ang="0">
                  <a:pos x="36" y="50"/>
                </a:cxn>
                <a:cxn ang="0">
                  <a:pos x="34" y="57"/>
                </a:cxn>
                <a:cxn ang="0">
                  <a:pos x="33" y="58"/>
                </a:cxn>
                <a:cxn ang="0">
                  <a:pos x="25" y="58"/>
                </a:cxn>
                <a:cxn ang="0">
                  <a:pos x="23" y="57"/>
                </a:cxn>
                <a:cxn ang="0">
                  <a:pos x="22" y="50"/>
                </a:cxn>
                <a:cxn ang="0">
                  <a:pos x="19" y="48"/>
                </a:cxn>
                <a:cxn ang="0">
                  <a:pos x="14" y="52"/>
                </a:cxn>
                <a:cxn ang="0">
                  <a:pos x="13" y="53"/>
                </a:cxn>
                <a:cxn ang="0">
                  <a:pos x="12" y="52"/>
                </a:cxn>
                <a:cxn ang="0">
                  <a:pos x="5" y="46"/>
                </a:cxn>
                <a:cxn ang="0">
                  <a:pos x="5" y="45"/>
                </a:cxn>
                <a:cxn ang="0">
                  <a:pos x="5" y="44"/>
                </a:cxn>
                <a:cxn ang="0">
                  <a:pos x="9" y="39"/>
                </a:cxn>
                <a:cxn ang="0">
                  <a:pos x="8" y="35"/>
                </a:cxn>
                <a:cxn ang="0">
                  <a:pos x="1" y="34"/>
                </a:cxn>
                <a:cxn ang="0">
                  <a:pos x="0" y="33"/>
                </a:cxn>
                <a:cxn ang="0">
                  <a:pos x="0" y="24"/>
                </a:cxn>
                <a:cxn ang="0">
                  <a:pos x="1" y="23"/>
                </a:cxn>
                <a:cxn ang="0">
                  <a:pos x="8" y="22"/>
                </a:cxn>
                <a:cxn ang="0">
                  <a:pos x="9" y="18"/>
                </a:cxn>
                <a:cxn ang="0">
                  <a:pos x="5" y="13"/>
                </a:cxn>
                <a:cxn ang="0">
                  <a:pos x="5" y="12"/>
                </a:cxn>
                <a:cxn ang="0">
                  <a:pos x="5" y="11"/>
                </a:cxn>
                <a:cxn ang="0">
                  <a:pos x="13" y="5"/>
                </a:cxn>
                <a:cxn ang="0">
                  <a:pos x="14" y="5"/>
                </a:cxn>
                <a:cxn ang="0">
                  <a:pos x="19" y="9"/>
                </a:cxn>
                <a:cxn ang="0">
                  <a:pos x="22" y="8"/>
                </a:cxn>
                <a:cxn ang="0">
                  <a:pos x="23" y="1"/>
                </a:cxn>
                <a:cxn ang="0">
                  <a:pos x="25" y="0"/>
                </a:cxn>
                <a:cxn ang="0">
                  <a:pos x="33" y="0"/>
                </a:cxn>
                <a:cxn ang="0">
                  <a:pos x="34" y="1"/>
                </a:cxn>
                <a:cxn ang="0">
                  <a:pos x="36" y="8"/>
                </a:cxn>
                <a:cxn ang="0">
                  <a:pos x="39" y="9"/>
                </a:cxn>
                <a:cxn ang="0">
                  <a:pos x="44" y="5"/>
                </a:cxn>
                <a:cxn ang="0">
                  <a:pos x="45" y="5"/>
                </a:cxn>
                <a:cxn ang="0">
                  <a:pos x="46" y="5"/>
                </a:cxn>
                <a:cxn ang="0">
                  <a:pos x="52" y="12"/>
                </a:cxn>
                <a:cxn ang="0">
                  <a:pos x="53" y="12"/>
                </a:cxn>
                <a:cxn ang="0">
                  <a:pos x="52" y="13"/>
                </a:cxn>
                <a:cxn ang="0">
                  <a:pos x="48" y="18"/>
                </a:cxn>
                <a:cxn ang="0">
                  <a:pos x="50" y="22"/>
                </a:cxn>
                <a:cxn ang="0">
                  <a:pos x="57" y="23"/>
                </a:cxn>
                <a:cxn ang="0">
                  <a:pos x="58" y="25"/>
                </a:cxn>
                <a:cxn ang="0">
                  <a:pos x="58" y="33"/>
                </a:cxn>
                <a:cxn ang="0">
                  <a:pos x="29" y="19"/>
                </a:cxn>
                <a:cxn ang="0">
                  <a:pos x="19" y="29"/>
                </a:cxn>
                <a:cxn ang="0">
                  <a:pos x="29" y="38"/>
                </a:cxn>
                <a:cxn ang="0">
                  <a:pos x="39" y="29"/>
                </a:cxn>
                <a:cxn ang="0">
                  <a:pos x="29" y="19"/>
                </a:cxn>
              </a:cxnLst>
              <a:rect l="0" t="0" r="r" b="b"/>
              <a:pathLst>
                <a:path w="58" h="58">
                  <a:moveTo>
                    <a:pt x="58" y="33"/>
                  </a:moveTo>
                  <a:cubicBezTo>
                    <a:pt x="58" y="34"/>
                    <a:pt x="58" y="34"/>
                    <a:pt x="57" y="34"/>
                  </a:cubicBezTo>
                  <a:cubicBezTo>
                    <a:pt x="50" y="35"/>
                    <a:pt x="50" y="35"/>
                    <a:pt x="50" y="35"/>
                  </a:cubicBezTo>
                  <a:cubicBezTo>
                    <a:pt x="50" y="37"/>
                    <a:pt x="49" y="38"/>
                    <a:pt x="49" y="39"/>
                  </a:cubicBezTo>
                  <a:cubicBezTo>
                    <a:pt x="50" y="41"/>
                    <a:pt x="51" y="42"/>
                    <a:pt x="53" y="44"/>
                  </a:cubicBezTo>
                  <a:cubicBezTo>
                    <a:pt x="53" y="44"/>
                    <a:pt x="53" y="45"/>
                    <a:pt x="53" y="45"/>
                  </a:cubicBezTo>
                  <a:cubicBezTo>
                    <a:pt x="53" y="45"/>
                    <a:pt x="53" y="46"/>
                    <a:pt x="53" y="46"/>
                  </a:cubicBezTo>
                  <a:cubicBezTo>
                    <a:pt x="52" y="47"/>
                    <a:pt x="47" y="53"/>
                    <a:pt x="45" y="53"/>
                  </a:cubicBezTo>
                  <a:cubicBezTo>
                    <a:pt x="45" y="53"/>
                    <a:pt x="45" y="53"/>
                    <a:pt x="44" y="52"/>
                  </a:cubicBezTo>
                  <a:cubicBezTo>
                    <a:pt x="39" y="48"/>
                    <a:pt x="39" y="48"/>
                    <a:pt x="39" y="48"/>
                  </a:cubicBezTo>
                  <a:cubicBezTo>
                    <a:pt x="38" y="49"/>
                    <a:pt x="37" y="49"/>
                    <a:pt x="36" y="50"/>
                  </a:cubicBezTo>
                  <a:cubicBezTo>
                    <a:pt x="35" y="52"/>
                    <a:pt x="35" y="55"/>
                    <a:pt x="34" y="57"/>
                  </a:cubicBezTo>
                  <a:cubicBezTo>
                    <a:pt x="34" y="57"/>
                    <a:pt x="34" y="58"/>
                    <a:pt x="33" y="58"/>
                  </a:cubicBezTo>
                  <a:cubicBezTo>
                    <a:pt x="25" y="58"/>
                    <a:pt x="25" y="58"/>
                    <a:pt x="25" y="58"/>
                  </a:cubicBezTo>
                  <a:cubicBezTo>
                    <a:pt x="24" y="58"/>
                    <a:pt x="23" y="57"/>
                    <a:pt x="23" y="57"/>
                  </a:cubicBezTo>
                  <a:cubicBezTo>
                    <a:pt x="22" y="50"/>
                    <a:pt x="22" y="50"/>
                    <a:pt x="22" y="50"/>
                  </a:cubicBezTo>
                  <a:cubicBezTo>
                    <a:pt x="21" y="49"/>
                    <a:pt x="20" y="49"/>
                    <a:pt x="19" y="48"/>
                  </a:cubicBezTo>
                  <a:cubicBezTo>
                    <a:pt x="14" y="52"/>
                    <a:pt x="14" y="52"/>
                    <a:pt x="14" y="52"/>
                  </a:cubicBezTo>
                  <a:cubicBezTo>
                    <a:pt x="13" y="53"/>
                    <a:pt x="13" y="53"/>
                    <a:pt x="13" y="53"/>
                  </a:cubicBezTo>
                  <a:cubicBezTo>
                    <a:pt x="12" y="53"/>
                    <a:pt x="12" y="53"/>
                    <a:pt x="12" y="52"/>
                  </a:cubicBezTo>
                  <a:cubicBezTo>
                    <a:pt x="10" y="50"/>
                    <a:pt x="7" y="48"/>
                    <a:pt x="5" y="46"/>
                  </a:cubicBezTo>
                  <a:cubicBezTo>
                    <a:pt x="5" y="46"/>
                    <a:pt x="5" y="45"/>
                    <a:pt x="5" y="45"/>
                  </a:cubicBezTo>
                  <a:cubicBezTo>
                    <a:pt x="5" y="45"/>
                    <a:pt x="5" y="44"/>
                    <a:pt x="5" y="44"/>
                  </a:cubicBezTo>
                  <a:cubicBezTo>
                    <a:pt x="7" y="42"/>
                    <a:pt x="8" y="41"/>
                    <a:pt x="9" y="39"/>
                  </a:cubicBezTo>
                  <a:cubicBezTo>
                    <a:pt x="9" y="38"/>
                    <a:pt x="8" y="37"/>
                    <a:pt x="8" y="35"/>
                  </a:cubicBezTo>
                  <a:cubicBezTo>
                    <a:pt x="1" y="34"/>
                    <a:pt x="1" y="34"/>
                    <a:pt x="1" y="34"/>
                  </a:cubicBezTo>
                  <a:cubicBezTo>
                    <a:pt x="0" y="34"/>
                    <a:pt x="0" y="33"/>
                    <a:pt x="0" y="33"/>
                  </a:cubicBezTo>
                  <a:cubicBezTo>
                    <a:pt x="0" y="24"/>
                    <a:pt x="0" y="24"/>
                    <a:pt x="0" y="24"/>
                  </a:cubicBezTo>
                  <a:cubicBezTo>
                    <a:pt x="0" y="24"/>
                    <a:pt x="0" y="23"/>
                    <a:pt x="1" y="23"/>
                  </a:cubicBezTo>
                  <a:cubicBezTo>
                    <a:pt x="8" y="22"/>
                    <a:pt x="8" y="22"/>
                    <a:pt x="8" y="22"/>
                  </a:cubicBezTo>
                  <a:cubicBezTo>
                    <a:pt x="8" y="21"/>
                    <a:pt x="9" y="20"/>
                    <a:pt x="9" y="18"/>
                  </a:cubicBezTo>
                  <a:cubicBezTo>
                    <a:pt x="8" y="17"/>
                    <a:pt x="7" y="15"/>
                    <a:pt x="5" y="13"/>
                  </a:cubicBezTo>
                  <a:cubicBezTo>
                    <a:pt x="5" y="13"/>
                    <a:pt x="5" y="13"/>
                    <a:pt x="5" y="12"/>
                  </a:cubicBezTo>
                  <a:cubicBezTo>
                    <a:pt x="5" y="12"/>
                    <a:pt x="5" y="12"/>
                    <a:pt x="5" y="11"/>
                  </a:cubicBezTo>
                  <a:cubicBezTo>
                    <a:pt x="6" y="10"/>
                    <a:pt x="11" y="5"/>
                    <a:pt x="13" y="5"/>
                  </a:cubicBezTo>
                  <a:cubicBezTo>
                    <a:pt x="13" y="5"/>
                    <a:pt x="13" y="5"/>
                    <a:pt x="14" y="5"/>
                  </a:cubicBezTo>
                  <a:cubicBezTo>
                    <a:pt x="19" y="9"/>
                    <a:pt x="19" y="9"/>
                    <a:pt x="19" y="9"/>
                  </a:cubicBezTo>
                  <a:cubicBezTo>
                    <a:pt x="20" y="9"/>
                    <a:pt x="21" y="8"/>
                    <a:pt x="22" y="8"/>
                  </a:cubicBezTo>
                  <a:cubicBezTo>
                    <a:pt x="22" y="5"/>
                    <a:pt x="23" y="3"/>
                    <a:pt x="23" y="1"/>
                  </a:cubicBezTo>
                  <a:cubicBezTo>
                    <a:pt x="23" y="0"/>
                    <a:pt x="24" y="0"/>
                    <a:pt x="25" y="0"/>
                  </a:cubicBezTo>
                  <a:cubicBezTo>
                    <a:pt x="33" y="0"/>
                    <a:pt x="33" y="0"/>
                    <a:pt x="33" y="0"/>
                  </a:cubicBezTo>
                  <a:cubicBezTo>
                    <a:pt x="34" y="0"/>
                    <a:pt x="34" y="0"/>
                    <a:pt x="34" y="1"/>
                  </a:cubicBezTo>
                  <a:cubicBezTo>
                    <a:pt x="36" y="8"/>
                    <a:pt x="36" y="8"/>
                    <a:pt x="36" y="8"/>
                  </a:cubicBezTo>
                  <a:cubicBezTo>
                    <a:pt x="37" y="8"/>
                    <a:pt x="38" y="9"/>
                    <a:pt x="39" y="9"/>
                  </a:cubicBezTo>
                  <a:cubicBezTo>
                    <a:pt x="44" y="5"/>
                    <a:pt x="44" y="5"/>
                    <a:pt x="44" y="5"/>
                  </a:cubicBezTo>
                  <a:cubicBezTo>
                    <a:pt x="45" y="5"/>
                    <a:pt x="45" y="5"/>
                    <a:pt x="45" y="5"/>
                  </a:cubicBezTo>
                  <a:cubicBezTo>
                    <a:pt x="46" y="5"/>
                    <a:pt x="46" y="5"/>
                    <a:pt x="46" y="5"/>
                  </a:cubicBezTo>
                  <a:cubicBezTo>
                    <a:pt x="48" y="7"/>
                    <a:pt x="51" y="9"/>
                    <a:pt x="52" y="12"/>
                  </a:cubicBezTo>
                  <a:cubicBezTo>
                    <a:pt x="53" y="12"/>
                    <a:pt x="53" y="12"/>
                    <a:pt x="53" y="12"/>
                  </a:cubicBezTo>
                  <a:cubicBezTo>
                    <a:pt x="53" y="13"/>
                    <a:pt x="53" y="13"/>
                    <a:pt x="52" y="13"/>
                  </a:cubicBezTo>
                  <a:cubicBezTo>
                    <a:pt x="51" y="15"/>
                    <a:pt x="50" y="17"/>
                    <a:pt x="48" y="18"/>
                  </a:cubicBezTo>
                  <a:cubicBezTo>
                    <a:pt x="49" y="20"/>
                    <a:pt x="50" y="21"/>
                    <a:pt x="50" y="22"/>
                  </a:cubicBezTo>
                  <a:cubicBezTo>
                    <a:pt x="57" y="23"/>
                    <a:pt x="57" y="23"/>
                    <a:pt x="57" y="23"/>
                  </a:cubicBezTo>
                  <a:cubicBezTo>
                    <a:pt x="58" y="23"/>
                    <a:pt x="58" y="24"/>
                    <a:pt x="58" y="25"/>
                  </a:cubicBezTo>
                  <a:lnTo>
                    <a:pt x="58" y="33"/>
                  </a:lnTo>
                  <a:close/>
                  <a:moveTo>
                    <a:pt x="29" y="19"/>
                  </a:moveTo>
                  <a:cubicBezTo>
                    <a:pt x="24" y="19"/>
                    <a:pt x="19" y="23"/>
                    <a:pt x="19" y="29"/>
                  </a:cubicBezTo>
                  <a:cubicBezTo>
                    <a:pt x="19" y="34"/>
                    <a:pt x="24" y="38"/>
                    <a:pt x="29" y="38"/>
                  </a:cubicBezTo>
                  <a:cubicBezTo>
                    <a:pt x="34" y="38"/>
                    <a:pt x="39" y="34"/>
                    <a:pt x="39" y="29"/>
                  </a:cubicBezTo>
                  <a:cubicBezTo>
                    <a:pt x="39" y="23"/>
                    <a:pt x="34" y="19"/>
                    <a:pt x="29" y="19"/>
                  </a:cubicBezTo>
                  <a:close/>
                </a:path>
              </a:pathLst>
            </a:custGeom>
            <a:solidFill>
              <a:schemeClr val="bg1"/>
            </a:solidFill>
            <a:ln w="9525">
              <a:noFill/>
              <a:round/>
            </a:ln>
          </p:spPr>
          <p:txBody>
            <a:bodyPr vert="horz" wrap="square" lIns="121682" tIns="60841" rIns="121682" bIns="60841" numCol="1" anchor="t" anchorCtr="0" compatLnSpc="1"/>
            <a:lstStyle/>
            <a:p>
              <a:endParaRPr lang="en-US" sz="3100">
                <a:solidFill>
                  <a:schemeClr val="tx1">
                    <a:lumMod val="65000"/>
                    <a:lumOff val="35000"/>
                  </a:schemeClr>
                </a:solidFill>
                <a:latin typeface="+mn-ea"/>
                <a:ea typeface="+mn-ea"/>
              </a:endParaRPr>
            </a:p>
          </p:txBody>
        </p:sp>
      </p:grpSp>
      <p:grpSp>
        <p:nvGrpSpPr>
          <p:cNvPr id="61" name="组合 60"/>
          <p:cNvGrpSpPr/>
          <p:nvPr/>
        </p:nvGrpSpPr>
        <p:grpSpPr>
          <a:xfrm>
            <a:off x="8457882" y="3624738"/>
            <a:ext cx="771437" cy="771436"/>
            <a:chOff x="6938352" y="3445667"/>
            <a:chExt cx="771437" cy="771436"/>
          </a:xfrm>
        </p:grpSpPr>
        <p:sp>
          <p:nvSpPr>
            <p:cNvPr id="62" name="Oval 7"/>
            <p:cNvSpPr>
              <a:spLocks noChangeAspect="1"/>
            </p:cNvSpPr>
            <p:nvPr>
              <p:custDataLst>
                <p:tags r:id="rId8"/>
              </p:custDataLst>
            </p:nvPr>
          </p:nvSpPr>
          <p:spPr>
            <a:xfrm>
              <a:off x="6938352" y="3445667"/>
              <a:ext cx="771437" cy="771436"/>
            </a:xfrm>
            <a:prstGeom prst="ellipse">
              <a:avLst/>
            </a:prstGeom>
            <a:solidFill>
              <a:srgbClr val="00A86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63" name="Freeform 245"/>
            <p:cNvSpPr>
              <a:spLocks noChangeAspect="1"/>
            </p:cNvSpPr>
            <p:nvPr>
              <p:custDataLst>
                <p:tags r:id="rId9"/>
              </p:custDataLst>
            </p:nvPr>
          </p:nvSpPr>
          <p:spPr bwMode="auto">
            <a:xfrm>
              <a:off x="7118606" y="3665660"/>
              <a:ext cx="345647" cy="345373"/>
            </a:xfrm>
            <a:custGeom>
              <a:avLst/>
              <a:gdLst/>
              <a:ahLst/>
              <a:cxnLst>
                <a:cxn ang="0">
                  <a:pos x="68" y="3"/>
                </a:cxn>
                <a:cxn ang="0">
                  <a:pos x="58" y="61"/>
                </a:cxn>
                <a:cxn ang="0">
                  <a:pos x="57" y="63"/>
                </a:cxn>
                <a:cxn ang="0">
                  <a:pos x="56" y="63"/>
                </a:cxn>
                <a:cxn ang="0">
                  <a:pos x="55" y="63"/>
                </a:cxn>
                <a:cxn ang="0">
                  <a:pos x="38" y="56"/>
                </a:cxn>
                <a:cxn ang="0">
                  <a:pos x="28" y="67"/>
                </a:cxn>
                <a:cxn ang="0">
                  <a:pos x="26" y="68"/>
                </a:cxn>
                <a:cxn ang="0">
                  <a:pos x="26" y="68"/>
                </a:cxn>
                <a:cxn ang="0">
                  <a:pos x="24" y="65"/>
                </a:cxn>
                <a:cxn ang="0">
                  <a:pos x="24" y="52"/>
                </a:cxn>
                <a:cxn ang="0">
                  <a:pos x="57" y="12"/>
                </a:cxn>
                <a:cxn ang="0">
                  <a:pos x="16" y="47"/>
                </a:cxn>
                <a:cxn ang="0">
                  <a:pos x="1" y="41"/>
                </a:cxn>
                <a:cxn ang="0">
                  <a:pos x="0" y="39"/>
                </a:cxn>
                <a:cxn ang="0">
                  <a:pos x="1" y="36"/>
                </a:cxn>
                <a:cxn ang="0">
                  <a:pos x="64" y="0"/>
                </a:cxn>
                <a:cxn ang="0">
                  <a:pos x="65" y="0"/>
                </a:cxn>
                <a:cxn ang="0">
                  <a:pos x="67" y="0"/>
                </a:cxn>
                <a:cxn ang="0">
                  <a:pos x="68" y="3"/>
                </a:cxn>
              </a:cxnLst>
              <a:rect l="0" t="0" r="r" b="b"/>
              <a:pathLst>
                <a:path w="68" h="68">
                  <a:moveTo>
                    <a:pt x="68" y="3"/>
                  </a:moveTo>
                  <a:cubicBezTo>
                    <a:pt x="58" y="61"/>
                    <a:pt x="58" y="61"/>
                    <a:pt x="58" y="61"/>
                  </a:cubicBezTo>
                  <a:cubicBezTo>
                    <a:pt x="58" y="62"/>
                    <a:pt x="57" y="62"/>
                    <a:pt x="57" y="63"/>
                  </a:cubicBezTo>
                  <a:cubicBezTo>
                    <a:pt x="56" y="63"/>
                    <a:pt x="56" y="63"/>
                    <a:pt x="56" y="63"/>
                  </a:cubicBezTo>
                  <a:cubicBezTo>
                    <a:pt x="55" y="63"/>
                    <a:pt x="55" y="63"/>
                    <a:pt x="55" y="63"/>
                  </a:cubicBezTo>
                  <a:cubicBezTo>
                    <a:pt x="38" y="56"/>
                    <a:pt x="38" y="56"/>
                    <a:pt x="38" y="56"/>
                  </a:cubicBezTo>
                  <a:cubicBezTo>
                    <a:pt x="28" y="67"/>
                    <a:pt x="28" y="67"/>
                    <a:pt x="28" y="67"/>
                  </a:cubicBezTo>
                  <a:cubicBezTo>
                    <a:pt x="28" y="67"/>
                    <a:pt x="27" y="68"/>
                    <a:pt x="26" y="68"/>
                  </a:cubicBezTo>
                  <a:cubicBezTo>
                    <a:pt x="26" y="68"/>
                    <a:pt x="26" y="68"/>
                    <a:pt x="26" y="68"/>
                  </a:cubicBezTo>
                  <a:cubicBezTo>
                    <a:pt x="25" y="67"/>
                    <a:pt x="24" y="66"/>
                    <a:pt x="24" y="65"/>
                  </a:cubicBezTo>
                  <a:cubicBezTo>
                    <a:pt x="24" y="52"/>
                    <a:pt x="24" y="52"/>
                    <a:pt x="24" y="52"/>
                  </a:cubicBezTo>
                  <a:cubicBezTo>
                    <a:pt x="57" y="12"/>
                    <a:pt x="57" y="12"/>
                    <a:pt x="57" y="12"/>
                  </a:cubicBezTo>
                  <a:cubicBezTo>
                    <a:pt x="16" y="47"/>
                    <a:pt x="16" y="47"/>
                    <a:pt x="16" y="47"/>
                  </a:cubicBezTo>
                  <a:cubicBezTo>
                    <a:pt x="1" y="41"/>
                    <a:pt x="1" y="41"/>
                    <a:pt x="1" y="41"/>
                  </a:cubicBezTo>
                  <a:cubicBezTo>
                    <a:pt x="0" y="40"/>
                    <a:pt x="0" y="40"/>
                    <a:pt x="0" y="39"/>
                  </a:cubicBezTo>
                  <a:cubicBezTo>
                    <a:pt x="0" y="38"/>
                    <a:pt x="0" y="37"/>
                    <a:pt x="1" y="36"/>
                  </a:cubicBezTo>
                  <a:cubicBezTo>
                    <a:pt x="64" y="0"/>
                    <a:pt x="64" y="0"/>
                    <a:pt x="64" y="0"/>
                  </a:cubicBezTo>
                  <a:cubicBezTo>
                    <a:pt x="65" y="0"/>
                    <a:pt x="65" y="0"/>
                    <a:pt x="65" y="0"/>
                  </a:cubicBezTo>
                  <a:cubicBezTo>
                    <a:pt x="66" y="0"/>
                    <a:pt x="66" y="0"/>
                    <a:pt x="67" y="0"/>
                  </a:cubicBezTo>
                  <a:cubicBezTo>
                    <a:pt x="68" y="1"/>
                    <a:pt x="68" y="2"/>
                    <a:pt x="68" y="3"/>
                  </a:cubicBezTo>
                  <a:close/>
                </a:path>
              </a:pathLst>
            </a:custGeom>
            <a:solidFill>
              <a:schemeClr val="bg1"/>
            </a:solidFill>
            <a:ln w="9525">
              <a:noFill/>
              <a:round/>
            </a:ln>
          </p:spPr>
          <p:txBody>
            <a:bodyPr vert="horz" wrap="square" lIns="121682" tIns="60841" rIns="121682" bIns="60841" numCol="1" anchor="t" anchorCtr="0" compatLnSpc="1"/>
            <a:lstStyle/>
            <a:p>
              <a:endParaRPr lang="en-US" sz="3100">
                <a:solidFill>
                  <a:schemeClr val="tx1">
                    <a:lumMod val="65000"/>
                    <a:lumOff val="35000"/>
                  </a:schemeClr>
                </a:solidFill>
                <a:latin typeface="+mn-ea"/>
                <a:ea typeface="+mn-ea"/>
              </a:endParaRPr>
            </a:p>
          </p:txBody>
        </p:sp>
      </p:grpSp>
      <p:grpSp>
        <p:nvGrpSpPr>
          <p:cNvPr id="64" name="组合 63"/>
          <p:cNvGrpSpPr/>
          <p:nvPr/>
        </p:nvGrpSpPr>
        <p:grpSpPr>
          <a:xfrm>
            <a:off x="8457883" y="5197775"/>
            <a:ext cx="771437" cy="771436"/>
            <a:chOff x="6938352" y="4700564"/>
            <a:chExt cx="771437" cy="771436"/>
          </a:xfrm>
        </p:grpSpPr>
        <p:sp>
          <p:nvSpPr>
            <p:cNvPr id="65" name="Oval 8"/>
            <p:cNvSpPr>
              <a:spLocks noChangeAspect="1"/>
            </p:cNvSpPr>
            <p:nvPr>
              <p:custDataLst>
                <p:tags r:id="rId6"/>
              </p:custDataLst>
            </p:nvPr>
          </p:nvSpPr>
          <p:spPr>
            <a:xfrm>
              <a:off x="6938352" y="4700564"/>
              <a:ext cx="771437" cy="771436"/>
            </a:xfrm>
            <a:prstGeom prst="ellipse">
              <a:avLst/>
            </a:prstGeom>
            <a:solidFill>
              <a:srgbClr val="00885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66" name="Freeform 79"/>
            <p:cNvSpPr>
              <a:spLocks noEditPoints="1"/>
            </p:cNvSpPr>
            <p:nvPr>
              <p:custDataLst>
                <p:tags r:id="rId7"/>
              </p:custDataLst>
            </p:nvPr>
          </p:nvSpPr>
          <p:spPr bwMode="auto">
            <a:xfrm>
              <a:off x="7168529" y="4930864"/>
              <a:ext cx="311082" cy="310836"/>
            </a:xfrm>
            <a:custGeom>
              <a:avLst/>
              <a:gdLst/>
              <a:ahLst/>
              <a:cxnLst>
                <a:cxn ang="0">
                  <a:pos x="236" y="200"/>
                </a:cxn>
                <a:cxn ang="0">
                  <a:pos x="176" y="200"/>
                </a:cxn>
                <a:cxn ang="0">
                  <a:pos x="160" y="200"/>
                </a:cxn>
                <a:cxn ang="0">
                  <a:pos x="160" y="220"/>
                </a:cxn>
                <a:cxn ang="0">
                  <a:pos x="176" y="236"/>
                </a:cxn>
                <a:cxn ang="0">
                  <a:pos x="176" y="240"/>
                </a:cxn>
                <a:cxn ang="0">
                  <a:pos x="72" y="240"/>
                </a:cxn>
                <a:cxn ang="0">
                  <a:pos x="72" y="236"/>
                </a:cxn>
                <a:cxn ang="0">
                  <a:pos x="88" y="220"/>
                </a:cxn>
                <a:cxn ang="0">
                  <a:pos x="88" y="200"/>
                </a:cxn>
                <a:cxn ang="0">
                  <a:pos x="72" y="200"/>
                </a:cxn>
                <a:cxn ang="0">
                  <a:pos x="12" y="200"/>
                </a:cxn>
                <a:cxn ang="0">
                  <a:pos x="0" y="188"/>
                </a:cxn>
                <a:cxn ang="0">
                  <a:pos x="0" y="28"/>
                </a:cxn>
                <a:cxn ang="0">
                  <a:pos x="12" y="16"/>
                </a:cxn>
                <a:cxn ang="0">
                  <a:pos x="86" y="16"/>
                </a:cxn>
                <a:cxn ang="0">
                  <a:pos x="70" y="32"/>
                </a:cxn>
                <a:cxn ang="0">
                  <a:pos x="16" y="32"/>
                </a:cxn>
                <a:cxn ang="0">
                  <a:pos x="16" y="168"/>
                </a:cxn>
                <a:cxn ang="0">
                  <a:pos x="232" y="168"/>
                </a:cxn>
                <a:cxn ang="0">
                  <a:pos x="232" y="32"/>
                </a:cxn>
                <a:cxn ang="0">
                  <a:pos x="178" y="32"/>
                </a:cxn>
                <a:cxn ang="0">
                  <a:pos x="162" y="16"/>
                </a:cxn>
                <a:cxn ang="0">
                  <a:pos x="236" y="16"/>
                </a:cxn>
                <a:cxn ang="0">
                  <a:pos x="248" y="28"/>
                </a:cxn>
                <a:cxn ang="0">
                  <a:pos x="248" y="188"/>
                </a:cxn>
                <a:cxn ang="0">
                  <a:pos x="236" y="200"/>
                </a:cxn>
                <a:cxn ang="0">
                  <a:pos x="152" y="52"/>
                </a:cxn>
                <a:cxn ang="0">
                  <a:pos x="144" y="48"/>
                </a:cxn>
                <a:cxn ang="0">
                  <a:pos x="136" y="41"/>
                </a:cxn>
                <a:cxn ang="0">
                  <a:pos x="136" y="96"/>
                </a:cxn>
                <a:cxn ang="0">
                  <a:pos x="124" y="108"/>
                </a:cxn>
                <a:cxn ang="0">
                  <a:pos x="112" y="96"/>
                </a:cxn>
                <a:cxn ang="0">
                  <a:pos x="112" y="41"/>
                </a:cxn>
                <a:cxn ang="0">
                  <a:pos x="104" y="48"/>
                </a:cxn>
                <a:cxn ang="0">
                  <a:pos x="96" y="52"/>
                </a:cxn>
                <a:cxn ang="0">
                  <a:pos x="84" y="40"/>
                </a:cxn>
                <a:cxn ang="0">
                  <a:pos x="88" y="32"/>
                </a:cxn>
                <a:cxn ang="0">
                  <a:pos x="116" y="4"/>
                </a:cxn>
                <a:cxn ang="0">
                  <a:pos x="124" y="0"/>
                </a:cxn>
                <a:cxn ang="0">
                  <a:pos x="132" y="4"/>
                </a:cxn>
                <a:cxn ang="0">
                  <a:pos x="160" y="32"/>
                </a:cxn>
                <a:cxn ang="0">
                  <a:pos x="164" y="40"/>
                </a:cxn>
                <a:cxn ang="0">
                  <a:pos x="152" y="52"/>
                </a:cxn>
              </a:cxnLst>
              <a:rect l="0" t="0" r="r" b="b"/>
              <a:pathLst>
                <a:path w="248" h="240">
                  <a:moveTo>
                    <a:pt x="236" y="200"/>
                  </a:moveTo>
                  <a:cubicBezTo>
                    <a:pt x="176" y="200"/>
                    <a:pt x="176" y="200"/>
                    <a:pt x="176" y="200"/>
                  </a:cubicBezTo>
                  <a:cubicBezTo>
                    <a:pt x="160" y="200"/>
                    <a:pt x="160" y="200"/>
                    <a:pt x="160" y="200"/>
                  </a:cubicBezTo>
                  <a:cubicBezTo>
                    <a:pt x="160" y="220"/>
                    <a:pt x="160" y="220"/>
                    <a:pt x="160" y="220"/>
                  </a:cubicBezTo>
                  <a:cubicBezTo>
                    <a:pt x="176" y="236"/>
                    <a:pt x="176" y="236"/>
                    <a:pt x="176" y="236"/>
                  </a:cubicBezTo>
                  <a:cubicBezTo>
                    <a:pt x="176" y="240"/>
                    <a:pt x="176" y="240"/>
                    <a:pt x="176" y="240"/>
                  </a:cubicBezTo>
                  <a:cubicBezTo>
                    <a:pt x="72" y="240"/>
                    <a:pt x="72" y="240"/>
                    <a:pt x="72" y="240"/>
                  </a:cubicBezTo>
                  <a:cubicBezTo>
                    <a:pt x="72" y="236"/>
                    <a:pt x="72" y="236"/>
                    <a:pt x="72" y="236"/>
                  </a:cubicBezTo>
                  <a:cubicBezTo>
                    <a:pt x="88" y="220"/>
                    <a:pt x="88" y="220"/>
                    <a:pt x="88" y="220"/>
                  </a:cubicBezTo>
                  <a:cubicBezTo>
                    <a:pt x="88" y="200"/>
                    <a:pt x="88" y="200"/>
                    <a:pt x="88" y="200"/>
                  </a:cubicBezTo>
                  <a:cubicBezTo>
                    <a:pt x="72" y="200"/>
                    <a:pt x="72" y="200"/>
                    <a:pt x="72" y="200"/>
                  </a:cubicBezTo>
                  <a:cubicBezTo>
                    <a:pt x="12" y="200"/>
                    <a:pt x="12" y="200"/>
                    <a:pt x="12" y="200"/>
                  </a:cubicBezTo>
                  <a:cubicBezTo>
                    <a:pt x="5" y="200"/>
                    <a:pt x="0" y="195"/>
                    <a:pt x="0" y="188"/>
                  </a:cubicBezTo>
                  <a:cubicBezTo>
                    <a:pt x="0" y="28"/>
                    <a:pt x="0" y="28"/>
                    <a:pt x="0" y="28"/>
                  </a:cubicBezTo>
                  <a:cubicBezTo>
                    <a:pt x="0" y="21"/>
                    <a:pt x="5" y="16"/>
                    <a:pt x="12" y="16"/>
                  </a:cubicBezTo>
                  <a:cubicBezTo>
                    <a:pt x="86" y="16"/>
                    <a:pt x="86" y="16"/>
                    <a:pt x="86" y="16"/>
                  </a:cubicBezTo>
                  <a:cubicBezTo>
                    <a:pt x="70" y="32"/>
                    <a:pt x="70" y="32"/>
                    <a:pt x="70" y="32"/>
                  </a:cubicBezTo>
                  <a:cubicBezTo>
                    <a:pt x="16" y="32"/>
                    <a:pt x="16" y="32"/>
                    <a:pt x="16" y="32"/>
                  </a:cubicBezTo>
                  <a:cubicBezTo>
                    <a:pt x="16" y="168"/>
                    <a:pt x="16" y="168"/>
                    <a:pt x="16" y="168"/>
                  </a:cubicBezTo>
                  <a:cubicBezTo>
                    <a:pt x="232" y="168"/>
                    <a:pt x="232" y="168"/>
                    <a:pt x="232" y="168"/>
                  </a:cubicBezTo>
                  <a:cubicBezTo>
                    <a:pt x="232" y="32"/>
                    <a:pt x="232" y="32"/>
                    <a:pt x="232" y="32"/>
                  </a:cubicBezTo>
                  <a:cubicBezTo>
                    <a:pt x="178" y="32"/>
                    <a:pt x="178" y="32"/>
                    <a:pt x="178" y="32"/>
                  </a:cubicBezTo>
                  <a:cubicBezTo>
                    <a:pt x="162" y="16"/>
                    <a:pt x="162" y="16"/>
                    <a:pt x="162" y="16"/>
                  </a:cubicBezTo>
                  <a:cubicBezTo>
                    <a:pt x="236" y="16"/>
                    <a:pt x="236" y="16"/>
                    <a:pt x="236" y="16"/>
                  </a:cubicBezTo>
                  <a:cubicBezTo>
                    <a:pt x="243" y="16"/>
                    <a:pt x="248" y="21"/>
                    <a:pt x="248" y="28"/>
                  </a:cubicBezTo>
                  <a:cubicBezTo>
                    <a:pt x="248" y="188"/>
                    <a:pt x="248" y="188"/>
                    <a:pt x="248" y="188"/>
                  </a:cubicBezTo>
                  <a:cubicBezTo>
                    <a:pt x="248" y="195"/>
                    <a:pt x="243" y="200"/>
                    <a:pt x="236" y="200"/>
                  </a:cubicBezTo>
                  <a:moveTo>
                    <a:pt x="152" y="52"/>
                  </a:moveTo>
                  <a:cubicBezTo>
                    <a:pt x="149" y="52"/>
                    <a:pt x="146" y="51"/>
                    <a:pt x="144" y="48"/>
                  </a:cubicBezTo>
                  <a:cubicBezTo>
                    <a:pt x="136" y="41"/>
                    <a:pt x="136" y="41"/>
                    <a:pt x="136" y="41"/>
                  </a:cubicBezTo>
                  <a:cubicBezTo>
                    <a:pt x="136" y="96"/>
                    <a:pt x="136" y="96"/>
                    <a:pt x="136" y="96"/>
                  </a:cubicBezTo>
                  <a:cubicBezTo>
                    <a:pt x="136" y="103"/>
                    <a:pt x="131" y="108"/>
                    <a:pt x="124" y="108"/>
                  </a:cubicBezTo>
                  <a:cubicBezTo>
                    <a:pt x="117" y="108"/>
                    <a:pt x="112" y="103"/>
                    <a:pt x="112" y="96"/>
                  </a:cubicBezTo>
                  <a:cubicBezTo>
                    <a:pt x="112" y="41"/>
                    <a:pt x="112" y="41"/>
                    <a:pt x="112" y="41"/>
                  </a:cubicBezTo>
                  <a:cubicBezTo>
                    <a:pt x="104" y="48"/>
                    <a:pt x="104" y="48"/>
                    <a:pt x="104" y="48"/>
                  </a:cubicBezTo>
                  <a:cubicBezTo>
                    <a:pt x="102" y="51"/>
                    <a:pt x="99" y="52"/>
                    <a:pt x="96" y="52"/>
                  </a:cubicBezTo>
                  <a:cubicBezTo>
                    <a:pt x="89" y="52"/>
                    <a:pt x="84" y="47"/>
                    <a:pt x="84" y="40"/>
                  </a:cubicBezTo>
                  <a:cubicBezTo>
                    <a:pt x="84" y="37"/>
                    <a:pt x="85" y="34"/>
                    <a:pt x="88" y="32"/>
                  </a:cubicBezTo>
                  <a:cubicBezTo>
                    <a:pt x="116" y="4"/>
                    <a:pt x="116" y="4"/>
                    <a:pt x="116" y="4"/>
                  </a:cubicBezTo>
                  <a:cubicBezTo>
                    <a:pt x="118" y="1"/>
                    <a:pt x="121" y="0"/>
                    <a:pt x="124" y="0"/>
                  </a:cubicBezTo>
                  <a:cubicBezTo>
                    <a:pt x="127" y="0"/>
                    <a:pt x="130" y="1"/>
                    <a:pt x="132" y="4"/>
                  </a:cubicBezTo>
                  <a:cubicBezTo>
                    <a:pt x="160" y="32"/>
                    <a:pt x="160" y="32"/>
                    <a:pt x="160" y="32"/>
                  </a:cubicBezTo>
                  <a:cubicBezTo>
                    <a:pt x="163" y="34"/>
                    <a:pt x="164" y="37"/>
                    <a:pt x="164" y="40"/>
                  </a:cubicBezTo>
                  <a:cubicBezTo>
                    <a:pt x="164" y="47"/>
                    <a:pt x="159" y="52"/>
                    <a:pt x="152" y="52"/>
                  </a:cubicBezTo>
                </a:path>
              </a:pathLst>
            </a:custGeom>
            <a:solidFill>
              <a:schemeClr val="bg1"/>
            </a:solidFill>
            <a:ln w="9525">
              <a:noFill/>
              <a:round/>
            </a:ln>
          </p:spPr>
          <p:txBody>
            <a:bodyPr vert="horz" wrap="square" lIns="91440" tIns="45720" rIns="91440" bIns="45720" numCol="1" anchor="t" anchorCtr="0" compatLnSpc="1"/>
            <a:lstStyle/>
            <a:p>
              <a:endParaRPr lang="en-US">
                <a:solidFill>
                  <a:schemeClr val="tx1">
                    <a:lumMod val="65000"/>
                    <a:lumOff val="35000"/>
                  </a:schemeClr>
                </a:solidFill>
                <a:latin typeface="+mn-ea"/>
                <a:ea typeface="+mn-ea"/>
              </a:endParaRPr>
            </a:p>
          </p:txBody>
        </p:sp>
      </p:grpSp>
      <p:grpSp>
        <p:nvGrpSpPr>
          <p:cNvPr id="77" name="组合 76"/>
          <p:cNvGrpSpPr/>
          <p:nvPr/>
        </p:nvGrpSpPr>
        <p:grpSpPr>
          <a:xfrm>
            <a:off x="1714970" y="1317462"/>
            <a:ext cx="6398895" cy="1043940"/>
            <a:chOff x="586" y="2062"/>
            <a:chExt cx="10077" cy="1644"/>
          </a:xfrm>
        </p:grpSpPr>
        <p:sp>
          <p:nvSpPr>
            <p:cNvPr id="73" name="矩形 72"/>
            <p:cNvSpPr/>
            <p:nvPr/>
          </p:nvSpPr>
          <p:spPr>
            <a:xfrm>
              <a:off x="666" y="2062"/>
              <a:ext cx="3402" cy="769"/>
            </a:xfrm>
            <a:prstGeom prst="rect">
              <a:avLst/>
            </a:prstGeom>
            <a:solidFill>
              <a:srgbClr val="0063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p:cNvSpPr/>
            <p:nvPr>
              <p:custDataLst>
                <p:tags r:id="rId5"/>
              </p:custDataLst>
            </p:nvPr>
          </p:nvSpPr>
          <p:spPr>
            <a:xfrm>
              <a:off x="586" y="3106"/>
              <a:ext cx="10077" cy="600"/>
            </a:xfrm>
            <a:prstGeom prst="rect">
              <a:avLst/>
            </a:prstGeom>
          </p:spPr>
          <p:txBody>
            <a:bodyPr wrap="square">
              <a:spAutoFit/>
            </a:bodyPr>
            <a:lstStyle/>
            <a:p>
              <a:pPr algn="just" fontAlgn="auto">
                <a:lnSpc>
                  <a:spcPct val="130000"/>
                </a:lnSpc>
              </a:pPr>
              <a:endParaRPr 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lt"/>
              </a:endParaRPr>
            </a:p>
          </p:txBody>
        </p:sp>
      </p:grpSp>
      <p:sp>
        <p:nvSpPr>
          <p:cNvPr id="4" name="文本框 3"/>
          <p:cNvSpPr txBox="1"/>
          <p:nvPr/>
        </p:nvSpPr>
        <p:spPr>
          <a:xfrm>
            <a:off x="1712056" y="3298852"/>
            <a:ext cx="6733103" cy="369332"/>
          </a:xfrm>
          <a:prstGeom prst="rect">
            <a:avLst/>
          </a:prstGeom>
          <a:noFill/>
        </p:spPr>
        <p:txBody>
          <a:bodyPr wrap="square" rtlCol="0">
            <a:spAutoFit/>
          </a:bodyPr>
          <a:lstStyle/>
          <a:p>
            <a:r>
              <a:rPr lang="zh-CN" altLang="zh-CN" dirty="0"/>
              <a:t>其中，核函数 </a:t>
            </a:r>
            <a:r>
              <a:rPr lang="en-US" altLang="zh-CN" i="1" dirty="0"/>
              <a:t>Ka</a:t>
            </a:r>
            <a:r>
              <a:rPr lang="en-US" altLang="zh-CN" dirty="0"/>
              <a:t>​(</a:t>
            </a:r>
            <a:r>
              <a:rPr lang="en-US" altLang="zh-CN" i="1" dirty="0" err="1"/>
              <a:t>u</a:t>
            </a:r>
            <a:r>
              <a:rPr lang="en-US" altLang="zh-CN" dirty="0" err="1"/>
              <a:t>,</a:t>
            </a:r>
            <a:r>
              <a:rPr lang="en-US" altLang="zh-CN" i="1" dirty="0" err="1"/>
              <a:t>u</a:t>
            </a:r>
            <a:r>
              <a:rPr lang="en-US" altLang="zh-CN" dirty="0"/>
              <a:t>′)</a:t>
            </a:r>
            <a:r>
              <a:rPr lang="zh-CN" altLang="zh-CN" dirty="0"/>
              <a:t>为：</a:t>
            </a:r>
          </a:p>
        </p:txBody>
      </p:sp>
      <mc:AlternateContent xmlns:mc="http://schemas.openxmlformats.org/markup-compatibility/2006" xmlns:a14="http://schemas.microsoft.com/office/drawing/2010/main">
        <mc:Choice Requires="a14">
          <p:sp>
            <p:nvSpPr>
              <p:cNvPr id="5" name="文本框 4"/>
              <p:cNvSpPr txBox="1"/>
              <p:nvPr/>
            </p:nvSpPr>
            <p:spPr>
              <a:xfrm>
                <a:off x="1712056" y="1918942"/>
                <a:ext cx="6622502" cy="646331"/>
              </a:xfrm>
              <a:prstGeom prst="rect">
                <a:avLst/>
              </a:prstGeom>
              <a:noFill/>
            </p:spPr>
            <p:txBody>
              <a:bodyPr wrap="square" rtlCol="0">
                <a:spAutoFit/>
              </a:bodyPr>
              <a:lstStyle/>
              <a:p>
                <a:r>
                  <a:rPr lang="zh-CN" altLang="zh-CN" dirty="0"/>
                  <a:t>分数阶傅里叶变换是普通傅里叶变换的推广，引入了参数 </a:t>
                </a:r>
                <a14:m>
                  <m:oMath xmlns:m="http://schemas.openxmlformats.org/officeDocument/2006/math">
                    <m:r>
                      <a:rPr lang="en-US" altLang="zh-CN" i="1">
                        <a:latin typeface="Cambria Math" panose="02040503050406030204" pitchFamily="18" charset="0"/>
                      </a:rPr>
                      <m:t>𝛼</m:t>
                    </m:r>
                  </m:oMath>
                </a14:m>
                <a:r>
                  <a:rPr lang="zh-CN" altLang="zh-CN" dirty="0"/>
                  <a:t>。对于函数</a:t>
                </a:r>
                <a14:m>
                  <m:oMath xmlns:m="http://schemas.openxmlformats.org/officeDocument/2006/math">
                    <m:r>
                      <a:rPr lang="en-US" altLang="zh-CN" i="1">
                        <a:latin typeface="Cambria Math" panose="02040503050406030204" pitchFamily="18" charset="0"/>
                      </a:rPr>
                      <m:t>𝑓</m:t>
                    </m:r>
                    <m:d>
                      <m:dPr>
                        <m:ctrlPr>
                          <a:rPr lang="zh-CN" altLang="zh-CN" i="1">
                            <a:latin typeface="Cambria Math" panose="02040503050406030204" pitchFamily="18" charset="0"/>
                          </a:rPr>
                        </m:ctrlPr>
                      </m:dPr>
                      <m:e>
                        <m:r>
                          <a:rPr lang="en-US" altLang="zh-CN" i="1">
                            <a:latin typeface="Cambria Math" panose="02040503050406030204" pitchFamily="18" charset="0"/>
                          </a:rPr>
                          <m:t>𝑢</m:t>
                        </m:r>
                      </m:e>
                    </m:d>
                  </m:oMath>
                </a14:m>
                <a:r>
                  <a:rPr lang="zh-CN" altLang="zh-CN" dirty="0"/>
                  <a:t>，其 </a:t>
                </a:r>
                <a14:m>
                  <m:oMath xmlns:m="http://schemas.openxmlformats.org/officeDocument/2006/math">
                    <m:r>
                      <a:rPr lang="en-US" altLang="zh-CN" i="1">
                        <a:latin typeface="Cambria Math" panose="02040503050406030204" pitchFamily="18" charset="0"/>
                      </a:rPr>
                      <m:t>𝛼</m:t>
                    </m:r>
                  </m:oMath>
                </a14:m>
                <a:r>
                  <a:rPr lang="zh-CN" altLang="zh-CN" dirty="0"/>
                  <a:t>阶分数阶傅里叶变换定义为：</a:t>
                </a:r>
              </a:p>
            </p:txBody>
          </p:sp>
        </mc:Choice>
        <mc:Fallback xmlns="">
          <p:sp>
            <p:nvSpPr>
              <p:cNvPr id="5" name="文本框 4"/>
              <p:cNvSpPr txBox="1">
                <a:spLocks noRot="1" noChangeAspect="1" noMove="1" noResize="1" noEditPoints="1" noAdjustHandles="1" noChangeArrowheads="1" noChangeShapeType="1" noTextEdit="1"/>
              </p:cNvSpPr>
              <p:nvPr/>
            </p:nvSpPr>
            <p:spPr>
              <a:xfrm>
                <a:off x="1712056" y="1918942"/>
                <a:ext cx="6622502" cy="646331"/>
              </a:xfrm>
              <a:prstGeom prst="rect">
                <a:avLst/>
              </a:prstGeom>
              <a:blipFill rotWithShape="1">
                <a:blip r:embed="rId14"/>
                <a:stretch>
                  <a:fillRect l="-1" t="-94" r="3" b="79"/>
                </a:stretch>
              </a:blipFill>
            </p:spPr>
            <p:txBody>
              <a:bodyPr/>
              <a:lstStyle/>
              <a:p>
                <a:r>
                  <a:rPr lang="zh-CN" altLang="en-US">
                    <a:noFill/>
                  </a:rPr>
                  <a:t> </a:t>
                </a:r>
              </a:p>
            </p:txBody>
          </p:sp>
        </mc:Fallback>
      </mc:AlternateContent>
      <p:sp>
        <p:nvSpPr>
          <p:cNvPr id="31" name="文本框 30"/>
          <p:cNvSpPr txBox="1"/>
          <p:nvPr/>
        </p:nvSpPr>
        <p:spPr>
          <a:xfrm>
            <a:off x="1827365" y="1375247"/>
            <a:ext cx="2068830" cy="369570"/>
          </a:xfrm>
          <a:prstGeom prst="rect">
            <a:avLst/>
          </a:prstGeom>
          <a:noFill/>
        </p:spPr>
        <p:txBody>
          <a:bodyPr wrap="square" rtlCol="0">
            <a:spAutoFit/>
          </a:bodyPr>
          <a:lstStyle/>
          <a:p>
            <a:pPr algn="ctr"/>
            <a:r>
              <a:rPr lang="zh-CN" altLang="en-US" b="1" dirty="0">
                <a:solidFill>
                  <a:schemeClr val="bg1"/>
                </a:solidFill>
              </a:rPr>
              <a:t>分数阶傅里叶变换</a:t>
            </a:r>
          </a:p>
        </p:txBody>
      </p:sp>
      <p:pic>
        <p:nvPicPr>
          <p:cNvPr id="6" name="图片 5"/>
          <p:cNvPicPr>
            <a:picLocks noChangeAspect="1"/>
          </p:cNvPicPr>
          <p:nvPr/>
        </p:nvPicPr>
        <p:blipFill>
          <a:blip r:embed="rId15"/>
          <a:stretch>
            <a:fillRect/>
          </a:stretch>
        </p:blipFill>
        <p:spPr>
          <a:xfrm>
            <a:off x="3521091" y="2499712"/>
            <a:ext cx="2539227" cy="713875"/>
          </a:xfrm>
          <a:prstGeom prst="rect">
            <a:avLst/>
          </a:prstGeom>
        </p:spPr>
      </p:pic>
      <p:pic>
        <p:nvPicPr>
          <p:cNvPr id="8" name="图片 7"/>
          <p:cNvPicPr>
            <a:picLocks noChangeAspect="1"/>
          </p:cNvPicPr>
          <p:nvPr/>
        </p:nvPicPr>
        <p:blipFill>
          <a:blip r:embed="rId16"/>
          <a:stretch>
            <a:fillRect/>
          </a:stretch>
        </p:blipFill>
        <p:spPr>
          <a:xfrm>
            <a:off x="3569478" y="3804769"/>
            <a:ext cx="4010585" cy="581106"/>
          </a:xfrm>
          <a:prstGeom prst="rect">
            <a:avLst/>
          </a:prstGeom>
        </p:spPr>
      </p:pic>
      <mc:AlternateContent xmlns:mc="http://schemas.openxmlformats.org/markup-compatibility/2006" xmlns:a14="http://schemas.microsoft.com/office/drawing/2010/main">
        <mc:Choice Requires="a14">
          <p:sp>
            <p:nvSpPr>
              <p:cNvPr id="37" name="文本框 36"/>
              <p:cNvSpPr txBox="1"/>
              <p:nvPr/>
            </p:nvSpPr>
            <p:spPr>
              <a:xfrm>
                <a:off x="1929908" y="4588082"/>
                <a:ext cx="6109854" cy="646331"/>
              </a:xfrm>
              <a:prstGeom prst="rect">
                <a:avLst/>
              </a:prstGeom>
              <a:noFill/>
            </p:spPr>
            <p:txBody>
              <a:bodyPr wrap="square">
                <a:spAutoFit/>
              </a:bodyPr>
              <a:lstStyle/>
              <a:p>
                <a:pPr indent="279400" algn="l"/>
                <a:r>
                  <a:rPr lang="zh-CN" altLang="zh-CN" dirty="0"/>
                  <a:t>参数 </a:t>
                </a:r>
                <a14:m>
                  <m:oMath xmlns:m="http://schemas.openxmlformats.org/officeDocument/2006/math">
                    <m:r>
                      <a:rPr lang="en-US" altLang="zh-CN">
                        <a:latin typeface="Cambria Math" panose="02040503050406030204" pitchFamily="18" charset="0"/>
                      </a:rPr>
                      <m:t>𝛼</m:t>
                    </m:r>
                  </m:oMath>
                </a14:m>
                <a:r>
                  <a:rPr lang="zh-CN" altLang="zh-CN" dirty="0"/>
                  <a:t>控制变换的阶数，当 </a:t>
                </a:r>
                <a14:m>
                  <m:oMath xmlns:m="http://schemas.openxmlformats.org/officeDocument/2006/math">
                    <m:r>
                      <a:rPr lang="en-US" altLang="zh-CN">
                        <a:latin typeface="Cambria Math" panose="02040503050406030204" pitchFamily="18" charset="0"/>
                      </a:rPr>
                      <m:t>𝛼</m:t>
                    </m:r>
                    <m:r>
                      <a:rPr lang="en-US" altLang="zh-CN">
                        <a:latin typeface="Cambria Math" panose="02040503050406030204" pitchFamily="18" charset="0"/>
                      </a:rPr>
                      <m:t>=0</m:t>
                    </m:r>
                  </m:oMath>
                </a14:m>
                <a:r>
                  <a:rPr lang="zh-CN" altLang="zh-CN" dirty="0"/>
                  <a:t>时，</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𝐹</m:t>
                        </m:r>
                      </m:e>
                      <m:sub>
                        <m:r>
                          <a:rPr lang="en-US" altLang="zh-CN">
                            <a:latin typeface="Cambria Math" panose="02040503050406030204" pitchFamily="18" charset="0"/>
                          </a:rPr>
                          <m:t>𝑎</m:t>
                        </m:r>
                      </m:sub>
                    </m:sSub>
                    <m:r>
                      <a:rPr lang="en-US" altLang="zh-CN">
                        <a:latin typeface="Cambria Math" panose="02040503050406030204" pitchFamily="18" charset="0"/>
                      </a:rPr>
                      <m:t>(</m:t>
                    </m:r>
                    <m:r>
                      <a:rPr lang="en-US" altLang="zh-CN">
                        <a:latin typeface="Cambria Math" panose="02040503050406030204" pitchFamily="18" charset="0"/>
                      </a:rPr>
                      <m:t>𝑢</m:t>
                    </m:r>
                    <m:r>
                      <a:rPr lang="en-US" altLang="zh-CN">
                        <a:latin typeface="Cambria Math" panose="02040503050406030204" pitchFamily="18" charset="0"/>
                      </a:rPr>
                      <m:t>)</m:t>
                    </m:r>
                  </m:oMath>
                </a14:m>
                <a:r>
                  <a:rPr lang="zh-CN" altLang="zh-CN" dirty="0"/>
                  <a:t>退化为</a:t>
                </a:r>
                <a14:m>
                  <m:oMath xmlns:m="http://schemas.openxmlformats.org/officeDocument/2006/math">
                    <m:r>
                      <a:rPr lang="en-US" altLang="zh-CN">
                        <a:latin typeface="Cambria Math" panose="02040503050406030204" pitchFamily="18" charset="0"/>
                      </a:rPr>
                      <m:t>𝑓</m:t>
                    </m:r>
                    <m:d>
                      <m:dPr>
                        <m:ctrlPr>
                          <a:rPr lang="zh-CN" altLang="zh-CN" i="1">
                            <a:latin typeface="Cambria Math" panose="02040503050406030204" pitchFamily="18" charset="0"/>
                          </a:rPr>
                        </m:ctrlPr>
                      </m:dPr>
                      <m:e>
                        <m:r>
                          <a:rPr lang="en-US" altLang="zh-CN">
                            <a:latin typeface="Cambria Math" panose="02040503050406030204" pitchFamily="18" charset="0"/>
                          </a:rPr>
                          <m:t>𝑢</m:t>
                        </m:r>
                      </m:e>
                    </m:d>
                  </m:oMath>
                </a14:m>
                <a:r>
                  <a:rPr lang="zh-CN" altLang="zh-CN" dirty="0"/>
                  <a:t>；当</a:t>
                </a:r>
                <a14:m>
                  <m:oMath xmlns:m="http://schemas.openxmlformats.org/officeDocument/2006/math">
                    <m:r>
                      <a:rPr lang="en-US" altLang="zh-CN">
                        <a:latin typeface="Cambria Math" panose="02040503050406030204" pitchFamily="18" charset="0"/>
                      </a:rPr>
                      <m:t>𝛼</m:t>
                    </m:r>
                    <m:r>
                      <a:rPr lang="en-US" altLang="zh-CN">
                        <a:latin typeface="Cambria Math" panose="02040503050406030204" pitchFamily="18" charset="0"/>
                      </a:rPr>
                      <m:t>=1</m:t>
                    </m:r>
                  </m:oMath>
                </a14:m>
                <a:r>
                  <a:rPr lang="en-US" altLang="zh-CN" dirty="0"/>
                  <a:t> </a:t>
                </a:r>
                <a:r>
                  <a:rPr lang="zh-CN" altLang="zh-CN" dirty="0"/>
                  <a:t>时，</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𝐹</m:t>
                        </m:r>
                      </m:e>
                      <m:sub>
                        <m:r>
                          <a:rPr lang="en-US" altLang="zh-CN">
                            <a:latin typeface="Cambria Math" panose="02040503050406030204" pitchFamily="18" charset="0"/>
                          </a:rPr>
                          <m:t>𝑎</m:t>
                        </m:r>
                      </m:sub>
                    </m:sSub>
                    <m:r>
                      <a:rPr lang="en-US" altLang="zh-CN">
                        <a:latin typeface="Cambria Math" panose="02040503050406030204" pitchFamily="18" charset="0"/>
                      </a:rPr>
                      <m:t>(</m:t>
                    </m:r>
                    <m:r>
                      <a:rPr lang="en-US" altLang="zh-CN">
                        <a:latin typeface="Cambria Math" panose="02040503050406030204" pitchFamily="18" charset="0"/>
                      </a:rPr>
                      <m:t>𝑢</m:t>
                    </m:r>
                    <m:r>
                      <a:rPr lang="en-US" altLang="zh-CN">
                        <a:latin typeface="Cambria Math" panose="02040503050406030204" pitchFamily="18" charset="0"/>
                      </a:rPr>
                      <m:t>)</m:t>
                    </m:r>
                  </m:oMath>
                </a14:m>
                <a:r>
                  <a:rPr lang="en-US" altLang="zh-CN" dirty="0"/>
                  <a:t> </a:t>
                </a:r>
                <a:r>
                  <a:rPr lang="zh-CN" altLang="zh-CN" dirty="0"/>
                  <a:t>成为普通的傅里叶变换。</a:t>
                </a:r>
              </a:p>
            </p:txBody>
          </p:sp>
        </mc:Choice>
        <mc:Fallback xmlns="">
          <p:sp>
            <p:nvSpPr>
              <p:cNvPr id="37" name="文本框 36"/>
              <p:cNvSpPr txBox="1">
                <a:spLocks noRot="1" noChangeAspect="1" noMove="1" noResize="1" noEditPoints="1" noAdjustHandles="1" noChangeArrowheads="1" noChangeShapeType="1" noTextEdit="1"/>
              </p:cNvSpPr>
              <p:nvPr/>
            </p:nvSpPr>
            <p:spPr>
              <a:xfrm>
                <a:off x="1929908" y="4588082"/>
                <a:ext cx="6109854" cy="646331"/>
              </a:xfrm>
              <a:prstGeom prst="rect">
                <a:avLst/>
              </a:prstGeom>
              <a:blipFill rotWithShape="1">
                <a:blip r:embed="rId17"/>
                <a:stretch>
                  <a:fillRect l="-2" t="-32" b="17"/>
                </a:stretch>
              </a:blipFill>
            </p:spPr>
            <p:txBody>
              <a:bodyPr/>
              <a:lstStyle/>
              <a:p>
                <a:r>
                  <a:rPr lang="zh-CN" altLang="en-US">
                    <a:noFill/>
                  </a:rPr>
                  <a:t> </a:t>
                </a:r>
              </a:p>
            </p:txBody>
          </p:sp>
        </mc:Fallback>
      </mc:AlternateContent>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2"/>
            </p:custDataLst>
          </p:nvPr>
        </p:nvSpPr>
        <p:spPr>
          <a:xfrm>
            <a:off x="0" y="0"/>
            <a:ext cx="12201525" cy="68453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descr="校徽+南京师范大学(白)"/>
          <p:cNvPicPr>
            <a:picLocks noChangeAspect="1"/>
          </p:cNvPicPr>
          <p:nvPr>
            <p:custDataLst>
              <p:tags r:id="rId3"/>
            </p:custDataLst>
          </p:nvPr>
        </p:nvPicPr>
        <p:blipFill>
          <a:blip r:embed="rId16"/>
          <a:stretch>
            <a:fillRect/>
          </a:stretch>
        </p:blipFill>
        <p:spPr>
          <a:xfrm>
            <a:off x="9427845" y="-587375"/>
            <a:ext cx="2764155" cy="1955165"/>
          </a:xfrm>
          <a:prstGeom prst="rect">
            <a:avLst/>
          </a:prstGeom>
        </p:spPr>
      </p:pic>
      <p:sp>
        <p:nvSpPr>
          <p:cNvPr id="10" name="文本框 9"/>
          <p:cNvSpPr txBox="1"/>
          <p:nvPr/>
        </p:nvSpPr>
        <p:spPr>
          <a:xfrm>
            <a:off x="226060" y="109855"/>
            <a:ext cx="2644140" cy="461665"/>
          </a:xfrm>
          <a:prstGeom prst="rect">
            <a:avLst/>
          </a:prstGeom>
          <a:noFill/>
        </p:spPr>
        <p:txBody>
          <a:bodyPr wrap="square" rtlCol="0">
            <a:spAutoFit/>
          </a:bodyPr>
          <a:lstStyle/>
          <a:p>
            <a:r>
              <a:rPr lang="zh-CN" altLang="zh-CN" sz="2400" b="1" dirty="0">
                <a:solidFill>
                  <a:schemeClr val="bg1"/>
                </a:solidFill>
                <a:latin typeface="微软雅黑" panose="020B0503020204020204" charset="-122"/>
                <a:ea typeface="微软雅黑" panose="020B0503020204020204" charset="-122"/>
              </a:rPr>
              <a:t>相关理论补</a:t>
            </a:r>
            <a:r>
              <a:rPr lang="zh-CN" altLang="en-US" sz="2400" b="1" dirty="0">
                <a:solidFill>
                  <a:schemeClr val="bg1"/>
                </a:solidFill>
                <a:latin typeface="微软雅黑" panose="020B0503020204020204" charset="-122"/>
                <a:ea typeface="微软雅黑" panose="020B0503020204020204" charset="-122"/>
              </a:rPr>
              <a:t>充</a:t>
            </a:r>
            <a:endParaRPr lang="zh-CN" altLang="en-US" sz="2400" b="1" dirty="0">
              <a:solidFill>
                <a:schemeClr val="bg1"/>
              </a:solidFill>
            </a:endParaRPr>
          </a:p>
        </p:txBody>
      </p:sp>
      <p:sp>
        <p:nvSpPr>
          <p:cNvPr id="11" name="矩形 10"/>
          <p:cNvSpPr/>
          <p:nvPr>
            <p:custDataLst>
              <p:tags r:id="rId4"/>
            </p:custDataLst>
          </p:nvPr>
        </p:nvSpPr>
        <p:spPr>
          <a:xfrm>
            <a:off x="-9525" y="6738620"/>
            <a:ext cx="12201525" cy="1193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组合 55"/>
          <p:cNvGrpSpPr/>
          <p:nvPr/>
        </p:nvGrpSpPr>
        <p:grpSpPr>
          <a:xfrm>
            <a:off x="9052243" y="1850765"/>
            <a:ext cx="771437" cy="771436"/>
            <a:chOff x="6938352" y="2232000"/>
            <a:chExt cx="771437" cy="771436"/>
          </a:xfrm>
        </p:grpSpPr>
        <p:sp>
          <p:nvSpPr>
            <p:cNvPr id="57" name="Oval 6"/>
            <p:cNvSpPr>
              <a:spLocks noChangeAspect="1"/>
            </p:cNvSpPr>
            <p:nvPr>
              <p:custDataLst>
                <p:tags r:id="rId13"/>
              </p:custDataLst>
            </p:nvPr>
          </p:nvSpPr>
          <p:spPr>
            <a:xfrm>
              <a:off x="6938352" y="2232000"/>
              <a:ext cx="771437" cy="771436"/>
            </a:xfrm>
            <a:prstGeom prst="ellipse">
              <a:avLst/>
            </a:prstGeom>
            <a:solidFill>
              <a:srgbClr val="00633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60" name="Freeform 62"/>
            <p:cNvSpPr>
              <a:spLocks noChangeAspect="1" noEditPoints="1"/>
            </p:cNvSpPr>
            <p:nvPr>
              <p:custDataLst>
                <p:tags r:id="rId14"/>
              </p:custDataLst>
            </p:nvPr>
          </p:nvSpPr>
          <p:spPr bwMode="auto">
            <a:xfrm>
              <a:off x="7152617" y="2445031"/>
              <a:ext cx="342906" cy="345373"/>
            </a:xfrm>
            <a:custGeom>
              <a:avLst/>
              <a:gdLst/>
              <a:ahLst/>
              <a:cxnLst>
                <a:cxn ang="0">
                  <a:pos x="58" y="33"/>
                </a:cxn>
                <a:cxn ang="0">
                  <a:pos x="57" y="34"/>
                </a:cxn>
                <a:cxn ang="0">
                  <a:pos x="50" y="35"/>
                </a:cxn>
                <a:cxn ang="0">
                  <a:pos x="49" y="39"/>
                </a:cxn>
                <a:cxn ang="0">
                  <a:pos x="53" y="44"/>
                </a:cxn>
                <a:cxn ang="0">
                  <a:pos x="53" y="45"/>
                </a:cxn>
                <a:cxn ang="0">
                  <a:pos x="53" y="46"/>
                </a:cxn>
                <a:cxn ang="0">
                  <a:pos x="45" y="53"/>
                </a:cxn>
                <a:cxn ang="0">
                  <a:pos x="44" y="52"/>
                </a:cxn>
                <a:cxn ang="0">
                  <a:pos x="39" y="48"/>
                </a:cxn>
                <a:cxn ang="0">
                  <a:pos x="36" y="50"/>
                </a:cxn>
                <a:cxn ang="0">
                  <a:pos x="34" y="57"/>
                </a:cxn>
                <a:cxn ang="0">
                  <a:pos x="33" y="58"/>
                </a:cxn>
                <a:cxn ang="0">
                  <a:pos x="25" y="58"/>
                </a:cxn>
                <a:cxn ang="0">
                  <a:pos x="23" y="57"/>
                </a:cxn>
                <a:cxn ang="0">
                  <a:pos x="22" y="50"/>
                </a:cxn>
                <a:cxn ang="0">
                  <a:pos x="19" y="48"/>
                </a:cxn>
                <a:cxn ang="0">
                  <a:pos x="14" y="52"/>
                </a:cxn>
                <a:cxn ang="0">
                  <a:pos x="13" y="53"/>
                </a:cxn>
                <a:cxn ang="0">
                  <a:pos x="12" y="52"/>
                </a:cxn>
                <a:cxn ang="0">
                  <a:pos x="5" y="46"/>
                </a:cxn>
                <a:cxn ang="0">
                  <a:pos x="5" y="45"/>
                </a:cxn>
                <a:cxn ang="0">
                  <a:pos x="5" y="44"/>
                </a:cxn>
                <a:cxn ang="0">
                  <a:pos x="9" y="39"/>
                </a:cxn>
                <a:cxn ang="0">
                  <a:pos x="8" y="35"/>
                </a:cxn>
                <a:cxn ang="0">
                  <a:pos x="1" y="34"/>
                </a:cxn>
                <a:cxn ang="0">
                  <a:pos x="0" y="33"/>
                </a:cxn>
                <a:cxn ang="0">
                  <a:pos x="0" y="24"/>
                </a:cxn>
                <a:cxn ang="0">
                  <a:pos x="1" y="23"/>
                </a:cxn>
                <a:cxn ang="0">
                  <a:pos x="8" y="22"/>
                </a:cxn>
                <a:cxn ang="0">
                  <a:pos x="9" y="18"/>
                </a:cxn>
                <a:cxn ang="0">
                  <a:pos x="5" y="13"/>
                </a:cxn>
                <a:cxn ang="0">
                  <a:pos x="5" y="12"/>
                </a:cxn>
                <a:cxn ang="0">
                  <a:pos x="5" y="11"/>
                </a:cxn>
                <a:cxn ang="0">
                  <a:pos x="13" y="5"/>
                </a:cxn>
                <a:cxn ang="0">
                  <a:pos x="14" y="5"/>
                </a:cxn>
                <a:cxn ang="0">
                  <a:pos x="19" y="9"/>
                </a:cxn>
                <a:cxn ang="0">
                  <a:pos x="22" y="8"/>
                </a:cxn>
                <a:cxn ang="0">
                  <a:pos x="23" y="1"/>
                </a:cxn>
                <a:cxn ang="0">
                  <a:pos x="25" y="0"/>
                </a:cxn>
                <a:cxn ang="0">
                  <a:pos x="33" y="0"/>
                </a:cxn>
                <a:cxn ang="0">
                  <a:pos x="34" y="1"/>
                </a:cxn>
                <a:cxn ang="0">
                  <a:pos x="36" y="8"/>
                </a:cxn>
                <a:cxn ang="0">
                  <a:pos x="39" y="9"/>
                </a:cxn>
                <a:cxn ang="0">
                  <a:pos x="44" y="5"/>
                </a:cxn>
                <a:cxn ang="0">
                  <a:pos x="45" y="5"/>
                </a:cxn>
                <a:cxn ang="0">
                  <a:pos x="46" y="5"/>
                </a:cxn>
                <a:cxn ang="0">
                  <a:pos x="52" y="12"/>
                </a:cxn>
                <a:cxn ang="0">
                  <a:pos x="53" y="12"/>
                </a:cxn>
                <a:cxn ang="0">
                  <a:pos x="52" y="13"/>
                </a:cxn>
                <a:cxn ang="0">
                  <a:pos x="48" y="18"/>
                </a:cxn>
                <a:cxn ang="0">
                  <a:pos x="50" y="22"/>
                </a:cxn>
                <a:cxn ang="0">
                  <a:pos x="57" y="23"/>
                </a:cxn>
                <a:cxn ang="0">
                  <a:pos x="58" y="25"/>
                </a:cxn>
                <a:cxn ang="0">
                  <a:pos x="58" y="33"/>
                </a:cxn>
                <a:cxn ang="0">
                  <a:pos x="29" y="19"/>
                </a:cxn>
                <a:cxn ang="0">
                  <a:pos x="19" y="29"/>
                </a:cxn>
                <a:cxn ang="0">
                  <a:pos x="29" y="38"/>
                </a:cxn>
                <a:cxn ang="0">
                  <a:pos x="39" y="29"/>
                </a:cxn>
                <a:cxn ang="0">
                  <a:pos x="29" y="19"/>
                </a:cxn>
              </a:cxnLst>
              <a:rect l="0" t="0" r="r" b="b"/>
              <a:pathLst>
                <a:path w="58" h="58">
                  <a:moveTo>
                    <a:pt x="58" y="33"/>
                  </a:moveTo>
                  <a:cubicBezTo>
                    <a:pt x="58" y="34"/>
                    <a:pt x="58" y="34"/>
                    <a:pt x="57" y="34"/>
                  </a:cubicBezTo>
                  <a:cubicBezTo>
                    <a:pt x="50" y="35"/>
                    <a:pt x="50" y="35"/>
                    <a:pt x="50" y="35"/>
                  </a:cubicBezTo>
                  <a:cubicBezTo>
                    <a:pt x="50" y="37"/>
                    <a:pt x="49" y="38"/>
                    <a:pt x="49" y="39"/>
                  </a:cubicBezTo>
                  <a:cubicBezTo>
                    <a:pt x="50" y="41"/>
                    <a:pt x="51" y="42"/>
                    <a:pt x="53" y="44"/>
                  </a:cubicBezTo>
                  <a:cubicBezTo>
                    <a:pt x="53" y="44"/>
                    <a:pt x="53" y="45"/>
                    <a:pt x="53" y="45"/>
                  </a:cubicBezTo>
                  <a:cubicBezTo>
                    <a:pt x="53" y="45"/>
                    <a:pt x="53" y="46"/>
                    <a:pt x="53" y="46"/>
                  </a:cubicBezTo>
                  <a:cubicBezTo>
                    <a:pt x="52" y="47"/>
                    <a:pt x="47" y="53"/>
                    <a:pt x="45" y="53"/>
                  </a:cubicBezTo>
                  <a:cubicBezTo>
                    <a:pt x="45" y="53"/>
                    <a:pt x="45" y="53"/>
                    <a:pt x="44" y="52"/>
                  </a:cubicBezTo>
                  <a:cubicBezTo>
                    <a:pt x="39" y="48"/>
                    <a:pt x="39" y="48"/>
                    <a:pt x="39" y="48"/>
                  </a:cubicBezTo>
                  <a:cubicBezTo>
                    <a:pt x="38" y="49"/>
                    <a:pt x="37" y="49"/>
                    <a:pt x="36" y="50"/>
                  </a:cubicBezTo>
                  <a:cubicBezTo>
                    <a:pt x="35" y="52"/>
                    <a:pt x="35" y="55"/>
                    <a:pt x="34" y="57"/>
                  </a:cubicBezTo>
                  <a:cubicBezTo>
                    <a:pt x="34" y="57"/>
                    <a:pt x="34" y="58"/>
                    <a:pt x="33" y="58"/>
                  </a:cubicBezTo>
                  <a:cubicBezTo>
                    <a:pt x="25" y="58"/>
                    <a:pt x="25" y="58"/>
                    <a:pt x="25" y="58"/>
                  </a:cubicBezTo>
                  <a:cubicBezTo>
                    <a:pt x="24" y="58"/>
                    <a:pt x="23" y="57"/>
                    <a:pt x="23" y="57"/>
                  </a:cubicBezTo>
                  <a:cubicBezTo>
                    <a:pt x="22" y="50"/>
                    <a:pt x="22" y="50"/>
                    <a:pt x="22" y="50"/>
                  </a:cubicBezTo>
                  <a:cubicBezTo>
                    <a:pt x="21" y="49"/>
                    <a:pt x="20" y="49"/>
                    <a:pt x="19" y="48"/>
                  </a:cubicBezTo>
                  <a:cubicBezTo>
                    <a:pt x="14" y="52"/>
                    <a:pt x="14" y="52"/>
                    <a:pt x="14" y="52"/>
                  </a:cubicBezTo>
                  <a:cubicBezTo>
                    <a:pt x="13" y="53"/>
                    <a:pt x="13" y="53"/>
                    <a:pt x="13" y="53"/>
                  </a:cubicBezTo>
                  <a:cubicBezTo>
                    <a:pt x="12" y="53"/>
                    <a:pt x="12" y="53"/>
                    <a:pt x="12" y="52"/>
                  </a:cubicBezTo>
                  <a:cubicBezTo>
                    <a:pt x="10" y="50"/>
                    <a:pt x="7" y="48"/>
                    <a:pt x="5" y="46"/>
                  </a:cubicBezTo>
                  <a:cubicBezTo>
                    <a:pt x="5" y="46"/>
                    <a:pt x="5" y="45"/>
                    <a:pt x="5" y="45"/>
                  </a:cubicBezTo>
                  <a:cubicBezTo>
                    <a:pt x="5" y="45"/>
                    <a:pt x="5" y="44"/>
                    <a:pt x="5" y="44"/>
                  </a:cubicBezTo>
                  <a:cubicBezTo>
                    <a:pt x="7" y="42"/>
                    <a:pt x="8" y="41"/>
                    <a:pt x="9" y="39"/>
                  </a:cubicBezTo>
                  <a:cubicBezTo>
                    <a:pt x="9" y="38"/>
                    <a:pt x="8" y="37"/>
                    <a:pt x="8" y="35"/>
                  </a:cubicBezTo>
                  <a:cubicBezTo>
                    <a:pt x="1" y="34"/>
                    <a:pt x="1" y="34"/>
                    <a:pt x="1" y="34"/>
                  </a:cubicBezTo>
                  <a:cubicBezTo>
                    <a:pt x="0" y="34"/>
                    <a:pt x="0" y="33"/>
                    <a:pt x="0" y="33"/>
                  </a:cubicBezTo>
                  <a:cubicBezTo>
                    <a:pt x="0" y="24"/>
                    <a:pt x="0" y="24"/>
                    <a:pt x="0" y="24"/>
                  </a:cubicBezTo>
                  <a:cubicBezTo>
                    <a:pt x="0" y="24"/>
                    <a:pt x="0" y="23"/>
                    <a:pt x="1" y="23"/>
                  </a:cubicBezTo>
                  <a:cubicBezTo>
                    <a:pt x="8" y="22"/>
                    <a:pt x="8" y="22"/>
                    <a:pt x="8" y="22"/>
                  </a:cubicBezTo>
                  <a:cubicBezTo>
                    <a:pt x="8" y="21"/>
                    <a:pt x="9" y="20"/>
                    <a:pt x="9" y="18"/>
                  </a:cubicBezTo>
                  <a:cubicBezTo>
                    <a:pt x="8" y="17"/>
                    <a:pt x="7" y="15"/>
                    <a:pt x="5" y="13"/>
                  </a:cubicBezTo>
                  <a:cubicBezTo>
                    <a:pt x="5" y="13"/>
                    <a:pt x="5" y="13"/>
                    <a:pt x="5" y="12"/>
                  </a:cubicBezTo>
                  <a:cubicBezTo>
                    <a:pt x="5" y="12"/>
                    <a:pt x="5" y="12"/>
                    <a:pt x="5" y="11"/>
                  </a:cubicBezTo>
                  <a:cubicBezTo>
                    <a:pt x="6" y="10"/>
                    <a:pt x="11" y="5"/>
                    <a:pt x="13" y="5"/>
                  </a:cubicBezTo>
                  <a:cubicBezTo>
                    <a:pt x="13" y="5"/>
                    <a:pt x="13" y="5"/>
                    <a:pt x="14" y="5"/>
                  </a:cubicBezTo>
                  <a:cubicBezTo>
                    <a:pt x="19" y="9"/>
                    <a:pt x="19" y="9"/>
                    <a:pt x="19" y="9"/>
                  </a:cubicBezTo>
                  <a:cubicBezTo>
                    <a:pt x="20" y="9"/>
                    <a:pt x="21" y="8"/>
                    <a:pt x="22" y="8"/>
                  </a:cubicBezTo>
                  <a:cubicBezTo>
                    <a:pt x="22" y="5"/>
                    <a:pt x="23" y="3"/>
                    <a:pt x="23" y="1"/>
                  </a:cubicBezTo>
                  <a:cubicBezTo>
                    <a:pt x="23" y="0"/>
                    <a:pt x="24" y="0"/>
                    <a:pt x="25" y="0"/>
                  </a:cubicBezTo>
                  <a:cubicBezTo>
                    <a:pt x="33" y="0"/>
                    <a:pt x="33" y="0"/>
                    <a:pt x="33" y="0"/>
                  </a:cubicBezTo>
                  <a:cubicBezTo>
                    <a:pt x="34" y="0"/>
                    <a:pt x="34" y="0"/>
                    <a:pt x="34" y="1"/>
                  </a:cubicBezTo>
                  <a:cubicBezTo>
                    <a:pt x="36" y="8"/>
                    <a:pt x="36" y="8"/>
                    <a:pt x="36" y="8"/>
                  </a:cubicBezTo>
                  <a:cubicBezTo>
                    <a:pt x="37" y="8"/>
                    <a:pt x="38" y="9"/>
                    <a:pt x="39" y="9"/>
                  </a:cubicBezTo>
                  <a:cubicBezTo>
                    <a:pt x="44" y="5"/>
                    <a:pt x="44" y="5"/>
                    <a:pt x="44" y="5"/>
                  </a:cubicBezTo>
                  <a:cubicBezTo>
                    <a:pt x="45" y="5"/>
                    <a:pt x="45" y="5"/>
                    <a:pt x="45" y="5"/>
                  </a:cubicBezTo>
                  <a:cubicBezTo>
                    <a:pt x="46" y="5"/>
                    <a:pt x="46" y="5"/>
                    <a:pt x="46" y="5"/>
                  </a:cubicBezTo>
                  <a:cubicBezTo>
                    <a:pt x="48" y="7"/>
                    <a:pt x="51" y="9"/>
                    <a:pt x="52" y="12"/>
                  </a:cubicBezTo>
                  <a:cubicBezTo>
                    <a:pt x="53" y="12"/>
                    <a:pt x="53" y="12"/>
                    <a:pt x="53" y="12"/>
                  </a:cubicBezTo>
                  <a:cubicBezTo>
                    <a:pt x="53" y="13"/>
                    <a:pt x="53" y="13"/>
                    <a:pt x="52" y="13"/>
                  </a:cubicBezTo>
                  <a:cubicBezTo>
                    <a:pt x="51" y="15"/>
                    <a:pt x="50" y="17"/>
                    <a:pt x="48" y="18"/>
                  </a:cubicBezTo>
                  <a:cubicBezTo>
                    <a:pt x="49" y="20"/>
                    <a:pt x="50" y="21"/>
                    <a:pt x="50" y="22"/>
                  </a:cubicBezTo>
                  <a:cubicBezTo>
                    <a:pt x="57" y="23"/>
                    <a:pt x="57" y="23"/>
                    <a:pt x="57" y="23"/>
                  </a:cubicBezTo>
                  <a:cubicBezTo>
                    <a:pt x="58" y="23"/>
                    <a:pt x="58" y="24"/>
                    <a:pt x="58" y="25"/>
                  </a:cubicBezTo>
                  <a:lnTo>
                    <a:pt x="58" y="33"/>
                  </a:lnTo>
                  <a:close/>
                  <a:moveTo>
                    <a:pt x="29" y="19"/>
                  </a:moveTo>
                  <a:cubicBezTo>
                    <a:pt x="24" y="19"/>
                    <a:pt x="19" y="23"/>
                    <a:pt x="19" y="29"/>
                  </a:cubicBezTo>
                  <a:cubicBezTo>
                    <a:pt x="19" y="34"/>
                    <a:pt x="24" y="38"/>
                    <a:pt x="29" y="38"/>
                  </a:cubicBezTo>
                  <a:cubicBezTo>
                    <a:pt x="34" y="38"/>
                    <a:pt x="39" y="34"/>
                    <a:pt x="39" y="29"/>
                  </a:cubicBezTo>
                  <a:cubicBezTo>
                    <a:pt x="39" y="23"/>
                    <a:pt x="34" y="19"/>
                    <a:pt x="29" y="19"/>
                  </a:cubicBezTo>
                  <a:close/>
                </a:path>
              </a:pathLst>
            </a:custGeom>
            <a:solidFill>
              <a:schemeClr val="bg1"/>
            </a:solidFill>
            <a:ln w="9525">
              <a:noFill/>
              <a:round/>
            </a:ln>
          </p:spPr>
          <p:txBody>
            <a:bodyPr vert="horz" wrap="square" lIns="121682" tIns="60841" rIns="121682" bIns="60841" numCol="1" anchor="t" anchorCtr="0" compatLnSpc="1"/>
            <a:lstStyle/>
            <a:p>
              <a:endParaRPr lang="en-US" sz="3100">
                <a:solidFill>
                  <a:schemeClr val="tx1">
                    <a:lumMod val="65000"/>
                    <a:lumOff val="35000"/>
                  </a:schemeClr>
                </a:solidFill>
                <a:latin typeface="+mn-ea"/>
                <a:ea typeface="+mn-ea"/>
              </a:endParaRPr>
            </a:p>
          </p:txBody>
        </p:sp>
      </p:grpSp>
      <p:grpSp>
        <p:nvGrpSpPr>
          <p:cNvPr id="61" name="组合 60"/>
          <p:cNvGrpSpPr/>
          <p:nvPr/>
        </p:nvGrpSpPr>
        <p:grpSpPr>
          <a:xfrm>
            <a:off x="9052242" y="3542188"/>
            <a:ext cx="771437" cy="771436"/>
            <a:chOff x="6938352" y="3445667"/>
            <a:chExt cx="771437" cy="771436"/>
          </a:xfrm>
        </p:grpSpPr>
        <p:sp>
          <p:nvSpPr>
            <p:cNvPr id="62" name="Oval 7"/>
            <p:cNvSpPr>
              <a:spLocks noChangeAspect="1"/>
            </p:cNvSpPr>
            <p:nvPr>
              <p:custDataLst>
                <p:tags r:id="rId11"/>
              </p:custDataLst>
            </p:nvPr>
          </p:nvSpPr>
          <p:spPr>
            <a:xfrm>
              <a:off x="6938352" y="3445667"/>
              <a:ext cx="771437" cy="771436"/>
            </a:xfrm>
            <a:prstGeom prst="ellipse">
              <a:avLst/>
            </a:prstGeom>
            <a:solidFill>
              <a:srgbClr val="00A86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63" name="Freeform 245"/>
            <p:cNvSpPr>
              <a:spLocks noChangeAspect="1"/>
            </p:cNvSpPr>
            <p:nvPr>
              <p:custDataLst>
                <p:tags r:id="rId12"/>
              </p:custDataLst>
            </p:nvPr>
          </p:nvSpPr>
          <p:spPr bwMode="auto">
            <a:xfrm>
              <a:off x="7118606" y="3665660"/>
              <a:ext cx="345647" cy="345373"/>
            </a:xfrm>
            <a:custGeom>
              <a:avLst/>
              <a:gdLst/>
              <a:ahLst/>
              <a:cxnLst>
                <a:cxn ang="0">
                  <a:pos x="68" y="3"/>
                </a:cxn>
                <a:cxn ang="0">
                  <a:pos x="58" y="61"/>
                </a:cxn>
                <a:cxn ang="0">
                  <a:pos x="57" y="63"/>
                </a:cxn>
                <a:cxn ang="0">
                  <a:pos x="56" y="63"/>
                </a:cxn>
                <a:cxn ang="0">
                  <a:pos x="55" y="63"/>
                </a:cxn>
                <a:cxn ang="0">
                  <a:pos x="38" y="56"/>
                </a:cxn>
                <a:cxn ang="0">
                  <a:pos x="28" y="67"/>
                </a:cxn>
                <a:cxn ang="0">
                  <a:pos x="26" y="68"/>
                </a:cxn>
                <a:cxn ang="0">
                  <a:pos x="26" y="68"/>
                </a:cxn>
                <a:cxn ang="0">
                  <a:pos x="24" y="65"/>
                </a:cxn>
                <a:cxn ang="0">
                  <a:pos x="24" y="52"/>
                </a:cxn>
                <a:cxn ang="0">
                  <a:pos x="57" y="12"/>
                </a:cxn>
                <a:cxn ang="0">
                  <a:pos x="16" y="47"/>
                </a:cxn>
                <a:cxn ang="0">
                  <a:pos x="1" y="41"/>
                </a:cxn>
                <a:cxn ang="0">
                  <a:pos x="0" y="39"/>
                </a:cxn>
                <a:cxn ang="0">
                  <a:pos x="1" y="36"/>
                </a:cxn>
                <a:cxn ang="0">
                  <a:pos x="64" y="0"/>
                </a:cxn>
                <a:cxn ang="0">
                  <a:pos x="65" y="0"/>
                </a:cxn>
                <a:cxn ang="0">
                  <a:pos x="67" y="0"/>
                </a:cxn>
                <a:cxn ang="0">
                  <a:pos x="68" y="3"/>
                </a:cxn>
              </a:cxnLst>
              <a:rect l="0" t="0" r="r" b="b"/>
              <a:pathLst>
                <a:path w="68" h="68">
                  <a:moveTo>
                    <a:pt x="68" y="3"/>
                  </a:moveTo>
                  <a:cubicBezTo>
                    <a:pt x="58" y="61"/>
                    <a:pt x="58" y="61"/>
                    <a:pt x="58" y="61"/>
                  </a:cubicBezTo>
                  <a:cubicBezTo>
                    <a:pt x="58" y="62"/>
                    <a:pt x="57" y="62"/>
                    <a:pt x="57" y="63"/>
                  </a:cubicBezTo>
                  <a:cubicBezTo>
                    <a:pt x="56" y="63"/>
                    <a:pt x="56" y="63"/>
                    <a:pt x="56" y="63"/>
                  </a:cubicBezTo>
                  <a:cubicBezTo>
                    <a:pt x="55" y="63"/>
                    <a:pt x="55" y="63"/>
                    <a:pt x="55" y="63"/>
                  </a:cubicBezTo>
                  <a:cubicBezTo>
                    <a:pt x="38" y="56"/>
                    <a:pt x="38" y="56"/>
                    <a:pt x="38" y="56"/>
                  </a:cubicBezTo>
                  <a:cubicBezTo>
                    <a:pt x="28" y="67"/>
                    <a:pt x="28" y="67"/>
                    <a:pt x="28" y="67"/>
                  </a:cubicBezTo>
                  <a:cubicBezTo>
                    <a:pt x="28" y="67"/>
                    <a:pt x="27" y="68"/>
                    <a:pt x="26" y="68"/>
                  </a:cubicBezTo>
                  <a:cubicBezTo>
                    <a:pt x="26" y="68"/>
                    <a:pt x="26" y="68"/>
                    <a:pt x="26" y="68"/>
                  </a:cubicBezTo>
                  <a:cubicBezTo>
                    <a:pt x="25" y="67"/>
                    <a:pt x="24" y="66"/>
                    <a:pt x="24" y="65"/>
                  </a:cubicBezTo>
                  <a:cubicBezTo>
                    <a:pt x="24" y="52"/>
                    <a:pt x="24" y="52"/>
                    <a:pt x="24" y="52"/>
                  </a:cubicBezTo>
                  <a:cubicBezTo>
                    <a:pt x="57" y="12"/>
                    <a:pt x="57" y="12"/>
                    <a:pt x="57" y="12"/>
                  </a:cubicBezTo>
                  <a:cubicBezTo>
                    <a:pt x="16" y="47"/>
                    <a:pt x="16" y="47"/>
                    <a:pt x="16" y="47"/>
                  </a:cubicBezTo>
                  <a:cubicBezTo>
                    <a:pt x="1" y="41"/>
                    <a:pt x="1" y="41"/>
                    <a:pt x="1" y="41"/>
                  </a:cubicBezTo>
                  <a:cubicBezTo>
                    <a:pt x="0" y="40"/>
                    <a:pt x="0" y="40"/>
                    <a:pt x="0" y="39"/>
                  </a:cubicBezTo>
                  <a:cubicBezTo>
                    <a:pt x="0" y="38"/>
                    <a:pt x="0" y="37"/>
                    <a:pt x="1" y="36"/>
                  </a:cubicBezTo>
                  <a:cubicBezTo>
                    <a:pt x="64" y="0"/>
                    <a:pt x="64" y="0"/>
                    <a:pt x="64" y="0"/>
                  </a:cubicBezTo>
                  <a:cubicBezTo>
                    <a:pt x="65" y="0"/>
                    <a:pt x="65" y="0"/>
                    <a:pt x="65" y="0"/>
                  </a:cubicBezTo>
                  <a:cubicBezTo>
                    <a:pt x="66" y="0"/>
                    <a:pt x="66" y="0"/>
                    <a:pt x="67" y="0"/>
                  </a:cubicBezTo>
                  <a:cubicBezTo>
                    <a:pt x="68" y="1"/>
                    <a:pt x="68" y="2"/>
                    <a:pt x="68" y="3"/>
                  </a:cubicBezTo>
                  <a:close/>
                </a:path>
              </a:pathLst>
            </a:custGeom>
            <a:solidFill>
              <a:schemeClr val="bg1"/>
            </a:solidFill>
            <a:ln w="9525">
              <a:noFill/>
              <a:round/>
            </a:ln>
          </p:spPr>
          <p:txBody>
            <a:bodyPr vert="horz" wrap="square" lIns="121682" tIns="60841" rIns="121682" bIns="60841" numCol="1" anchor="t" anchorCtr="0" compatLnSpc="1"/>
            <a:lstStyle/>
            <a:p>
              <a:endParaRPr lang="en-US" sz="3100">
                <a:solidFill>
                  <a:schemeClr val="tx1">
                    <a:lumMod val="65000"/>
                    <a:lumOff val="35000"/>
                  </a:schemeClr>
                </a:solidFill>
                <a:latin typeface="+mn-ea"/>
                <a:ea typeface="+mn-ea"/>
              </a:endParaRPr>
            </a:p>
          </p:txBody>
        </p:sp>
      </p:grpSp>
      <p:grpSp>
        <p:nvGrpSpPr>
          <p:cNvPr id="64" name="组合 63"/>
          <p:cNvGrpSpPr/>
          <p:nvPr/>
        </p:nvGrpSpPr>
        <p:grpSpPr>
          <a:xfrm>
            <a:off x="9052243" y="5115225"/>
            <a:ext cx="771437" cy="771436"/>
            <a:chOff x="6938352" y="4700564"/>
            <a:chExt cx="771437" cy="771436"/>
          </a:xfrm>
        </p:grpSpPr>
        <p:sp>
          <p:nvSpPr>
            <p:cNvPr id="65" name="Oval 8"/>
            <p:cNvSpPr>
              <a:spLocks noChangeAspect="1"/>
            </p:cNvSpPr>
            <p:nvPr>
              <p:custDataLst>
                <p:tags r:id="rId9"/>
              </p:custDataLst>
            </p:nvPr>
          </p:nvSpPr>
          <p:spPr>
            <a:xfrm>
              <a:off x="6938352" y="4700564"/>
              <a:ext cx="771437" cy="771436"/>
            </a:xfrm>
            <a:prstGeom prst="ellipse">
              <a:avLst/>
            </a:prstGeom>
            <a:solidFill>
              <a:srgbClr val="00885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66" name="Freeform 79"/>
            <p:cNvSpPr>
              <a:spLocks noEditPoints="1"/>
            </p:cNvSpPr>
            <p:nvPr>
              <p:custDataLst>
                <p:tags r:id="rId10"/>
              </p:custDataLst>
            </p:nvPr>
          </p:nvSpPr>
          <p:spPr bwMode="auto">
            <a:xfrm>
              <a:off x="7168529" y="4930864"/>
              <a:ext cx="311082" cy="310836"/>
            </a:xfrm>
            <a:custGeom>
              <a:avLst/>
              <a:gdLst/>
              <a:ahLst/>
              <a:cxnLst>
                <a:cxn ang="0">
                  <a:pos x="236" y="200"/>
                </a:cxn>
                <a:cxn ang="0">
                  <a:pos x="176" y="200"/>
                </a:cxn>
                <a:cxn ang="0">
                  <a:pos x="160" y="200"/>
                </a:cxn>
                <a:cxn ang="0">
                  <a:pos x="160" y="220"/>
                </a:cxn>
                <a:cxn ang="0">
                  <a:pos x="176" y="236"/>
                </a:cxn>
                <a:cxn ang="0">
                  <a:pos x="176" y="240"/>
                </a:cxn>
                <a:cxn ang="0">
                  <a:pos x="72" y="240"/>
                </a:cxn>
                <a:cxn ang="0">
                  <a:pos x="72" y="236"/>
                </a:cxn>
                <a:cxn ang="0">
                  <a:pos x="88" y="220"/>
                </a:cxn>
                <a:cxn ang="0">
                  <a:pos x="88" y="200"/>
                </a:cxn>
                <a:cxn ang="0">
                  <a:pos x="72" y="200"/>
                </a:cxn>
                <a:cxn ang="0">
                  <a:pos x="12" y="200"/>
                </a:cxn>
                <a:cxn ang="0">
                  <a:pos x="0" y="188"/>
                </a:cxn>
                <a:cxn ang="0">
                  <a:pos x="0" y="28"/>
                </a:cxn>
                <a:cxn ang="0">
                  <a:pos x="12" y="16"/>
                </a:cxn>
                <a:cxn ang="0">
                  <a:pos x="86" y="16"/>
                </a:cxn>
                <a:cxn ang="0">
                  <a:pos x="70" y="32"/>
                </a:cxn>
                <a:cxn ang="0">
                  <a:pos x="16" y="32"/>
                </a:cxn>
                <a:cxn ang="0">
                  <a:pos x="16" y="168"/>
                </a:cxn>
                <a:cxn ang="0">
                  <a:pos x="232" y="168"/>
                </a:cxn>
                <a:cxn ang="0">
                  <a:pos x="232" y="32"/>
                </a:cxn>
                <a:cxn ang="0">
                  <a:pos x="178" y="32"/>
                </a:cxn>
                <a:cxn ang="0">
                  <a:pos x="162" y="16"/>
                </a:cxn>
                <a:cxn ang="0">
                  <a:pos x="236" y="16"/>
                </a:cxn>
                <a:cxn ang="0">
                  <a:pos x="248" y="28"/>
                </a:cxn>
                <a:cxn ang="0">
                  <a:pos x="248" y="188"/>
                </a:cxn>
                <a:cxn ang="0">
                  <a:pos x="236" y="200"/>
                </a:cxn>
                <a:cxn ang="0">
                  <a:pos x="152" y="52"/>
                </a:cxn>
                <a:cxn ang="0">
                  <a:pos x="144" y="48"/>
                </a:cxn>
                <a:cxn ang="0">
                  <a:pos x="136" y="41"/>
                </a:cxn>
                <a:cxn ang="0">
                  <a:pos x="136" y="96"/>
                </a:cxn>
                <a:cxn ang="0">
                  <a:pos x="124" y="108"/>
                </a:cxn>
                <a:cxn ang="0">
                  <a:pos x="112" y="96"/>
                </a:cxn>
                <a:cxn ang="0">
                  <a:pos x="112" y="41"/>
                </a:cxn>
                <a:cxn ang="0">
                  <a:pos x="104" y="48"/>
                </a:cxn>
                <a:cxn ang="0">
                  <a:pos x="96" y="52"/>
                </a:cxn>
                <a:cxn ang="0">
                  <a:pos x="84" y="40"/>
                </a:cxn>
                <a:cxn ang="0">
                  <a:pos x="88" y="32"/>
                </a:cxn>
                <a:cxn ang="0">
                  <a:pos x="116" y="4"/>
                </a:cxn>
                <a:cxn ang="0">
                  <a:pos x="124" y="0"/>
                </a:cxn>
                <a:cxn ang="0">
                  <a:pos x="132" y="4"/>
                </a:cxn>
                <a:cxn ang="0">
                  <a:pos x="160" y="32"/>
                </a:cxn>
                <a:cxn ang="0">
                  <a:pos x="164" y="40"/>
                </a:cxn>
                <a:cxn ang="0">
                  <a:pos x="152" y="52"/>
                </a:cxn>
              </a:cxnLst>
              <a:rect l="0" t="0" r="r" b="b"/>
              <a:pathLst>
                <a:path w="248" h="240">
                  <a:moveTo>
                    <a:pt x="236" y="200"/>
                  </a:moveTo>
                  <a:cubicBezTo>
                    <a:pt x="176" y="200"/>
                    <a:pt x="176" y="200"/>
                    <a:pt x="176" y="200"/>
                  </a:cubicBezTo>
                  <a:cubicBezTo>
                    <a:pt x="160" y="200"/>
                    <a:pt x="160" y="200"/>
                    <a:pt x="160" y="200"/>
                  </a:cubicBezTo>
                  <a:cubicBezTo>
                    <a:pt x="160" y="220"/>
                    <a:pt x="160" y="220"/>
                    <a:pt x="160" y="220"/>
                  </a:cubicBezTo>
                  <a:cubicBezTo>
                    <a:pt x="176" y="236"/>
                    <a:pt x="176" y="236"/>
                    <a:pt x="176" y="236"/>
                  </a:cubicBezTo>
                  <a:cubicBezTo>
                    <a:pt x="176" y="240"/>
                    <a:pt x="176" y="240"/>
                    <a:pt x="176" y="240"/>
                  </a:cubicBezTo>
                  <a:cubicBezTo>
                    <a:pt x="72" y="240"/>
                    <a:pt x="72" y="240"/>
                    <a:pt x="72" y="240"/>
                  </a:cubicBezTo>
                  <a:cubicBezTo>
                    <a:pt x="72" y="236"/>
                    <a:pt x="72" y="236"/>
                    <a:pt x="72" y="236"/>
                  </a:cubicBezTo>
                  <a:cubicBezTo>
                    <a:pt x="88" y="220"/>
                    <a:pt x="88" y="220"/>
                    <a:pt x="88" y="220"/>
                  </a:cubicBezTo>
                  <a:cubicBezTo>
                    <a:pt x="88" y="200"/>
                    <a:pt x="88" y="200"/>
                    <a:pt x="88" y="200"/>
                  </a:cubicBezTo>
                  <a:cubicBezTo>
                    <a:pt x="72" y="200"/>
                    <a:pt x="72" y="200"/>
                    <a:pt x="72" y="200"/>
                  </a:cubicBezTo>
                  <a:cubicBezTo>
                    <a:pt x="12" y="200"/>
                    <a:pt x="12" y="200"/>
                    <a:pt x="12" y="200"/>
                  </a:cubicBezTo>
                  <a:cubicBezTo>
                    <a:pt x="5" y="200"/>
                    <a:pt x="0" y="195"/>
                    <a:pt x="0" y="188"/>
                  </a:cubicBezTo>
                  <a:cubicBezTo>
                    <a:pt x="0" y="28"/>
                    <a:pt x="0" y="28"/>
                    <a:pt x="0" y="28"/>
                  </a:cubicBezTo>
                  <a:cubicBezTo>
                    <a:pt x="0" y="21"/>
                    <a:pt x="5" y="16"/>
                    <a:pt x="12" y="16"/>
                  </a:cubicBezTo>
                  <a:cubicBezTo>
                    <a:pt x="86" y="16"/>
                    <a:pt x="86" y="16"/>
                    <a:pt x="86" y="16"/>
                  </a:cubicBezTo>
                  <a:cubicBezTo>
                    <a:pt x="70" y="32"/>
                    <a:pt x="70" y="32"/>
                    <a:pt x="70" y="32"/>
                  </a:cubicBezTo>
                  <a:cubicBezTo>
                    <a:pt x="16" y="32"/>
                    <a:pt x="16" y="32"/>
                    <a:pt x="16" y="32"/>
                  </a:cubicBezTo>
                  <a:cubicBezTo>
                    <a:pt x="16" y="168"/>
                    <a:pt x="16" y="168"/>
                    <a:pt x="16" y="168"/>
                  </a:cubicBezTo>
                  <a:cubicBezTo>
                    <a:pt x="232" y="168"/>
                    <a:pt x="232" y="168"/>
                    <a:pt x="232" y="168"/>
                  </a:cubicBezTo>
                  <a:cubicBezTo>
                    <a:pt x="232" y="32"/>
                    <a:pt x="232" y="32"/>
                    <a:pt x="232" y="32"/>
                  </a:cubicBezTo>
                  <a:cubicBezTo>
                    <a:pt x="178" y="32"/>
                    <a:pt x="178" y="32"/>
                    <a:pt x="178" y="32"/>
                  </a:cubicBezTo>
                  <a:cubicBezTo>
                    <a:pt x="162" y="16"/>
                    <a:pt x="162" y="16"/>
                    <a:pt x="162" y="16"/>
                  </a:cubicBezTo>
                  <a:cubicBezTo>
                    <a:pt x="236" y="16"/>
                    <a:pt x="236" y="16"/>
                    <a:pt x="236" y="16"/>
                  </a:cubicBezTo>
                  <a:cubicBezTo>
                    <a:pt x="243" y="16"/>
                    <a:pt x="248" y="21"/>
                    <a:pt x="248" y="28"/>
                  </a:cubicBezTo>
                  <a:cubicBezTo>
                    <a:pt x="248" y="188"/>
                    <a:pt x="248" y="188"/>
                    <a:pt x="248" y="188"/>
                  </a:cubicBezTo>
                  <a:cubicBezTo>
                    <a:pt x="248" y="195"/>
                    <a:pt x="243" y="200"/>
                    <a:pt x="236" y="200"/>
                  </a:cubicBezTo>
                  <a:moveTo>
                    <a:pt x="152" y="52"/>
                  </a:moveTo>
                  <a:cubicBezTo>
                    <a:pt x="149" y="52"/>
                    <a:pt x="146" y="51"/>
                    <a:pt x="144" y="48"/>
                  </a:cubicBezTo>
                  <a:cubicBezTo>
                    <a:pt x="136" y="41"/>
                    <a:pt x="136" y="41"/>
                    <a:pt x="136" y="41"/>
                  </a:cubicBezTo>
                  <a:cubicBezTo>
                    <a:pt x="136" y="96"/>
                    <a:pt x="136" y="96"/>
                    <a:pt x="136" y="96"/>
                  </a:cubicBezTo>
                  <a:cubicBezTo>
                    <a:pt x="136" y="103"/>
                    <a:pt x="131" y="108"/>
                    <a:pt x="124" y="108"/>
                  </a:cubicBezTo>
                  <a:cubicBezTo>
                    <a:pt x="117" y="108"/>
                    <a:pt x="112" y="103"/>
                    <a:pt x="112" y="96"/>
                  </a:cubicBezTo>
                  <a:cubicBezTo>
                    <a:pt x="112" y="41"/>
                    <a:pt x="112" y="41"/>
                    <a:pt x="112" y="41"/>
                  </a:cubicBezTo>
                  <a:cubicBezTo>
                    <a:pt x="104" y="48"/>
                    <a:pt x="104" y="48"/>
                    <a:pt x="104" y="48"/>
                  </a:cubicBezTo>
                  <a:cubicBezTo>
                    <a:pt x="102" y="51"/>
                    <a:pt x="99" y="52"/>
                    <a:pt x="96" y="52"/>
                  </a:cubicBezTo>
                  <a:cubicBezTo>
                    <a:pt x="89" y="52"/>
                    <a:pt x="84" y="47"/>
                    <a:pt x="84" y="40"/>
                  </a:cubicBezTo>
                  <a:cubicBezTo>
                    <a:pt x="84" y="37"/>
                    <a:pt x="85" y="34"/>
                    <a:pt x="88" y="32"/>
                  </a:cubicBezTo>
                  <a:cubicBezTo>
                    <a:pt x="116" y="4"/>
                    <a:pt x="116" y="4"/>
                    <a:pt x="116" y="4"/>
                  </a:cubicBezTo>
                  <a:cubicBezTo>
                    <a:pt x="118" y="1"/>
                    <a:pt x="121" y="0"/>
                    <a:pt x="124" y="0"/>
                  </a:cubicBezTo>
                  <a:cubicBezTo>
                    <a:pt x="127" y="0"/>
                    <a:pt x="130" y="1"/>
                    <a:pt x="132" y="4"/>
                  </a:cubicBezTo>
                  <a:cubicBezTo>
                    <a:pt x="160" y="32"/>
                    <a:pt x="160" y="32"/>
                    <a:pt x="160" y="32"/>
                  </a:cubicBezTo>
                  <a:cubicBezTo>
                    <a:pt x="163" y="34"/>
                    <a:pt x="164" y="37"/>
                    <a:pt x="164" y="40"/>
                  </a:cubicBezTo>
                  <a:cubicBezTo>
                    <a:pt x="164" y="47"/>
                    <a:pt x="159" y="52"/>
                    <a:pt x="152" y="52"/>
                  </a:cubicBezTo>
                </a:path>
              </a:pathLst>
            </a:custGeom>
            <a:solidFill>
              <a:schemeClr val="bg1"/>
            </a:solidFill>
            <a:ln w="9525">
              <a:noFill/>
              <a:round/>
            </a:ln>
          </p:spPr>
          <p:txBody>
            <a:bodyPr vert="horz" wrap="square" lIns="91440" tIns="45720" rIns="91440" bIns="45720" numCol="1" anchor="t" anchorCtr="0" compatLnSpc="1"/>
            <a:lstStyle/>
            <a:p>
              <a:endParaRPr lang="en-US">
                <a:solidFill>
                  <a:schemeClr val="tx1">
                    <a:lumMod val="65000"/>
                    <a:lumOff val="35000"/>
                  </a:schemeClr>
                </a:solidFill>
                <a:latin typeface="+mn-ea"/>
                <a:ea typeface="+mn-ea"/>
              </a:endParaRPr>
            </a:p>
          </p:txBody>
        </p:sp>
      </p:grpSp>
      <p:grpSp>
        <p:nvGrpSpPr>
          <p:cNvPr id="77" name="组合 76"/>
          <p:cNvGrpSpPr/>
          <p:nvPr/>
        </p:nvGrpSpPr>
        <p:grpSpPr>
          <a:xfrm>
            <a:off x="2417159" y="1275979"/>
            <a:ext cx="6398895" cy="1043940"/>
            <a:chOff x="586" y="2062"/>
            <a:chExt cx="10077" cy="1644"/>
          </a:xfrm>
        </p:grpSpPr>
        <p:sp>
          <p:nvSpPr>
            <p:cNvPr id="73" name="矩形 72"/>
            <p:cNvSpPr/>
            <p:nvPr/>
          </p:nvSpPr>
          <p:spPr>
            <a:xfrm>
              <a:off x="666" y="2062"/>
              <a:ext cx="4010" cy="789"/>
            </a:xfrm>
            <a:prstGeom prst="rect">
              <a:avLst/>
            </a:prstGeom>
            <a:solidFill>
              <a:srgbClr val="0063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p:cNvSpPr/>
            <p:nvPr>
              <p:custDataLst>
                <p:tags r:id="rId8"/>
              </p:custDataLst>
            </p:nvPr>
          </p:nvSpPr>
          <p:spPr>
            <a:xfrm>
              <a:off x="586" y="3106"/>
              <a:ext cx="10077" cy="600"/>
            </a:xfrm>
            <a:prstGeom prst="rect">
              <a:avLst/>
            </a:prstGeom>
          </p:spPr>
          <p:txBody>
            <a:bodyPr wrap="square">
              <a:spAutoFit/>
            </a:bodyPr>
            <a:lstStyle/>
            <a:p>
              <a:pPr algn="just" fontAlgn="auto">
                <a:lnSpc>
                  <a:spcPct val="130000"/>
                </a:lnSpc>
              </a:pPr>
              <a:endParaRPr 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lt"/>
              </a:endParaRPr>
            </a:p>
          </p:txBody>
        </p:sp>
      </p:grpSp>
      <p:grpSp>
        <p:nvGrpSpPr>
          <p:cNvPr id="78" name="组合 77"/>
          <p:cNvGrpSpPr/>
          <p:nvPr/>
        </p:nvGrpSpPr>
        <p:grpSpPr>
          <a:xfrm>
            <a:off x="735044" y="3759556"/>
            <a:ext cx="6419850" cy="2484755"/>
            <a:chOff x="553" y="2062"/>
            <a:chExt cx="10110" cy="3913"/>
          </a:xfrm>
        </p:grpSpPr>
        <p:grpSp>
          <p:nvGrpSpPr>
            <p:cNvPr id="79" name="组合 78"/>
            <p:cNvGrpSpPr/>
            <p:nvPr/>
          </p:nvGrpSpPr>
          <p:grpSpPr>
            <a:xfrm>
              <a:off x="553" y="2062"/>
              <a:ext cx="3254" cy="709"/>
              <a:chOff x="445" y="2062"/>
              <a:chExt cx="3254" cy="709"/>
            </a:xfrm>
          </p:grpSpPr>
          <p:sp>
            <p:nvSpPr>
              <p:cNvPr id="80" name="矩形 79"/>
              <p:cNvSpPr/>
              <p:nvPr>
                <p:custDataLst>
                  <p:tags r:id="rId6"/>
                </p:custDataLst>
              </p:nvPr>
            </p:nvSpPr>
            <p:spPr>
              <a:xfrm>
                <a:off x="586" y="2062"/>
                <a:ext cx="3000" cy="709"/>
              </a:xfrm>
              <a:prstGeom prst="rect">
                <a:avLst/>
              </a:prstGeom>
              <a:solidFill>
                <a:srgbClr val="0063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p:cNvSpPr txBox="1"/>
              <p:nvPr>
                <p:custDataLst>
                  <p:tags r:id="rId7"/>
                </p:custDataLst>
              </p:nvPr>
            </p:nvSpPr>
            <p:spPr>
              <a:xfrm>
                <a:off x="445" y="2118"/>
                <a:ext cx="3254" cy="582"/>
              </a:xfrm>
              <a:prstGeom prst="rect">
                <a:avLst/>
              </a:prstGeom>
              <a:noFill/>
            </p:spPr>
            <p:txBody>
              <a:bodyPr wrap="square" rtlCol="0">
                <a:spAutoFit/>
              </a:bodyPr>
              <a:lstStyle/>
              <a:p>
                <a:pPr algn="ctr"/>
                <a:r>
                  <a:rPr lang="zh-CN" altLang="en-US" b="1" dirty="0">
                    <a:solidFill>
                      <a:schemeClr val="bg1"/>
                    </a:solidFill>
                  </a:rPr>
                  <a:t>关键参数</a:t>
                </a:r>
                <a:r>
                  <a:rPr lang="el-GR" altLang="zh-CN" b="1" dirty="0">
                    <a:solidFill>
                      <a:schemeClr val="bg1"/>
                    </a:solidFill>
                  </a:rPr>
                  <a:t>α</a:t>
                </a:r>
                <a:endParaRPr lang="zh-CN" altLang="en-US" b="1" dirty="0">
                  <a:solidFill>
                    <a:schemeClr val="bg1"/>
                  </a:solidFill>
                </a:endParaRPr>
              </a:p>
            </p:txBody>
          </p:sp>
        </p:grpSp>
        <mc:AlternateContent xmlns:mc="http://schemas.openxmlformats.org/markup-compatibility/2006" xmlns:a14="http://schemas.microsoft.com/office/drawing/2010/main">
          <mc:Choice Requires="a14">
            <p:sp>
              <p:nvSpPr>
                <p:cNvPr id="82" name="矩形 81"/>
                <p:cNvSpPr/>
                <p:nvPr>
                  <p:custDataLst>
                    <p:tags r:id="rId5"/>
                  </p:custDataLst>
                </p:nvPr>
              </p:nvSpPr>
              <p:spPr>
                <a:xfrm>
                  <a:off x="770" y="3193"/>
                  <a:ext cx="9893" cy="2782"/>
                </a:xfrm>
                <a:prstGeom prst="rect">
                  <a:avLst/>
                </a:prstGeom>
              </p:spPr>
              <p:txBody>
                <a:bodyPr wrap="square">
                  <a:spAutoFit/>
                </a:bodyPr>
                <a:lstStyle/>
                <a:p>
                  <a:r>
                    <a:rPr lang="zh-CN" altLang="zh-CN" dirty="0"/>
                    <a:t> 参数 </a:t>
                  </a:r>
                  <a14:m>
                    <m:oMath xmlns:m="http://schemas.openxmlformats.org/officeDocument/2006/math">
                      <m:r>
                        <a:rPr lang="en-US" altLang="zh-CN" i="1">
                          <a:latin typeface="Cambria Math" panose="02040503050406030204" pitchFamily="18" charset="0"/>
                        </a:rPr>
                        <m:t>𝛼</m:t>
                      </m:r>
                    </m:oMath>
                  </a14:m>
                  <a:r>
                    <a:rPr lang="zh-CN" altLang="zh-CN" dirty="0"/>
                    <a:t>可以优化以获得最佳性能，其优化表达式为：</a:t>
                  </a:r>
                  <a:endParaRPr lang="en-US" altLang="zh-CN" dirty="0"/>
                </a:p>
                <a:p>
                  <a:endParaRPr lang="zh-CN" altLang="zh-CN" dirty="0"/>
                </a:p>
                <a:p>
                  <a:endParaRPr lang="en-US" altLang="zh-CN" dirty="0"/>
                </a:p>
                <a:p>
                  <a:endParaRPr lang="zh-CN" altLang="zh-CN" dirty="0"/>
                </a:p>
                <a:p>
                  <a:r>
                    <a:rPr lang="en-US" altLang="zh-CN" dirty="0"/>
                    <a:t>    </a:t>
                  </a:r>
                  <a:r>
                    <a:rPr lang="zh-CN" altLang="zh-CN" dirty="0"/>
                    <a:t>其中，</a:t>
                  </a:r>
                  <a14:m>
                    <m:oMath xmlns:m="http://schemas.openxmlformats.org/officeDocument/2006/math">
                      <m:r>
                        <m:rPr>
                          <m:sty m:val="p"/>
                        </m:rPr>
                        <a:rPr lang="en-US" altLang="zh-CN">
                          <a:latin typeface="Cambria Math" panose="02040503050406030204" pitchFamily="18" charset="0"/>
                        </a:rPr>
                        <m:t>Error</m:t>
                      </m:r>
                      <m:r>
                        <a:rPr lang="en-US" altLang="zh-CN" i="1">
                          <a:latin typeface="Cambria Math" panose="02040503050406030204" pitchFamily="18" charset="0"/>
                        </a:rPr>
                        <m:t>(</m:t>
                      </m:r>
                      <m:r>
                        <a:rPr lang="en-US" altLang="zh-CN" i="1">
                          <a:latin typeface="Cambria Math" panose="02040503050406030204" pitchFamily="18" charset="0"/>
                        </a:rPr>
                        <m:t>𝛼</m:t>
                      </m:r>
                      <m:r>
                        <a:rPr lang="en-US" altLang="zh-CN" i="1">
                          <a:latin typeface="Cambria Math" panose="02040503050406030204" pitchFamily="18" charset="0"/>
                        </a:rPr>
                        <m:t>)</m:t>
                      </m:r>
                    </m:oMath>
                  </a14:m>
                  <a:r>
                    <a:rPr lang="zh-CN" altLang="zh-CN" dirty="0"/>
                    <a:t>是分类误差作为</a:t>
                  </a:r>
                  <a14:m>
                    <m:oMath xmlns:m="http://schemas.openxmlformats.org/officeDocument/2006/math">
                      <m:r>
                        <a:rPr lang="en-US" altLang="zh-CN" i="1">
                          <a:latin typeface="Cambria Math" panose="02040503050406030204" pitchFamily="18" charset="0"/>
                        </a:rPr>
                        <m:t>𝛼</m:t>
                      </m:r>
                    </m:oMath>
                  </a14:m>
                  <a:r>
                    <a:rPr lang="zh-CN" altLang="zh-CN" dirty="0"/>
                    <a:t>的函数。</a:t>
                  </a:r>
                </a:p>
                <a:p>
                  <a:pPr algn="just" fontAlgn="auto">
                    <a:lnSpc>
                      <a:spcPct val="130000"/>
                    </a:lnSpc>
                  </a:pPr>
                  <a:endParaRPr 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lt"/>
                  </a:endParaRPr>
                </a:p>
              </p:txBody>
            </p:sp>
          </mc:Choice>
          <mc:Fallback xmlns="">
            <p:sp>
              <p:nvSpPr>
                <p:cNvPr id="82" name="矩形 81"/>
                <p:cNvSpPr>
                  <a:spLocks noRot="1" noChangeAspect="1" noMove="1" noResize="1" noEditPoints="1" noAdjustHandles="1" noChangeArrowheads="1" noChangeShapeType="1" noTextEdit="1"/>
                </p:cNvSpPr>
                <p:nvPr>
                  <p:custDataLst>
                    <p:tags r:id="rId17"/>
                  </p:custDataLst>
                </p:nvPr>
              </p:nvSpPr>
              <p:spPr>
                <a:xfrm>
                  <a:off x="770" y="3193"/>
                  <a:ext cx="9893" cy="2782"/>
                </a:xfrm>
                <a:prstGeom prst="rect">
                  <a:avLst/>
                </a:prstGeom>
                <a:blipFill rotWithShape="1">
                  <a:blip r:embed="rId18"/>
                </a:blipFill>
              </p:spPr>
              <p:txBody>
                <a:bodyPr/>
                <a:lstStyle/>
                <a:p>
                  <a:r>
                    <a:rPr lang="zh-CN" altLang="en-US">
                      <a:noFill/>
                    </a:rPr>
                    <a:t> </a:t>
                  </a:r>
                </a:p>
              </p:txBody>
            </p:sp>
          </mc:Fallback>
        </mc:AlternateContent>
      </p:grpSp>
      <p:sp>
        <p:nvSpPr>
          <p:cNvPr id="29" name="文本框 28"/>
          <p:cNvSpPr txBox="1"/>
          <p:nvPr/>
        </p:nvSpPr>
        <p:spPr>
          <a:xfrm>
            <a:off x="2625439" y="1315349"/>
            <a:ext cx="2314575" cy="369570"/>
          </a:xfrm>
          <a:prstGeom prst="rect">
            <a:avLst/>
          </a:prstGeom>
          <a:noFill/>
        </p:spPr>
        <p:txBody>
          <a:bodyPr wrap="square" rtlCol="0">
            <a:spAutoFit/>
          </a:bodyPr>
          <a:lstStyle/>
          <a:p>
            <a:pPr algn="ctr"/>
            <a:r>
              <a:rPr lang="zh-CN" altLang="en-US" b="1" dirty="0">
                <a:solidFill>
                  <a:schemeClr val="bg1"/>
                </a:solidFill>
              </a:rPr>
              <a:t>神经网络输入预处理</a:t>
            </a:r>
          </a:p>
        </p:txBody>
      </p:sp>
      <mc:AlternateContent xmlns:mc="http://schemas.openxmlformats.org/markup-compatibility/2006" xmlns:a14="http://schemas.microsoft.com/office/drawing/2010/main">
        <mc:Choice Requires="a14">
          <p:sp>
            <p:nvSpPr>
              <p:cNvPr id="32" name="文本框 31"/>
              <p:cNvSpPr txBox="1"/>
              <p:nvPr/>
            </p:nvSpPr>
            <p:spPr>
              <a:xfrm>
                <a:off x="2474944" y="2008187"/>
                <a:ext cx="6109854" cy="1561133"/>
              </a:xfrm>
              <a:prstGeom prst="rect">
                <a:avLst/>
              </a:prstGeom>
              <a:noFill/>
            </p:spPr>
            <p:txBody>
              <a:bodyPr wrap="square">
                <a:spAutoFit/>
              </a:bodyPr>
              <a:lstStyle/>
              <a:p>
                <a:pPr algn="l"/>
                <a:r>
                  <a:rPr lang="zh-CN" altLang="zh-CN" sz="1800" kern="100" dirty="0">
                    <a:effectLst/>
                    <a:latin typeface="等线" panose="02010600030101010101" charset="-122"/>
                    <a:ea typeface="等线" panose="02010600030101010101" charset="-122"/>
                    <a:cs typeface="Times New Roman" panose="02020603050405020304" pitchFamily="18" charset="0"/>
                  </a:rPr>
                  <a:t>通过分数阶傅里叶变换预处理输入信号，可以改善神经网络的性能。预处理的目的是将信号转换到一个更有利于分类的特征空间。预处理后的信号</a:t>
                </a:r>
                <a:r>
                  <a:rPr lang="en-US" altLang="zh-CN" sz="1800" kern="100" dirty="0">
                    <a:effectLst/>
                    <a:latin typeface="等线" panose="02010600030101010101" charset="-122"/>
                    <a:ea typeface="等线" panose="02010600030101010101" charset="-122"/>
                    <a:cs typeface="Times New Roman" panose="02020603050405020304" pitchFamily="18" charset="0"/>
                  </a:rPr>
                  <a:t>f(a)</a:t>
                </a:r>
                <a:r>
                  <a:rPr lang="zh-CN" altLang="zh-CN" sz="1800" kern="100" dirty="0">
                    <a:effectLst/>
                    <a:latin typeface="等线" panose="02010600030101010101" charset="-122"/>
                    <a:ea typeface="等线" panose="02010600030101010101" charset="-122"/>
                    <a:cs typeface="Times New Roman" panose="02020603050405020304" pitchFamily="18" charset="0"/>
                  </a:rPr>
                  <a:t>可以表示为：</a:t>
                </a:r>
                <a:endParaRPr lang="zh-CN" altLang="zh-CN" sz="1600" kern="100" dirty="0">
                  <a:effectLst/>
                  <a:latin typeface="等线" panose="02010600030101010101" charset="-122"/>
                  <a:ea typeface="等线" panose="02010600030101010101" charset="-122"/>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charset="-122"/>
                              <a:cs typeface="Times New Roman" panose="02020603050405020304" pitchFamily="18" charset="0"/>
                            </a:rPr>
                            <m:t>𝑎</m:t>
                          </m:r>
                        </m:sub>
                      </m:sSub>
                      <m:r>
                        <a:rPr lang="en-US" altLang="zh-CN" sz="1800" i="1" kern="100">
                          <a:effectLst/>
                          <a:latin typeface="Cambria Math" panose="02040503050406030204" pitchFamily="18" charset="0"/>
                          <a:ea typeface="等线" panose="02010600030101010101"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charset="-122"/>
                              <a:cs typeface="Times New Roman" panose="02020603050405020304" pitchFamily="18" charset="0"/>
                            </a:rPr>
                            <m:t>𝐹</m:t>
                          </m:r>
                        </m:e>
                        <m:sub>
                          <m:r>
                            <a:rPr lang="en-US" altLang="zh-CN" sz="1800" i="1" kern="100">
                              <a:effectLst/>
                              <a:latin typeface="Cambria Math" panose="02040503050406030204" pitchFamily="18" charset="0"/>
                              <a:ea typeface="等线" panose="02010600030101010101" charset="-122"/>
                              <a:cs typeface="Times New Roman" panose="02020603050405020304" pitchFamily="18" charset="0"/>
                            </a:rPr>
                            <m:t>𝑎</m:t>
                          </m:r>
                        </m:sub>
                      </m:sSub>
                      <m:r>
                        <a:rPr lang="en-US" altLang="zh-CN" sz="1800" i="1" kern="100">
                          <a:effectLst/>
                          <a:latin typeface="Cambria Math" panose="02040503050406030204" pitchFamily="18" charset="0"/>
                          <a:ea typeface="等线" panose="02010600030101010101"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charset="-122"/>
                          <a:cs typeface="Times New Roman" panose="02020603050405020304" pitchFamily="18" charset="0"/>
                        </a:rPr>
                        <m:t>𝑓</m:t>
                      </m:r>
                      <m:r>
                        <a:rPr lang="en-US" altLang="zh-CN" sz="1800" i="1" kern="100">
                          <a:effectLst/>
                          <a:latin typeface="Cambria Math" panose="02040503050406030204" pitchFamily="18" charset="0"/>
                          <a:ea typeface="等线" panose="02010600030101010101" charset="-122"/>
                          <a:cs typeface="Times New Roman" panose="02020603050405020304" pitchFamily="18" charset="0"/>
                        </a:rPr>
                        <m:t>)</m:t>
                      </m:r>
                    </m:oMath>
                  </m:oMathPara>
                </a14:m>
                <a:endParaRPr lang="zh-CN" altLang="zh-CN" sz="1600" kern="100" dirty="0">
                  <a:effectLst/>
                  <a:latin typeface="等线" panose="02010600030101010101" charset="-122"/>
                  <a:ea typeface="等线" panose="02010600030101010101" charset="-122"/>
                  <a:cs typeface="Times New Roman" panose="02020603050405020304" pitchFamily="18" charset="0"/>
                </a:endParaRPr>
              </a:p>
              <a:p>
                <a:pPr indent="279400" algn="l"/>
                <a:r>
                  <a:rPr lang="zh-CN" altLang="zh-CN" sz="1800" kern="100" dirty="0">
                    <a:effectLst/>
                    <a:latin typeface="等线" panose="02010600030101010101" charset="-122"/>
                    <a:ea typeface="等线" panose="02010600030101010101" charset="-122"/>
                    <a:cs typeface="Times New Roman" panose="02020603050405020304" pitchFamily="18" charset="0"/>
                  </a:rPr>
                  <a:t>其中</a:t>
                </a:r>
                <a14:m>
                  <m:oMath xmlns:m="http://schemas.openxmlformats.org/officeDocument/2006/math">
                    <m:r>
                      <a:rPr lang="en-US" altLang="zh-CN" sz="1800" i="1" kern="100">
                        <a:effectLst/>
                        <a:latin typeface="Cambria Math" panose="02040503050406030204" pitchFamily="18" charset="0"/>
                        <a:ea typeface="等线" panose="02010600030101010101" charset="-122"/>
                        <a:cs typeface="Times New Roman" panose="02020603050405020304" pitchFamily="18" charset="0"/>
                      </a:rPr>
                      <m:t>𝑓</m:t>
                    </m:r>
                  </m:oMath>
                </a14:m>
                <a:r>
                  <a:rPr lang="zh-CN" altLang="zh-CN" sz="1800" kern="100" dirty="0">
                    <a:effectLst/>
                    <a:latin typeface="等线" panose="02010600030101010101" charset="-122"/>
                    <a:ea typeface="等线" panose="02010600030101010101" charset="-122"/>
                    <a:cs typeface="Times New Roman" panose="02020603050405020304" pitchFamily="18" charset="0"/>
                  </a:rPr>
                  <a:t>是原始信号，</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charset="-122"/>
                            <a:cs typeface="Times New Roman" panose="02020603050405020304" pitchFamily="18" charset="0"/>
                          </a:rPr>
                          <m:t>𝐹</m:t>
                        </m:r>
                      </m:e>
                      <m:sub>
                        <m:r>
                          <a:rPr lang="en-US" altLang="zh-CN" sz="1800" i="1" kern="100">
                            <a:effectLst/>
                            <a:latin typeface="Cambria Math" panose="02040503050406030204" pitchFamily="18" charset="0"/>
                            <a:ea typeface="等线" panose="02010600030101010101" charset="-122"/>
                            <a:cs typeface="Times New Roman" panose="02020603050405020304" pitchFamily="18" charset="0"/>
                          </a:rPr>
                          <m:t>𝑎</m:t>
                        </m:r>
                      </m:sub>
                    </m:sSub>
                  </m:oMath>
                </a14:m>
                <a:r>
                  <a:rPr lang="zh-CN" altLang="zh-CN" sz="1800" kern="100" dirty="0">
                    <a:effectLst/>
                    <a:latin typeface="等线" panose="02010600030101010101" charset="-122"/>
                    <a:ea typeface="等线" panose="02010600030101010101" charset="-122"/>
                    <a:cs typeface="Times New Roman" panose="02020603050405020304" pitchFamily="18" charset="0"/>
                  </a:rPr>
                  <a:t>是</a:t>
                </a:r>
                <a14:m>
                  <m:oMath xmlns:m="http://schemas.openxmlformats.org/officeDocument/2006/math">
                    <m:r>
                      <a:rPr lang="en-US" altLang="zh-CN" sz="2400" i="1" kern="100" spc="20">
                        <a:solidFill>
                          <a:srgbClr val="060607"/>
                        </a:solidFill>
                        <a:effectLst/>
                        <a:latin typeface="Cambria Math" panose="02040503050406030204" pitchFamily="18" charset="0"/>
                        <a:ea typeface="等线" panose="02010600030101010101" charset="-122"/>
                        <a:cs typeface="Times New Roman" panose="02020603050405020304" pitchFamily="18" charset="0"/>
                      </a:rPr>
                      <m:t>𝛼</m:t>
                    </m:r>
                  </m:oMath>
                </a14:m>
                <a:r>
                  <a:rPr lang="zh-CN" altLang="zh-CN" sz="1800" kern="100" dirty="0">
                    <a:effectLst/>
                    <a:latin typeface="等线" panose="02010600030101010101" charset="-122"/>
                    <a:ea typeface="等线" panose="02010600030101010101" charset="-122"/>
                    <a:cs typeface="Times New Roman" panose="02020603050405020304" pitchFamily="18" charset="0"/>
                  </a:rPr>
                  <a:t>阶分数阶傅里叶变换。</a:t>
                </a:r>
                <a:endParaRPr lang="zh-CN" altLang="zh-CN" sz="1600" kern="100" dirty="0">
                  <a:effectLst/>
                  <a:latin typeface="等线" panose="02010600030101010101" charset="-122"/>
                  <a:ea typeface="等线" panose="02010600030101010101" charset="-122"/>
                  <a:cs typeface="Times New Roman" panose="02020603050405020304" pitchFamily="18" charset="0"/>
                </a:endParaRPr>
              </a:p>
            </p:txBody>
          </p:sp>
        </mc:Choice>
        <mc:Fallback xmlns="">
          <p:sp>
            <p:nvSpPr>
              <p:cNvPr id="32" name="文本框 31"/>
              <p:cNvSpPr txBox="1">
                <a:spLocks noRot="1" noChangeAspect="1" noMove="1" noResize="1" noEditPoints="1" noAdjustHandles="1" noChangeArrowheads="1" noChangeShapeType="1" noTextEdit="1"/>
              </p:cNvSpPr>
              <p:nvPr/>
            </p:nvSpPr>
            <p:spPr>
              <a:xfrm>
                <a:off x="2474944" y="2008187"/>
                <a:ext cx="6109854" cy="1561133"/>
              </a:xfrm>
              <a:prstGeom prst="rect">
                <a:avLst/>
              </a:prstGeom>
              <a:blipFill rotWithShape="1">
                <a:blip r:embed="rId19"/>
                <a:stretch>
                  <a:fillRect l="-6" t="-20" r="4" b="40"/>
                </a:stretch>
              </a:blipFill>
            </p:spPr>
            <p:txBody>
              <a:bodyPr/>
              <a:lstStyle/>
              <a:p>
                <a:r>
                  <a:rPr lang="zh-CN" altLang="en-US">
                    <a:noFill/>
                  </a:rPr>
                  <a:t> </a:t>
                </a:r>
              </a:p>
            </p:txBody>
          </p:sp>
        </mc:Fallback>
      </mc:AlternateContent>
      <p:pic>
        <p:nvPicPr>
          <p:cNvPr id="5" name="图片 4"/>
          <p:cNvPicPr>
            <a:picLocks noChangeAspect="1"/>
          </p:cNvPicPr>
          <p:nvPr/>
        </p:nvPicPr>
        <p:blipFill>
          <a:blip r:embed="rId20"/>
          <a:stretch>
            <a:fillRect/>
          </a:stretch>
        </p:blipFill>
        <p:spPr>
          <a:xfrm>
            <a:off x="4730527" y="4894991"/>
            <a:ext cx="2600414" cy="499070"/>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2"/>
            </p:custDataLst>
          </p:nvPr>
        </p:nvSpPr>
        <p:spPr>
          <a:xfrm>
            <a:off x="0" y="0"/>
            <a:ext cx="12201525" cy="68453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descr="校徽+南京师范大学(白)"/>
          <p:cNvPicPr>
            <a:picLocks noChangeAspect="1"/>
          </p:cNvPicPr>
          <p:nvPr>
            <p:custDataLst>
              <p:tags r:id="rId3"/>
            </p:custDataLst>
          </p:nvPr>
        </p:nvPicPr>
        <p:blipFill>
          <a:blip r:embed="rId10"/>
          <a:stretch>
            <a:fillRect/>
          </a:stretch>
        </p:blipFill>
        <p:spPr>
          <a:xfrm>
            <a:off x="9427845" y="-587375"/>
            <a:ext cx="2764155" cy="1955165"/>
          </a:xfrm>
          <a:prstGeom prst="rect">
            <a:avLst/>
          </a:prstGeom>
        </p:spPr>
      </p:pic>
      <p:sp>
        <p:nvSpPr>
          <p:cNvPr id="10" name="文本框 9"/>
          <p:cNvSpPr txBox="1"/>
          <p:nvPr/>
        </p:nvSpPr>
        <p:spPr>
          <a:xfrm>
            <a:off x="226060" y="109855"/>
            <a:ext cx="4293522" cy="461665"/>
          </a:xfrm>
          <a:prstGeom prst="rect">
            <a:avLst/>
          </a:prstGeom>
          <a:noFill/>
        </p:spPr>
        <p:txBody>
          <a:bodyPr wrap="square" rtlCol="0">
            <a:spAutoFit/>
          </a:bodyPr>
          <a:lstStyle/>
          <a:p>
            <a:r>
              <a:rPr lang="zh-CN" altLang="en-US" sz="2400" b="1" dirty="0">
                <a:solidFill>
                  <a:schemeClr val="bg1"/>
                </a:solidFill>
                <a:latin typeface="微软雅黑" panose="020B0503020204020204" charset="-122"/>
                <a:ea typeface="微软雅黑" panose="020B0503020204020204" charset="-122"/>
              </a:rPr>
              <a:t>研究内容、方法与结果</a:t>
            </a:r>
          </a:p>
        </p:txBody>
      </p:sp>
      <p:sp>
        <p:nvSpPr>
          <p:cNvPr id="11" name="矩形 10"/>
          <p:cNvSpPr/>
          <p:nvPr>
            <p:custDataLst>
              <p:tags r:id="rId4"/>
            </p:custDataLst>
          </p:nvPr>
        </p:nvSpPr>
        <p:spPr>
          <a:xfrm>
            <a:off x="-9525" y="6738620"/>
            <a:ext cx="12201525" cy="1193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文本框 92"/>
          <p:cNvSpPr txBox="1"/>
          <p:nvPr>
            <p:custDataLst>
              <p:tags r:id="rId5"/>
            </p:custDataLst>
          </p:nvPr>
        </p:nvSpPr>
        <p:spPr>
          <a:xfrm>
            <a:off x="1053402" y="3401352"/>
            <a:ext cx="700405" cy="461665"/>
          </a:xfrm>
          <a:prstGeom prst="rect">
            <a:avLst/>
          </a:prstGeom>
          <a:noFill/>
        </p:spPr>
        <p:txBody>
          <a:bodyPr wrap="square">
            <a:spAutoFit/>
          </a:bodyPr>
          <a:lstStyle/>
          <a:p>
            <a:r>
              <a:rPr lang="en-US" altLang="zh-CN" sz="2400" b="1" dirty="0">
                <a:solidFill>
                  <a:srgbClr val="00633D"/>
                </a:solidFill>
                <a:latin typeface="黑体" panose="02010609060101010101" charset="-122"/>
                <a:ea typeface="黑体" panose="02010609060101010101" charset="-122"/>
                <a:sym typeface="汉仪旗黑X1-75W" panose="00020600040101010101" pitchFamily="18" charset="-122"/>
              </a:rPr>
              <a:t>02</a:t>
            </a:r>
            <a:endParaRPr lang="zh-CN" altLang="en-US" sz="2400" b="1" dirty="0">
              <a:solidFill>
                <a:srgbClr val="00633D"/>
              </a:solidFill>
              <a:latin typeface="黑体" panose="02010609060101010101" charset="-122"/>
              <a:ea typeface="黑体" panose="02010609060101010101" charset="-122"/>
              <a:sym typeface="汉仪旗黑X1-75W" panose="00020600040101010101" pitchFamily="18" charset="-122"/>
            </a:endParaRPr>
          </a:p>
        </p:txBody>
      </p:sp>
      <p:sp>
        <p:nvSpPr>
          <p:cNvPr id="96" name="文本框 95"/>
          <p:cNvSpPr txBox="1"/>
          <p:nvPr>
            <p:custDataLst>
              <p:tags r:id="rId6"/>
            </p:custDataLst>
          </p:nvPr>
        </p:nvSpPr>
        <p:spPr>
          <a:xfrm>
            <a:off x="1753807" y="3436977"/>
            <a:ext cx="3230173" cy="460375"/>
          </a:xfrm>
          <a:prstGeom prst="rect">
            <a:avLst/>
          </a:prstGeom>
          <a:noFill/>
        </p:spPr>
        <p:txBody>
          <a:bodyPr wrap="square">
            <a:spAutoFit/>
          </a:bodyPr>
          <a:lstStyle/>
          <a:p>
            <a:r>
              <a:rPr lang="zh-CN" altLang="en-US" sz="2400" b="1" dirty="0">
                <a:solidFill>
                  <a:srgbClr val="00633D"/>
                </a:solidFill>
                <a:latin typeface="黑体" panose="02010609060101010101" charset="-122"/>
                <a:ea typeface="黑体" panose="02010609060101010101" charset="-122"/>
                <a:sym typeface="汉仪旗黑X1-75W" panose="00020600040101010101" pitchFamily="18" charset="-122"/>
              </a:rPr>
              <a:t>研究结果</a:t>
            </a:r>
          </a:p>
        </p:txBody>
      </p:sp>
      <p:sp>
        <p:nvSpPr>
          <p:cNvPr id="97" name="矩形 96"/>
          <p:cNvSpPr/>
          <p:nvPr>
            <p:custDataLst>
              <p:tags r:id="rId7"/>
            </p:custDataLst>
          </p:nvPr>
        </p:nvSpPr>
        <p:spPr>
          <a:xfrm>
            <a:off x="1249045" y="1890395"/>
            <a:ext cx="9734550" cy="1504386"/>
          </a:xfrm>
          <a:prstGeom prst="rect">
            <a:avLst/>
          </a:prstGeom>
        </p:spPr>
        <p:txBody>
          <a:bodyPr wrap="square">
            <a:spAutoFit/>
          </a:bodyPr>
          <a:lstStyle/>
          <a:p>
            <a:pPr algn="just" fontAlgn="auto">
              <a:lnSpc>
                <a:spcPct val="130000"/>
              </a:lnSpc>
            </a:pPr>
            <a:r>
              <a:rPr lang="zh-CN" altLang="en-US" dirty="0"/>
              <a:t>    本部分研究探讨了分数阶傅里叶变换预处理输入信号对神经网络性能的影响。分数阶傅里叶变换是一种具有参数</a:t>
            </a:r>
            <a:r>
              <a:rPr lang="en-US" altLang="zh-CN" dirty="0"/>
              <a:t>α</a:t>
            </a:r>
            <a:r>
              <a:rPr lang="zh-CN" altLang="en-US" dirty="0"/>
              <a:t>的傅里叶变换的推广，通过合理选择该参数，可以整体提高神经网络的性能。以基于声纳返回的不同类型目标的识别和位置估计为例，处理从真实声纳系统获取的原始幅度和飞行时间模式，展示了在目标识别和位置估计方面的误差降低。</a:t>
            </a:r>
            <a:endParaRPr lang="zh-CN" sz="1600" dirty="0">
              <a:solidFill>
                <a:schemeClr val="tx1">
                  <a:lumMod val="75000"/>
                  <a:lumOff val="25000"/>
                </a:schemeClr>
              </a:solidFill>
              <a:latin typeface="等线" panose="02010600030101010101" charset="-122"/>
              <a:ea typeface="等线" panose="02010600030101010101" charset="-122"/>
              <a:cs typeface="微软雅黑" panose="020B0503020204020204" charset="-122"/>
              <a:sym typeface="+mn-lt"/>
            </a:endParaRPr>
          </a:p>
        </p:txBody>
      </p:sp>
      <p:sp>
        <p:nvSpPr>
          <p:cNvPr id="2" name="矩形 1"/>
          <p:cNvSpPr/>
          <p:nvPr/>
        </p:nvSpPr>
        <p:spPr>
          <a:xfrm>
            <a:off x="1753807" y="1298680"/>
            <a:ext cx="2350323" cy="461665"/>
          </a:xfrm>
          <a:prstGeom prst="rect">
            <a:avLst/>
          </a:prstGeom>
        </p:spPr>
        <p:txBody>
          <a:bodyPr wrap="none">
            <a:spAutoFit/>
          </a:bodyPr>
          <a:lstStyle/>
          <a:p>
            <a:r>
              <a:rPr lang="zh-CN" altLang="en-US" sz="2400" b="1" dirty="0">
                <a:solidFill>
                  <a:srgbClr val="00633D"/>
                </a:solidFill>
                <a:latin typeface="黑体" panose="02010609060101010101" charset="-122"/>
                <a:ea typeface="黑体" panose="02010609060101010101" charset="-122"/>
              </a:rPr>
              <a:t>研究内容与方法</a:t>
            </a:r>
          </a:p>
        </p:txBody>
      </p:sp>
      <p:sp>
        <p:nvSpPr>
          <p:cNvPr id="26" name="文本框 25"/>
          <p:cNvSpPr txBox="1"/>
          <p:nvPr>
            <p:custDataLst>
              <p:tags r:id="rId8"/>
            </p:custDataLst>
          </p:nvPr>
        </p:nvSpPr>
        <p:spPr>
          <a:xfrm>
            <a:off x="1053402" y="1310347"/>
            <a:ext cx="700405" cy="461665"/>
          </a:xfrm>
          <a:prstGeom prst="rect">
            <a:avLst/>
          </a:prstGeom>
          <a:noFill/>
        </p:spPr>
        <p:txBody>
          <a:bodyPr wrap="square">
            <a:spAutoFit/>
          </a:bodyPr>
          <a:lstStyle/>
          <a:p>
            <a:r>
              <a:rPr lang="en-US" altLang="zh-CN" sz="2400" b="1" dirty="0">
                <a:solidFill>
                  <a:srgbClr val="00633D"/>
                </a:solidFill>
                <a:latin typeface="黑体" panose="02010609060101010101" charset="-122"/>
                <a:ea typeface="黑体" panose="02010609060101010101" charset="-122"/>
                <a:sym typeface="汉仪旗黑X1-75W" panose="00020600040101010101" pitchFamily="18" charset="-122"/>
              </a:rPr>
              <a:t>01</a:t>
            </a:r>
            <a:endParaRPr lang="zh-CN" altLang="en-US" sz="2400" b="1" dirty="0">
              <a:solidFill>
                <a:srgbClr val="00633D"/>
              </a:solidFill>
              <a:latin typeface="黑体" panose="02010609060101010101" charset="-122"/>
              <a:ea typeface="黑体" panose="02010609060101010101" charset="-122"/>
              <a:sym typeface="汉仪旗黑X1-75W" panose="00020600040101010101" pitchFamily="18" charset="-122"/>
            </a:endParaRPr>
          </a:p>
        </p:txBody>
      </p:sp>
      <p:sp>
        <p:nvSpPr>
          <p:cNvPr id="13" name="文本框 12"/>
          <p:cNvSpPr txBox="1"/>
          <p:nvPr/>
        </p:nvSpPr>
        <p:spPr>
          <a:xfrm>
            <a:off x="1249045" y="4095216"/>
            <a:ext cx="9734550" cy="1864485"/>
          </a:xfrm>
          <a:prstGeom prst="rect">
            <a:avLst/>
          </a:prstGeom>
          <a:noFill/>
        </p:spPr>
        <p:txBody>
          <a:bodyPr wrap="square">
            <a:spAutoFit/>
          </a:bodyPr>
          <a:lstStyle/>
          <a:p>
            <a:pPr algn="l">
              <a:lnSpc>
                <a:spcPct val="130000"/>
              </a:lnSpc>
              <a:spcBef>
                <a:spcPts val="1030"/>
              </a:spcBef>
              <a:spcAft>
                <a:spcPts val="1030"/>
              </a:spcAft>
            </a:pPr>
            <a:r>
              <a:rPr lang="en-US" altLang="zh-CN" dirty="0"/>
              <a:t>    </a:t>
            </a:r>
            <a:r>
              <a:rPr lang="zh-CN" altLang="zh-CN" dirty="0"/>
              <a:t>实验中，构建了一个包含输入层、隐藏层和输出层的神经网络。输入层神经元的数量由输入信号的样本总数决定，隐藏层平均使用了</a:t>
            </a:r>
            <a:r>
              <a:rPr lang="en-US" altLang="zh-CN" dirty="0"/>
              <a:t>79</a:t>
            </a:r>
            <a:r>
              <a:rPr lang="zh-CN" altLang="zh-CN" dirty="0"/>
              <a:t>个神经元，输出层神经元为</a:t>
            </a:r>
            <a:r>
              <a:rPr lang="en-US" altLang="zh-CN" dirty="0"/>
              <a:t>21</a:t>
            </a:r>
            <a:r>
              <a:rPr lang="zh-CN" altLang="zh-CN" dirty="0"/>
              <a:t>个。结果显示，在没有预处理的情况下，分类错误平均为</a:t>
            </a:r>
            <a:r>
              <a:rPr lang="en-US" altLang="zh-CN" dirty="0"/>
              <a:t>14%</a:t>
            </a:r>
            <a:r>
              <a:rPr lang="zh-CN" altLang="zh-CN" dirty="0"/>
              <a:t>，而使用普通离散傅里叶变换（</a:t>
            </a:r>
            <a:r>
              <a:rPr lang="en-US" altLang="zh-CN" dirty="0"/>
              <a:t>DFT</a:t>
            </a:r>
            <a:r>
              <a:rPr lang="zh-CN" altLang="zh-CN" dirty="0"/>
              <a:t>）预处理和离散分数阶傅里叶变换（</a:t>
            </a:r>
            <a:r>
              <a:rPr lang="en-US" altLang="zh-CN" dirty="0"/>
              <a:t>DFRT</a:t>
            </a:r>
            <a:r>
              <a:rPr lang="zh-CN" altLang="zh-CN" dirty="0"/>
              <a:t>）预处理后，错误率分别为</a:t>
            </a:r>
            <a:r>
              <a:rPr lang="en-US" altLang="zh-CN" dirty="0"/>
              <a:t>5%</a:t>
            </a:r>
            <a:r>
              <a:rPr lang="zh-CN" altLang="zh-CN" dirty="0"/>
              <a:t>和</a:t>
            </a:r>
            <a:r>
              <a:rPr lang="en-US" altLang="zh-CN" dirty="0"/>
              <a:t>0%</a:t>
            </a:r>
            <a:r>
              <a:rPr lang="zh-CN" altLang="zh-CN" dirty="0"/>
              <a:t>。这表明</a:t>
            </a:r>
            <a:r>
              <a:rPr lang="en-US" altLang="zh-CN" dirty="0"/>
              <a:t>DFRT</a:t>
            </a:r>
            <a:r>
              <a:rPr lang="zh-CN" altLang="zh-CN" dirty="0"/>
              <a:t>预处理相比没有预处理和</a:t>
            </a:r>
            <a:r>
              <a:rPr lang="en-US" altLang="zh-CN" dirty="0"/>
              <a:t>DFT</a:t>
            </a:r>
            <a:r>
              <a:rPr lang="zh-CN" altLang="zh-CN" dirty="0"/>
              <a:t>预处理，在目标识别和位置估计方面都有显著的改进。</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2"/>
            </p:custDataLst>
          </p:nvPr>
        </p:nvSpPr>
        <p:spPr>
          <a:xfrm>
            <a:off x="0" y="0"/>
            <a:ext cx="12201525" cy="68453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descr="校徽+南京师范大学(白)"/>
          <p:cNvPicPr>
            <a:picLocks noChangeAspect="1"/>
          </p:cNvPicPr>
          <p:nvPr>
            <p:custDataLst>
              <p:tags r:id="rId3"/>
            </p:custDataLst>
          </p:nvPr>
        </p:nvPicPr>
        <p:blipFill>
          <a:blip r:embed="rId6"/>
          <a:stretch>
            <a:fillRect/>
          </a:stretch>
        </p:blipFill>
        <p:spPr>
          <a:xfrm>
            <a:off x="9427845" y="-587375"/>
            <a:ext cx="2764155" cy="1955165"/>
          </a:xfrm>
          <a:prstGeom prst="rect">
            <a:avLst/>
          </a:prstGeom>
        </p:spPr>
      </p:pic>
      <p:sp>
        <p:nvSpPr>
          <p:cNvPr id="10" name="文本框 9"/>
          <p:cNvSpPr txBox="1"/>
          <p:nvPr/>
        </p:nvSpPr>
        <p:spPr>
          <a:xfrm>
            <a:off x="226060" y="109855"/>
            <a:ext cx="4293522" cy="461665"/>
          </a:xfrm>
          <a:prstGeom prst="rect">
            <a:avLst/>
          </a:prstGeom>
          <a:noFill/>
        </p:spPr>
        <p:txBody>
          <a:bodyPr wrap="square" rtlCol="0">
            <a:spAutoFit/>
          </a:bodyPr>
          <a:lstStyle/>
          <a:p>
            <a:r>
              <a:rPr lang="zh-CN" altLang="en-US" sz="2400" b="1" dirty="0">
                <a:solidFill>
                  <a:schemeClr val="bg1"/>
                </a:solidFill>
                <a:latin typeface="微软雅黑" panose="020B0503020204020204" charset="-122"/>
                <a:ea typeface="微软雅黑" panose="020B0503020204020204" charset="-122"/>
              </a:rPr>
              <a:t>改进与优化</a:t>
            </a:r>
            <a:endParaRPr lang="zh-CN" altLang="zh-CN" sz="2400" b="1" dirty="0">
              <a:solidFill>
                <a:schemeClr val="bg1"/>
              </a:solidFill>
              <a:latin typeface="微软雅黑" panose="020B0503020204020204" charset="-122"/>
              <a:ea typeface="微软雅黑" panose="020B0503020204020204" charset="-122"/>
            </a:endParaRPr>
          </a:p>
        </p:txBody>
      </p:sp>
      <p:sp>
        <p:nvSpPr>
          <p:cNvPr id="11" name="矩形 10"/>
          <p:cNvSpPr/>
          <p:nvPr>
            <p:custDataLst>
              <p:tags r:id="rId4"/>
            </p:custDataLst>
          </p:nvPr>
        </p:nvSpPr>
        <p:spPr>
          <a:xfrm>
            <a:off x="-9525" y="6738620"/>
            <a:ext cx="12201525" cy="1193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6" name="文本框 15"/>
              <p:cNvSpPr txBox="1"/>
              <p:nvPr/>
            </p:nvSpPr>
            <p:spPr>
              <a:xfrm>
                <a:off x="979034" y="1367790"/>
                <a:ext cx="7478486" cy="860107"/>
              </a:xfrm>
              <a:prstGeom prst="rect">
                <a:avLst/>
              </a:prstGeom>
              <a:noFill/>
            </p:spPr>
            <p:txBody>
              <a:bodyPr wrap="square">
                <a:spAutoFit/>
              </a:bodyPr>
              <a:lstStyle/>
              <a:p>
                <a:pPr indent="279400" algn="l">
                  <a:lnSpc>
                    <a:spcPct val="130000"/>
                  </a:lnSpc>
                  <a:spcBef>
                    <a:spcPts val="1200"/>
                  </a:spcBef>
                </a:pPr>
                <a:r>
                  <a:rPr lang="zh-CN" altLang="zh-CN" sz="2000" kern="100" dirty="0">
                    <a:solidFill>
                      <a:srgbClr val="000000"/>
                    </a:solidFill>
                    <a:effectLst/>
                    <a:latin typeface="等线" panose="02010600030101010101" charset="-122"/>
                    <a:ea typeface="等线" panose="02010600030101010101" charset="-122"/>
                    <a:cs typeface="Times New Roman" panose="02020603050405020304" pitchFamily="18" charset="0"/>
                  </a:rPr>
                  <a:t>为了进一步说明分数阶傅里叶变换如何影响神经网络的性能，考虑信号</a:t>
                </a:r>
                <a14:m>
                  <m:oMath xmlns:m="http://schemas.openxmlformats.org/officeDocument/2006/math">
                    <m:r>
                      <a:rPr lang="en-US" altLang="zh-CN" sz="2000" i="1" kern="100">
                        <a:solidFill>
                          <a:srgbClr val="000000"/>
                        </a:solidFill>
                        <a:effectLst/>
                        <a:latin typeface="Cambria Math" panose="02040503050406030204" pitchFamily="18" charset="0"/>
                        <a:ea typeface="等线" panose="02010600030101010101" charset="-122"/>
                        <a:cs typeface="Times New Roman" panose="02020603050405020304" pitchFamily="18" charset="0"/>
                      </a:rPr>
                      <m:t>𝑓</m:t>
                    </m:r>
                    <m:d>
                      <m:d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solidFill>
                              <a:srgbClr val="000000"/>
                            </a:solidFill>
                            <a:effectLst/>
                            <a:latin typeface="Cambria Math" panose="02040503050406030204" pitchFamily="18" charset="0"/>
                            <a:ea typeface="等线" panose="02010600030101010101" charset="-122"/>
                            <a:cs typeface="Times New Roman" panose="02020603050405020304" pitchFamily="18" charset="0"/>
                          </a:rPr>
                          <m:t>𝑢</m:t>
                        </m:r>
                      </m:e>
                    </m:d>
                  </m:oMath>
                </a14:m>
                <a:r>
                  <a:rPr lang="en-US" altLang="zh-CN" sz="2000" kern="100" dirty="0">
                    <a:solidFill>
                      <a:srgbClr val="000000"/>
                    </a:solidFill>
                    <a:effectLst/>
                    <a:latin typeface="等线" panose="02010600030101010101" charset="-122"/>
                    <a:ea typeface="等线" panose="02010600030101010101" charset="-122"/>
                    <a:cs typeface="Times New Roman" panose="02020603050405020304" pitchFamily="18" charset="0"/>
                  </a:rPr>
                  <a:t> </a:t>
                </a:r>
                <a:r>
                  <a:rPr lang="zh-CN" altLang="zh-CN" sz="2000" kern="100" dirty="0">
                    <a:solidFill>
                      <a:srgbClr val="000000"/>
                    </a:solidFill>
                    <a:effectLst/>
                    <a:latin typeface="等线" panose="02010600030101010101" charset="-122"/>
                    <a:ea typeface="等线" panose="02010600030101010101" charset="-122"/>
                    <a:cs typeface="Times New Roman" panose="02020603050405020304" pitchFamily="18" charset="0"/>
                  </a:rPr>
                  <a:t>在经过分数阶傅里叶变换后的表达式：</a:t>
                </a:r>
                <a:endParaRPr lang="zh-CN" altLang="zh-CN" sz="2000" kern="100" dirty="0">
                  <a:effectLst/>
                  <a:latin typeface="等线" panose="02010600030101010101" charset="-122"/>
                  <a:ea typeface="等线" panose="02010600030101010101" charset="-122"/>
                  <a:cs typeface="Times New Roman" panose="02020603050405020304" pitchFamily="18" charset="0"/>
                </a:endParaRPr>
              </a:p>
            </p:txBody>
          </p:sp>
        </mc:Choice>
        <mc:Fallback xmlns="">
          <p:sp>
            <p:nvSpPr>
              <p:cNvPr id="16" name="文本框 15"/>
              <p:cNvSpPr txBox="1">
                <a:spLocks noRot="1" noChangeAspect="1" noMove="1" noResize="1" noEditPoints="1" noAdjustHandles="1" noChangeArrowheads="1" noChangeShapeType="1" noTextEdit="1"/>
              </p:cNvSpPr>
              <p:nvPr/>
            </p:nvSpPr>
            <p:spPr>
              <a:xfrm>
                <a:off x="979034" y="1367790"/>
                <a:ext cx="7478486" cy="860107"/>
              </a:xfrm>
              <a:prstGeom prst="rect">
                <a:avLst/>
              </a:prstGeom>
              <a:blipFill rotWithShape="1">
                <a:blip r:embed="rId7"/>
                <a:stretch>
                  <a:fillRect l="-7" r="8" b="37"/>
                </a:stretch>
              </a:blipFill>
            </p:spPr>
            <p:txBody>
              <a:bodyPr/>
              <a:lstStyle/>
              <a:p>
                <a:r>
                  <a:rPr lang="zh-CN" altLang="en-US">
                    <a:noFill/>
                  </a:rPr>
                  <a:t> </a:t>
                </a:r>
              </a:p>
            </p:txBody>
          </p:sp>
        </mc:Fallback>
      </mc:AlternateContent>
      <p:pic>
        <p:nvPicPr>
          <p:cNvPr id="6" name="图片 5"/>
          <p:cNvPicPr>
            <a:picLocks noChangeAspect="1"/>
          </p:cNvPicPr>
          <p:nvPr/>
        </p:nvPicPr>
        <p:blipFill>
          <a:blip r:embed="rId8"/>
          <a:stretch>
            <a:fillRect/>
          </a:stretch>
        </p:blipFill>
        <p:spPr>
          <a:xfrm>
            <a:off x="1502037" y="2551889"/>
            <a:ext cx="6955483" cy="1507380"/>
          </a:xfrm>
          <a:prstGeom prst="rect">
            <a:avLst/>
          </a:prstGeom>
        </p:spPr>
      </p:pic>
      <mc:AlternateContent xmlns:mc="http://schemas.openxmlformats.org/markup-compatibility/2006" xmlns:a14="http://schemas.microsoft.com/office/drawing/2010/main">
        <mc:Choice Requires="a14">
          <p:sp>
            <p:nvSpPr>
              <p:cNvPr id="18" name="文本框 17"/>
              <p:cNvSpPr txBox="1"/>
              <p:nvPr/>
            </p:nvSpPr>
            <p:spPr>
              <a:xfrm>
                <a:off x="1166750" y="4379306"/>
                <a:ext cx="7478485" cy="1260217"/>
              </a:xfrm>
              <a:prstGeom prst="rect">
                <a:avLst/>
              </a:prstGeom>
              <a:noFill/>
            </p:spPr>
            <p:txBody>
              <a:bodyPr wrap="square">
                <a:spAutoFit/>
              </a:bodyPr>
              <a:lstStyle/>
              <a:p>
                <a:pPr indent="279400" algn="l">
                  <a:lnSpc>
                    <a:spcPct val="130000"/>
                  </a:lnSpc>
                  <a:spcBef>
                    <a:spcPts val="1200"/>
                  </a:spcBef>
                </a:pPr>
                <a:r>
                  <a:rPr lang="zh-CN" altLang="zh-CN" sz="2000" kern="100" dirty="0">
                    <a:solidFill>
                      <a:srgbClr val="000000"/>
                    </a:solidFill>
                    <a:latin typeface="等线" panose="02010600030101010101" charset="-122"/>
                    <a:ea typeface="等线" panose="02010600030101010101" charset="-122"/>
                    <a:cs typeface="Times New Roman" panose="02020603050405020304" pitchFamily="18" charset="0"/>
                  </a:rPr>
                  <a:t>这个表达式显示了如何通过调整参数</a:t>
                </a:r>
                <a14:m>
                  <m:oMath xmlns:m="http://schemas.openxmlformats.org/officeDocument/2006/math">
                    <m:r>
                      <a:rPr lang="en-US" altLang="zh-CN" sz="2000" kern="100">
                        <a:solidFill>
                          <a:srgbClr val="000000"/>
                        </a:solidFill>
                        <a:latin typeface="Cambria Math" panose="02040503050406030204" pitchFamily="18" charset="0"/>
                        <a:ea typeface="等线" panose="02010600030101010101" charset="-122"/>
                        <a:cs typeface="Times New Roman" panose="02020603050405020304" pitchFamily="18" charset="0"/>
                      </a:rPr>
                      <m:t>𝛼</m:t>
                    </m:r>
                  </m:oMath>
                </a14:m>
                <a:r>
                  <a:rPr lang="zh-CN" altLang="zh-CN" sz="2000" kern="100" dirty="0">
                    <a:solidFill>
                      <a:srgbClr val="000000"/>
                    </a:solidFill>
                    <a:latin typeface="等线" panose="02010600030101010101" charset="-122"/>
                    <a:ea typeface="等线" panose="02010600030101010101" charset="-122"/>
                    <a:cs typeface="Times New Roman" panose="02020603050405020304" pitchFamily="18" charset="0"/>
                  </a:rPr>
                  <a:t>来改变信号的时频特性，从而提高神经网络对信号的分类和定位能力。通过优化</a:t>
                </a:r>
                <a14:m>
                  <m:oMath xmlns:m="http://schemas.openxmlformats.org/officeDocument/2006/math">
                    <m:r>
                      <a:rPr lang="en-US" altLang="zh-CN" sz="2000" kern="100">
                        <a:solidFill>
                          <a:srgbClr val="000000"/>
                        </a:solidFill>
                        <a:latin typeface="Cambria Math" panose="02040503050406030204" pitchFamily="18" charset="0"/>
                        <a:ea typeface="等线" panose="02010600030101010101" charset="-122"/>
                        <a:cs typeface="Times New Roman" panose="02020603050405020304" pitchFamily="18" charset="0"/>
                      </a:rPr>
                      <m:t>𝛼</m:t>
                    </m:r>
                  </m:oMath>
                </a14:m>
                <a:r>
                  <a:rPr lang="zh-CN" altLang="zh-CN" sz="2000" kern="100" dirty="0">
                    <a:solidFill>
                      <a:srgbClr val="000000"/>
                    </a:solidFill>
                    <a:latin typeface="等线" panose="02010600030101010101" charset="-122"/>
                    <a:ea typeface="等线" panose="02010600030101010101" charset="-122"/>
                    <a:cs typeface="Times New Roman" panose="02020603050405020304" pitchFamily="18" charset="0"/>
                  </a:rPr>
                  <a:t>，我们可以最小化分类误差</a:t>
                </a:r>
                <a14:m>
                  <m:oMath xmlns:m="http://schemas.openxmlformats.org/officeDocument/2006/math">
                    <m:r>
                      <m:rPr>
                        <m:sty m:val="p"/>
                      </m:rPr>
                      <a:rPr lang="en-US" altLang="zh-CN" sz="2000" kern="100">
                        <a:solidFill>
                          <a:srgbClr val="000000"/>
                        </a:solidFill>
                        <a:latin typeface="Cambria Math" panose="02040503050406030204" pitchFamily="18" charset="0"/>
                        <a:ea typeface="等线" panose="02010600030101010101" charset="-122"/>
                        <a:cs typeface="Times New Roman" panose="02020603050405020304" pitchFamily="18" charset="0"/>
                      </a:rPr>
                      <m:t>Error</m:t>
                    </m:r>
                    <m:r>
                      <a:rPr lang="en-US" altLang="zh-CN" sz="2000"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sz="2000" kern="100">
                        <a:solidFill>
                          <a:srgbClr val="000000"/>
                        </a:solidFill>
                        <a:latin typeface="Cambria Math" panose="02040503050406030204" pitchFamily="18" charset="0"/>
                        <a:ea typeface="等线" panose="02010600030101010101" charset="-122"/>
                        <a:cs typeface="Times New Roman" panose="02020603050405020304" pitchFamily="18" charset="0"/>
                      </a:rPr>
                      <m:t>𝛼</m:t>
                    </m:r>
                    <m:r>
                      <a:rPr lang="en-US" altLang="zh-CN" sz="2000" kern="100">
                        <a:solidFill>
                          <a:srgbClr val="000000"/>
                        </a:solidFill>
                        <a:latin typeface="Cambria Math" panose="02040503050406030204" pitchFamily="18" charset="0"/>
                        <a:ea typeface="等线" panose="02010600030101010101" charset="-122"/>
                        <a:cs typeface="Times New Roman" panose="02020603050405020304" pitchFamily="18" charset="0"/>
                      </a:rPr>
                      <m:t>)</m:t>
                    </m:r>
                  </m:oMath>
                </a14:m>
                <a:r>
                  <a:rPr lang="zh-CN" altLang="zh-CN" sz="2000" kern="100" dirty="0">
                    <a:solidFill>
                      <a:srgbClr val="000000"/>
                    </a:solidFill>
                    <a:latin typeface="等线" panose="02010600030101010101" charset="-122"/>
                    <a:ea typeface="等线" panose="02010600030101010101" charset="-122"/>
                    <a:cs typeface="Times New Roman" panose="02020603050405020304" pitchFamily="18" charset="0"/>
                  </a:rPr>
                  <a:t>，从而提高神经网络的性能。</a:t>
                </a:r>
              </a:p>
            </p:txBody>
          </p:sp>
        </mc:Choice>
        <mc:Fallback xmlns="">
          <p:sp>
            <p:nvSpPr>
              <p:cNvPr id="18" name="文本框 17"/>
              <p:cNvSpPr txBox="1">
                <a:spLocks noRot="1" noChangeAspect="1" noMove="1" noResize="1" noEditPoints="1" noAdjustHandles="1" noChangeArrowheads="1" noChangeShapeType="1" noTextEdit="1"/>
              </p:cNvSpPr>
              <p:nvPr/>
            </p:nvSpPr>
            <p:spPr>
              <a:xfrm>
                <a:off x="1166750" y="4379306"/>
                <a:ext cx="7478485" cy="1260217"/>
              </a:xfrm>
              <a:prstGeom prst="rect">
                <a:avLst/>
              </a:prstGeom>
              <a:blipFill rotWithShape="1">
                <a:blip r:embed="rId9"/>
                <a:stretch>
                  <a:fillRect l="-3" t="-27" r="5" b="7"/>
                </a:stretch>
              </a:blipFill>
            </p:spPr>
            <p:txBody>
              <a:bodyPr/>
              <a:lstStyle/>
              <a:p>
                <a:r>
                  <a:rPr lang="zh-CN" altLang="en-US">
                    <a:noFill/>
                  </a:rPr>
                  <a:t> </a:t>
                </a:r>
              </a:p>
            </p:txBody>
          </p:sp>
        </mc:Fallback>
      </mc:AlternateContent>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2"/>
            </p:custDataLst>
          </p:nvPr>
        </p:nvSpPr>
        <p:spPr>
          <a:xfrm>
            <a:off x="-13970" y="1840230"/>
            <a:ext cx="12201525" cy="25196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3"/>
            </p:custDataLst>
          </p:nvPr>
        </p:nvSpPr>
        <p:spPr>
          <a:xfrm>
            <a:off x="4601210" y="991235"/>
            <a:ext cx="2990215" cy="645160"/>
          </a:xfrm>
          <a:prstGeom prst="rect">
            <a:avLst/>
          </a:prstGeom>
          <a:noFill/>
        </p:spPr>
        <p:txBody>
          <a:bodyPr wrap="square" rtlCol="0">
            <a:spAutoFit/>
          </a:bodyPr>
          <a:lstStyle/>
          <a:p>
            <a:pPr algn="ctr"/>
            <a:r>
              <a:rPr lang="en-US" altLang="zh-CN" sz="3600" b="1">
                <a:solidFill>
                  <a:srgbClr val="00633D"/>
                </a:solidFill>
                <a:latin typeface="微软雅黑" panose="020B0503020204020204" charset="-122"/>
                <a:ea typeface="微软雅黑" panose="020B0503020204020204" charset="-122"/>
              </a:rPr>
              <a:t>Part.03</a:t>
            </a:r>
          </a:p>
        </p:txBody>
      </p:sp>
      <p:sp>
        <p:nvSpPr>
          <p:cNvPr id="3" name="文本框 2"/>
          <p:cNvSpPr txBox="1"/>
          <p:nvPr>
            <p:custDataLst>
              <p:tags r:id="rId4"/>
            </p:custDataLst>
          </p:nvPr>
        </p:nvSpPr>
        <p:spPr>
          <a:xfrm>
            <a:off x="0" y="2599343"/>
            <a:ext cx="12300718" cy="523220"/>
          </a:xfrm>
          <a:prstGeom prst="rect">
            <a:avLst/>
          </a:prstGeom>
          <a:noFill/>
        </p:spPr>
        <p:txBody>
          <a:bodyPr wrap="square" rtlCol="0">
            <a:spAutoFit/>
          </a:bodyPr>
          <a:lstStyle/>
          <a:p>
            <a:pPr algn="ctr"/>
            <a:r>
              <a:rPr lang="zh-CN" altLang="zh-CN" sz="2800" b="1" dirty="0">
                <a:solidFill>
                  <a:schemeClr val="bg1"/>
                </a:solidFill>
              </a:rPr>
              <a:t>基于最优短时分数阶傅里叶变换的分段</a:t>
            </a:r>
            <a:r>
              <a:rPr lang="en-US" altLang="zh-CN" sz="2800" b="1" dirty="0">
                <a:solidFill>
                  <a:schemeClr val="bg1"/>
                </a:solidFill>
              </a:rPr>
              <a:t>LFM</a:t>
            </a:r>
            <a:r>
              <a:rPr lang="zh-CN" altLang="zh-CN" sz="2800" b="1" dirty="0">
                <a:solidFill>
                  <a:schemeClr val="bg1"/>
                </a:solidFill>
              </a:rPr>
              <a:t>信号检测方法</a:t>
            </a:r>
          </a:p>
        </p:txBody>
      </p:sp>
      <p:sp>
        <p:nvSpPr>
          <p:cNvPr id="5" name="文本框 4"/>
          <p:cNvSpPr txBox="1"/>
          <p:nvPr>
            <p:custDataLst>
              <p:tags r:id="rId5"/>
            </p:custDataLst>
          </p:nvPr>
        </p:nvSpPr>
        <p:spPr>
          <a:xfrm>
            <a:off x="203847" y="3261370"/>
            <a:ext cx="11983707" cy="707886"/>
          </a:xfrm>
          <a:prstGeom prst="rect">
            <a:avLst/>
          </a:prstGeom>
          <a:noFill/>
        </p:spPr>
        <p:txBody>
          <a:bodyPr wrap="square" rtlCol="0">
            <a:spAutoFit/>
          </a:bodyPr>
          <a:lstStyle/>
          <a:p>
            <a:pPr algn="ctr"/>
            <a:r>
              <a:rPr lang="en-US" altLang="zh-CN" sz="2000" dirty="0">
                <a:solidFill>
                  <a:srgbClr val="FFFFFF"/>
                </a:solidFill>
                <a:latin typeface="+mj-ea"/>
                <a:ea typeface="+mj-ea"/>
              </a:rPr>
              <a:t>The Segmented LFM Signal Detection Method Based on Optimal Short-Time Fractional Fourier Transform (STFRFT) Optimization Model</a:t>
            </a:r>
            <a:endParaRPr lang="zh-CN" altLang="en-US" sz="2000" dirty="0">
              <a:solidFill>
                <a:srgbClr val="FFFFFF"/>
              </a:solidFill>
              <a:latin typeface="+mj-ea"/>
              <a:ea typeface="+mj-ea"/>
            </a:endParaRPr>
          </a:p>
        </p:txBody>
      </p:sp>
      <p:pic>
        <p:nvPicPr>
          <p:cNvPr id="6" name="图片 5" descr="校徽+南京师范大学"/>
          <p:cNvPicPr>
            <a:picLocks noChangeAspect="1"/>
          </p:cNvPicPr>
          <p:nvPr>
            <p:custDataLst>
              <p:tags r:id="rId6"/>
            </p:custDataLst>
          </p:nvPr>
        </p:nvPicPr>
        <p:blipFill>
          <a:blip r:embed="rId8"/>
          <a:srcRect t="33231" b="38380"/>
          <a:stretch>
            <a:fillRect/>
          </a:stretch>
        </p:blipFill>
        <p:spPr>
          <a:xfrm>
            <a:off x="4601210" y="4655820"/>
            <a:ext cx="3127375" cy="628015"/>
          </a:xfrm>
          <a:prstGeom prst="rect">
            <a:avLst/>
          </a:prstGeom>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34925" y="-17145"/>
            <a:ext cx="3890645" cy="6915150"/>
          </a:xfrm>
          <a:prstGeom prst="rect">
            <a:avLst/>
          </a:prstGeom>
          <a:solidFill>
            <a:srgbClr val="0063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821690" y="2533015"/>
            <a:ext cx="2176780" cy="1106805"/>
          </a:xfrm>
          <a:prstGeom prst="rect">
            <a:avLst/>
          </a:prstGeom>
          <a:noFill/>
        </p:spPr>
        <p:txBody>
          <a:bodyPr wrap="square" rtlCol="0">
            <a:spAutoFit/>
          </a:bodyPr>
          <a:lstStyle/>
          <a:p>
            <a:pPr algn="dist"/>
            <a:r>
              <a:rPr lang="zh-CN" altLang="en-US" sz="6600" b="1">
                <a:solidFill>
                  <a:srgbClr val="FFFFFF"/>
                </a:solidFill>
                <a:latin typeface="+mj-ea"/>
                <a:ea typeface="+mj-ea"/>
              </a:rPr>
              <a:t>目录</a:t>
            </a:r>
          </a:p>
        </p:txBody>
      </p:sp>
      <p:pic>
        <p:nvPicPr>
          <p:cNvPr id="21" name="图片 20" descr="校徽+南京师范大学(白)"/>
          <p:cNvPicPr>
            <a:picLocks noChangeAspect="1"/>
          </p:cNvPicPr>
          <p:nvPr/>
        </p:nvPicPr>
        <p:blipFill>
          <a:blip r:embed="rId12"/>
          <a:stretch>
            <a:fillRect/>
          </a:stretch>
        </p:blipFill>
        <p:spPr>
          <a:xfrm>
            <a:off x="414020" y="567055"/>
            <a:ext cx="2992755" cy="2116455"/>
          </a:xfrm>
          <a:prstGeom prst="rect">
            <a:avLst/>
          </a:prstGeom>
        </p:spPr>
      </p:pic>
      <p:sp>
        <p:nvSpPr>
          <p:cNvPr id="22" name="文本框 21"/>
          <p:cNvSpPr txBox="1"/>
          <p:nvPr>
            <p:custDataLst>
              <p:tags r:id="rId2"/>
            </p:custDataLst>
          </p:nvPr>
        </p:nvSpPr>
        <p:spPr>
          <a:xfrm>
            <a:off x="176530" y="3743325"/>
            <a:ext cx="3467735" cy="460375"/>
          </a:xfrm>
          <a:prstGeom prst="rect">
            <a:avLst/>
          </a:prstGeom>
          <a:noFill/>
        </p:spPr>
        <p:txBody>
          <a:bodyPr wrap="square" rtlCol="0">
            <a:spAutoFit/>
          </a:bodyPr>
          <a:lstStyle/>
          <a:p>
            <a:pPr algn="ctr"/>
            <a:r>
              <a:rPr lang="en-US" altLang="zh-CN" sz="2400" b="1">
                <a:solidFill>
                  <a:srgbClr val="FFFFFF"/>
                </a:solidFill>
                <a:latin typeface="+mj-ea"/>
                <a:ea typeface="+mj-ea"/>
              </a:rPr>
              <a:t>CONTENTS</a:t>
            </a:r>
          </a:p>
        </p:txBody>
      </p:sp>
      <p:grpSp>
        <p:nvGrpSpPr>
          <p:cNvPr id="27" name="组合 26"/>
          <p:cNvGrpSpPr/>
          <p:nvPr/>
        </p:nvGrpSpPr>
        <p:grpSpPr>
          <a:xfrm>
            <a:off x="5375910" y="1678610"/>
            <a:ext cx="5291455" cy="745490"/>
            <a:chOff x="8466" y="1062"/>
            <a:chExt cx="8333" cy="1174"/>
          </a:xfrm>
        </p:grpSpPr>
        <p:sp>
          <p:nvSpPr>
            <p:cNvPr id="23" name="椭圆 22"/>
            <p:cNvSpPr/>
            <p:nvPr/>
          </p:nvSpPr>
          <p:spPr>
            <a:xfrm>
              <a:off x="8466" y="1062"/>
              <a:ext cx="1134" cy="1134"/>
            </a:xfrm>
            <a:prstGeom prst="ellipse">
              <a:avLst/>
            </a:prstGeom>
            <a:solidFill>
              <a:srgbClr val="00885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8473" y="1218"/>
              <a:ext cx="1127" cy="822"/>
            </a:xfrm>
            <a:prstGeom prst="rect">
              <a:avLst/>
            </a:prstGeom>
            <a:noFill/>
          </p:spPr>
          <p:txBody>
            <a:bodyPr wrap="square" rtlCol="0">
              <a:spAutoFit/>
            </a:bodyPr>
            <a:lstStyle/>
            <a:p>
              <a:pPr algn="ctr"/>
              <a:r>
                <a:rPr lang="en-US" altLang="zh-CN" sz="2800" b="1">
                  <a:solidFill>
                    <a:srgbClr val="FFFFFF"/>
                  </a:solidFill>
                  <a:latin typeface="黑体" panose="02010609060101010101" charset="-122"/>
                  <a:ea typeface="黑体" panose="02010609060101010101" charset="-122"/>
                </a:rPr>
                <a:t>01</a:t>
              </a:r>
            </a:p>
          </p:txBody>
        </p:sp>
        <p:sp>
          <p:nvSpPr>
            <p:cNvPr id="25" name="圆角矩形 24"/>
            <p:cNvSpPr/>
            <p:nvPr/>
          </p:nvSpPr>
          <p:spPr>
            <a:xfrm>
              <a:off x="9799" y="1103"/>
              <a:ext cx="7000" cy="1133"/>
            </a:xfrm>
            <a:prstGeom prst="roundRect">
              <a:avLst>
                <a:gd name="adj" fmla="val 50000"/>
              </a:avLst>
            </a:prstGeom>
            <a:solidFill>
              <a:schemeClr val="bg2">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10944" y="1161"/>
              <a:ext cx="4709" cy="872"/>
            </a:xfrm>
            <a:prstGeom prst="rect">
              <a:avLst/>
            </a:prstGeom>
            <a:noFill/>
          </p:spPr>
          <p:txBody>
            <a:bodyPr wrap="square" rtlCol="0">
              <a:spAutoFit/>
            </a:bodyPr>
            <a:lstStyle/>
            <a:p>
              <a:pPr algn="dist"/>
              <a:r>
                <a:rPr lang="zh-CN" altLang="zh-CN" sz="3000" b="1" dirty="0">
                  <a:solidFill>
                    <a:srgbClr val="00633D"/>
                  </a:solidFill>
                  <a:latin typeface="微软雅黑" panose="020B0503020204020204" charset="-122"/>
                  <a:ea typeface="微软雅黑" panose="020B0503020204020204" charset="-122"/>
                </a:rPr>
                <a:t>相关理论补充</a:t>
              </a:r>
              <a:endParaRPr lang="zh-CN" altLang="en-US" sz="3000" b="1" dirty="0">
                <a:solidFill>
                  <a:srgbClr val="00633D"/>
                </a:solidFill>
                <a:latin typeface="微软雅黑" panose="020B0503020204020204" charset="-122"/>
                <a:ea typeface="微软雅黑" panose="020B0503020204020204" charset="-122"/>
              </a:endParaRPr>
            </a:p>
          </p:txBody>
        </p:sp>
      </p:grpSp>
      <p:grpSp>
        <p:nvGrpSpPr>
          <p:cNvPr id="28" name="组合 27"/>
          <p:cNvGrpSpPr/>
          <p:nvPr/>
        </p:nvGrpSpPr>
        <p:grpSpPr>
          <a:xfrm>
            <a:off x="5380355" y="2851455"/>
            <a:ext cx="5291455" cy="720090"/>
            <a:chOff x="8466" y="1062"/>
            <a:chExt cx="8333" cy="1134"/>
          </a:xfrm>
        </p:grpSpPr>
        <p:sp>
          <p:nvSpPr>
            <p:cNvPr id="29" name="椭圆 28"/>
            <p:cNvSpPr/>
            <p:nvPr>
              <p:custDataLst>
                <p:tags r:id="rId7"/>
              </p:custDataLst>
            </p:nvPr>
          </p:nvSpPr>
          <p:spPr>
            <a:xfrm>
              <a:off x="8466" y="1062"/>
              <a:ext cx="1134" cy="1134"/>
            </a:xfrm>
            <a:prstGeom prst="ellipse">
              <a:avLst/>
            </a:prstGeom>
            <a:solidFill>
              <a:srgbClr val="00885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custDataLst>
                <p:tags r:id="rId8"/>
              </p:custDataLst>
            </p:nvPr>
          </p:nvSpPr>
          <p:spPr>
            <a:xfrm>
              <a:off x="8473" y="1218"/>
              <a:ext cx="1127" cy="822"/>
            </a:xfrm>
            <a:prstGeom prst="rect">
              <a:avLst/>
            </a:prstGeom>
            <a:noFill/>
          </p:spPr>
          <p:txBody>
            <a:bodyPr wrap="square" rtlCol="0">
              <a:spAutoFit/>
            </a:bodyPr>
            <a:lstStyle/>
            <a:p>
              <a:pPr algn="ctr"/>
              <a:r>
                <a:rPr lang="en-US" altLang="zh-CN" sz="2800" b="1">
                  <a:solidFill>
                    <a:srgbClr val="FFFFFF"/>
                  </a:solidFill>
                  <a:latin typeface="黑体" panose="02010609060101010101" charset="-122"/>
                  <a:ea typeface="黑体" panose="02010609060101010101" charset="-122"/>
                </a:rPr>
                <a:t>02</a:t>
              </a:r>
            </a:p>
          </p:txBody>
        </p:sp>
        <p:sp>
          <p:nvSpPr>
            <p:cNvPr id="31" name="圆角矩形 30"/>
            <p:cNvSpPr/>
            <p:nvPr>
              <p:custDataLst>
                <p:tags r:id="rId9"/>
              </p:custDataLst>
            </p:nvPr>
          </p:nvSpPr>
          <p:spPr>
            <a:xfrm>
              <a:off x="9799" y="1062"/>
              <a:ext cx="7000" cy="1133"/>
            </a:xfrm>
            <a:prstGeom prst="roundRect">
              <a:avLst>
                <a:gd name="adj" fmla="val 50000"/>
              </a:avLst>
            </a:prstGeom>
            <a:solidFill>
              <a:schemeClr val="bg2">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custDataLst>
                <p:tags r:id="rId10"/>
              </p:custDataLst>
            </p:nvPr>
          </p:nvSpPr>
          <p:spPr>
            <a:xfrm>
              <a:off x="10061" y="1168"/>
              <a:ext cx="6462" cy="872"/>
            </a:xfrm>
            <a:prstGeom prst="rect">
              <a:avLst/>
            </a:prstGeom>
            <a:noFill/>
          </p:spPr>
          <p:txBody>
            <a:bodyPr wrap="square" rtlCol="0">
              <a:spAutoFit/>
            </a:bodyPr>
            <a:lstStyle/>
            <a:p>
              <a:pPr algn="dist"/>
              <a:r>
                <a:rPr lang="en-US" altLang="zh-CN" sz="3000" b="1" dirty="0">
                  <a:solidFill>
                    <a:srgbClr val="00633D"/>
                  </a:solidFill>
                  <a:latin typeface="微软雅黑" panose="020B0503020204020204" charset="-122"/>
                  <a:ea typeface="微软雅黑" panose="020B0503020204020204" charset="-122"/>
                </a:rPr>
                <a:t>ASTFRFT</a:t>
              </a:r>
              <a:r>
                <a:rPr lang="zh-CN" altLang="zh-CN" sz="3000" b="1" dirty="0">
                  <a:solidFill>
                    <a:srgbClr val="00633D"/>
                  </a:solidFill>
                  <a:latin typeface="微软雅黑" panose="020B0503020204020204" charset="-122"/>
                  <a:ea typeface="微软雅黑" panose="020B0503020204020204" charset="-122"/>
                </a:rPr>
                <a:t>原理和算法</a:t>
              </a:r>
              <a:endParaRPr lang="zh-CN" altLang="en-US" sz="3000" b="1" dirty="0">
                <a:solidFill>
                  <a:srgbClr val="00633D"/>
                </a:solidFill>
                <a:latin typeface="微软雅黑" panose="020B0503020204020204" charset="-122"/>
                <a:ea typeface="微软雅黑" panose="020B0503020204020204" charset="-122"/>
              </a:endParaRPr>
            </a:p>
          </p:txBody>
        </p:sp>
      </p:grpSp>
      <p:grpSp>
        <p:nvGrpSpPr>
          <p:cNvPr id="33" name="组合 32"/>
          <p:cNvGrpSpPr/>
          <p:nvPr/>
        </p:nvGrpSpPr>
        <p:grpSpPr>
          <a:xfrm>
            <a:off x="5375910" y="4054780"/>
            <a:ext cx="5824220" cy="720090"/>
            <a:chOff x="8466" y="1062"/>
            <a:chExt cx="9172" cy="1134"/>
          </a:xfrm>
        </p:grpSpPr>
        <p:sp>
          <p:nvSpPr>
            <p:cNvPr id="34" name="椭圆 33"/>
            <p:cNvSpPr/>
            <p:nvPr>
              <p:custDataLst>
                <p:tags r:id="rId3"/>
              </p:custDataLst>
            </p:nvPr>
          </p:nvSpPr>
          <p:spPr>
            <a:xfrm>
              <a:off x="8466" y="1062"/>
              <a:ext cx="1134" cy="1134"/>
            </a:xfrm>
            <a:prstGeom prst="ellipse">
              <a:avLst/>
            </a:prstGeom>
            <a:solidFill>
              <a:srgbClr val="00885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custDataLst>
                <p:tags r:id="rId4"/>
              </p:custDataLst>
            </p:nvPr>
          </p:nvSpPr>
          <p:spPr>
            <a:xfrm>
              <a:off x="8473" y="1218"/>
              <a:ext cx="1127" cy="822"/>
            </a:xfrm>
            <a:prstGeom prst="rect">
              <a:avLst/>
            </a:prstGeom>
            <a:noFill/>
          </p:spPr>
          <p:txBody>
            <a:bodyPr wrap="square" rtlCol="0">
              <a:spAutoFit/>
            </a:bodyPr>
            <a:lstStyle/>
            <a:p>
              <a:pPr algn="ctr"/>
              <a:r>
                <a:rPr lang="en-US" altLang="zh-CN" sz="2800" b="1">
                  <a:solidFill>
                    <a:srgbClr val="FFFFFF"/>
                  </a:solidFill>
                  <a:latin typeface="黑体" panose="02010609060101010101" charset="-122"/>
                  <a:ea typeface="黑体" panose="02010609060101010101" charset="-122"/>
                </a:rPr>
                <a:t>03</a:t>
              </a:r>
            </a:p>
          </p:txBody>
        </p:sp>
        <p:sp>
          <p:nvSpPr>
            <p:cNvPr id="36" name="圆角矩形 35"/>
            <p:cNvSpPr/>
            <p:nvPr>
              <p:custDataLst>
                <p:tags r:id="rId5"/>
              </p:custDataLst>
            </p:nvPr>
          </p:nvSpPr>
          <p:spPr>
            <a:xfrm>
              <a:off x="9799" y="1062"/>
              <a:ext cx="7000" cy="1133"/>
            </a:xfrm>
            <a:prstGeom prst="roundRect">
              <a:avLst>
                <a:gd name="adj" fmla="val 50000"/>
              </a:avLst>
            </a:prstGeom>
            <a:solidFill>
              <a:schemeClr val="bg2">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custDataLst>
                <p:tags r:id="rId6"/>
              </p:custDataLst>
            </p:nvPr>
          </p:nvSpPr>
          <p:spPr>
            <a:xfrm>
              <a:off x="10068" y="1192"/>
              <a:ext cx="7570" cy="872"/>
            </a:xfrm>
            <a:prstGeom prst="rect">
              <a:avLst/>
            </a:prstGeom>
            <a:noFill/>
          </p:spPr>
          <p:txBody>
            <a:bodyPr wrap="square" rtlCol="0">
              <a:spAutoFit/>
            </a:bodyPr>
            <a:lstStyle/>
            <a:p>
              <a:r>
                <a:rPr lang="en-US" altLang="zh-CN" sz="3000" b="1" dirty="0">
                  <a:solidFill>
                    <a:srgbClr val="00633D"/>
                  </a:solidFill>
                  <a:latin typeface="微软雅黑" panose="020B0503020204020204" charset="-122"/>
                  <a:ea typeface="微软雅黑" panose="020B0503020204020204" charset="-122"/>
                </a:rPr>
                <a:t>ASTFRFT</a:t>
              </a:r>
              <a:r>
                <a:rPr lang="zh-CN" altLang="zh-CN" sz="3000" b="1" dirty="0">
                  <a:solidFill>
                    <a:srgbClr val="00633D"/>
                  </a:solidFill>
                  <a:latin typeface="微软雅黑" panose="020B0503020204020204" charset="-122"/>
                  <a:ea typeface="微软雅黑" panose="020B0503020204020204" charset="-122"/>
                </a:rPr>
                <a:t>优化求解算法</a:t>
              </a:r>
            </a:p>
          </p:txBody>
        </p:sp>
      </p:gr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2"/>
            </p:custDataLst>
          </p:nvPr>
        </p:nvSpPr>
        <p:spPr>
          <a:xfrm>
            <a:off x="0" y="0"/>
            <a:ext cx="12201525" cy="68453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descr="校徽+南京师范大学(白)"/>
          <p:cNvPicPr>
            <a:picLocks noChangeAspect="1"/>
          </p:cNvPicPr>
          <p:nvPr>
            <p:custDataLst>
              <p:tags r:id="rId3"/>
            </p:custDataLst>
          </p:nvPr>
        </p:nvPicPr>
        <p:blipFill>
          <a:blip r:embed="rId16"/>
          <a:stretch>
            <a:fillRect/>
          </a:stretch>
        </p:blipFill>
        <p:spPr>
          <a:xfrm>
            <a:off x="9427845" y="-587375"/>
            <a:ext cx="2764155" cy="1955165"/>
          </a:xfrm>
          <a:prstGeom prst="rect">
            <a:avLst/>
          </a:prstGeom>
        </p:spPr>
      </p:pic>
      <p:sp>
        <p:nvSpPr>
          <p:cNvPr id="10" name="文本框 9"/>
          <p:cNvSpPr txBox="1"/>
          <p:nvPr/>
        </p:nvSpPr>
        <p:spPr>
          <a:xfrm>
            <a:off x="226060" y="109855"/>
            <a:ext cx="2644140" cy="461665"/>
          </a:xfrm>
          <a:prstGeom prst="rect">
            <a:avLst/>
          </a:prstGeom>
          <a:noFill/>
        </p:spPr>
        <p:txBody>
          <a:bodyPr wrap="square" rtlCol="0">
            <a:spAutoFit/>
          </a:bodyPr>
          <a:lstStyle/>
          <a:p>
            <a:r>
              <a:rPr lang="zh-CN" altLang="zh-CN" sz="2400" b="1" dirty="0">
                <a:solidFill>
                  <a:schemeClr val="bg1"/>
                </a:solidFill>
                <a:latin typeface="微软雅黑" panose="020B0503020204020204" charset="-122"/>
                <a:ea typeface="微软雅黑" panose="020B0503020204020204" charset="-122"/>
              </a:rPr>
              <a:t>相关理论补</a:t>
            </a:r>
            <a:r>
              <a:rPr lang="zh-CN" altLang="en-US" sz="2400" b="1" dirty="0">
                <a:solidFill>
                  <a:schemeClr val="bg1"/>
                </a:solidFill>
                <a:latin typeface="微软雅黑" panose="020B0503020204020204" charset="-122"/>
                <a:ea typeface="微软雅黑" panose="020B0503020204020204" charset="-122"/>
              </a:rPr>
              <a:t>充</a:t>
            </a:r>
            <a:endParaRPr lang="zh-CN" altLang="en-US" sz="2400" b="1" dirty="0">
              <a:solidFill>
                <a:schemeClr val="bg1"/>
              </a:solidFill>
            </a:endParaRPr>
          </a:p>
        </p:txBody>
      </p:sp>
      <p:sp>
        <p:nvSpPr>
          <p:cNvPr id="11" name="矩形 10"/>
          <p:cNvSpPr/>
          <p:nvPr>
            <p:custDataLst>
              <p:tags r:id="rId4"/>
            </p:custDataLst>
          </p:nvPr>
        </p:nvSpPr>
        <p:spPr>
          <a:xfrm>
            <a:off x="-9525" y="6738620"/>
            <a:ext cx="12201525" cy="1193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组合 55"/>
          <p:cNvGrpSpPr/>
          <p:nvPr/>
        </p:nvGrpSpPr>
        <p:grpSpPr>
          <a:xfrm>
            <a:off x="9143048" y="1769485"/>
            <a:ext cx="771437" cy="771436"/>
            <a:chOff x="6938352" y="2232000"/>
            <a:chExt cx="771437" cy="771436"/>
          </a:xfrm>
        </p:grpSpPr>
        <p:sp>
          <p:nvSpPr>
            <p:cNvPr id="57" name="Oval 6"/>
            <p:cNvSpPr>
              <a:spLocks noChangeAspect="1"/>
            </p:cNvSpPr>
            <p:nvPr>
              <p:custDataLst>
                <p:tags r:id="rId13"/>
              </p:custDataLst>
            </p:nvPr>
          </p:nvSpPr>
          <p:spPr>
            <a:xfrm>
              <a:off x="6938352" y="2232000"/>
              <a:ext cx="771437" cy="771436"/>
            </a:xfrm>
            <a:prstGeom prst="ellipse">
              <a:avLst/>
            </a:prstGeom>
            <a:solidFill>
              <a:srgbClr val="00633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60" name="Freeform 62"/>
            <p:cNvSpPr>
              <a:spLocks noChangeAspect="1" noEditPoints="1"/>
            </p:cNvSpPr>
            <p:nvPr>
              <p:custDataLst>
                <p:tags r:id="rId14"/>
              </p:custDataLst>
            </p:nvPr>
          </p:nvSpPr>
          <p:spPr bwMode="auto">
            <a:xfrm>
              <a:off x="7152617" y="2445031"/>
              <a:ext cx="342906" cy="345373"/>
            </a:xfrm>
            <a:custGeom>
              <a:avLst/>
              <a:gdLst/>
              <a:ahLst/>
              <a:cxnLst>
                <a:cxn ang="0">
                  <a:pos x="58" y="33"/>
                </a:cxn>
                <a:cxn ang="0">
                  <a:pos x="57" y="34"/>
                </a:cxn>
                <a:cxn ang="0">
                  <a:pos x="50" y="35"/>
                </a:cxn>
                <a:cxn ang="0">
                  <a:pos x="49" y="39"/>
                </a:cxn>
                <a:cxn ang="0">
                  <a:pos x="53" y="44"/>
                </a:cxn>
                <a:cxn ang="0">
                  <a:pos x="53" y="45"/>
                </a:cxn>
                <a:cxn ang="0">
                  <a:pos x="53" y="46"/>
                </a:cxn>
                <a:cxn ang="0">
                  <a:pos x="45" y="53"/>
                </a:cxn>
                <a:cxn ang="0">
                  <a:pos x="44" y="52"/>
                </a:cxn>
                <a:cxn ang="0">
                  <a:pos x="39" y="48"/>
                </a:cxn>
                <a:cxn ang="0">
                  <a:pos x="36" y="50"/>
                </a:cxn>
                <a:cxn ang="0">
                  <a:pos x="34" y="57"/>
                </a:cxn>
                <a:cxn ang="0">
                  <a:pos x="33" y="58"/>
                </a:cxn>
                <a:cxn ang="0">
                  <a:pos x="25" y="58"/>
                </a:cxn>
                <a:cxn ang="0">
                  <a:pos x="23" y="57"/>
                </a:cxn>
                <a:cxn ang="0">
                  <a:pos x="22" y="50"/>
                </a:cxn>
                <a:cxn ang="0">
                  <a:pos x="19" y="48"/>
                </a:cxn>
                <a:cxn ang="0">
                  <a:pos x="14" y="52"/>
                </a:cxn>
                <a:cxn ang="0">
                  <a:pos x="13" y="53"/>
                </a:cxn>
                <a:cxn ang="0">
                  <a:pos x="12" y="52"/>
                </a:cxn>
                <a:cxn ang="0">
                  <a:pos x="5" y="46"/>
                </a:cxn>
                <a:cxn ang="0">
                  <a:pos x="5" y="45"/>
                </a:cxn>
                <a:cxn ang="0">
                  <a:pos x="5" y="44"/>
                </a:cxn>
                <a:cxn ang="0">
                  <a:pos x="9" y="39"/>
                </a:cxn>
                <a:cxn ang="0">
                  <a:pos x="8" y="35"/>
                </a:cxn>
                <a:cxn ang="0">
                  <a:pos x="1" y="34"/>
                </a:cxn>
                <a:cxn ang="0">
                  <a:pos x="0" y="33"/>
                </a:cxn>
                <a:cxn ang="0">
                  <a:pos x="0" y="24"/>
                </a:cxn>
                <a:cxn ang="0">
                  <a:pos x="1" y="23"/>
                </a:cxn>
                <a:cxn ang="0">
                  <a:pos x="8" y="22"/>
                </a:cxn>
                <a:cxn ang="0">
                  <a:pos x="9" y="18"/>
                </a:cxn>
                <a:cxn ang="0">
                  <a:pos x="5" y="13"/>
                </a:cxn>
                <a:cxn ang="0">
                  <a:pos x="5" y="12"/>
                </a:cxn>
                <a:cxn ang="0">
                  <a:pos x="5" y="11"/>
                </a:cxn>
                <a:cxn ang="0">
                  <a:pos x="13" y="5"/>
                </a:cxn>
                <a:cxn ang="0">
                  <a:pos x="14" y="5"/>
                </a:cxn>
                <a:cxn ang="0">
                  <a:pos x="19" y="9"/>
                </a:cxn>
                <a:cxn ang="0">
                  <a:pos x="22" y="8"/>
                </a:cxn>
                <a:cxn ang="0">
                  <a:pos x="23" y="1"/>
                </a:cxn>
                <a:cxn ang="0">
                  <a:pos x="25" y="0"/>
                </a:cxn>
                <a:cxn ang="0">
                  <a:pos x="33" y="0"/>
                </a:cxn>
                <a:cxn ang="0">
                  <a:pos x="34" y="1"/>
                </a:cxn>
                <a:cxn ang="0">
                  <a:pos x="36" y="8"/>
                </a:cxn>
                <a:cxn ang="0">
                  <a:pos x="39" y="9"/>
                </a:cxn>
                <a:cxn ang="0">
                  <a:pos x="44" y="5"/>
                </a:cxn>
                <a:cxn ang="0">
                  <a:pos x="45" y="5"/>
                </a:cxn>
                <a:cxn ang="0">
                  <a:pos x="46" y="5"/>
                </a:cxn>
                <a:cxn ang="0">
                  <a:pos x="52" y="12"/>
                </a:cxn>
                <a:cxn ang="0">
                  <a:pos x="53" y="12"/>
                </a:cxn>
                <a:cxn ang="0">
                  <a:pos x="52" y="13"/>
                </a:cxn>
                <a:cxn ang="0">
                  <a:pos x="48" y="18"/>
                </a:cxn>
                <a:cxn ang="0">
                  <a:pos x="50" y="22"/>
                </a:cxn>
                <a:cxn ang="0">
                  <a:pos x="57" y="23"/>
                </a:cxn>
                <a:cxn ang="0">
                  <a:pos x="58" y="25"/>
                </a:cxn>
                <a:cxn ang="0">
                  <a:pos x="58" y="33"/>
                </a:cxn>
                <a:cxn ang="0">
                  <a:pos x="29" y="19"/>
                </a:cxn>
                <a:cxn ang="0">
                  <a:pos x="19" y="29"/>
                </a:cxn>
                <a:cxn ang="0">
                  <a:pos x="29" y="38"/>
                </a:cxn>
                <a:cxn ang="0">
                  <a:pos x="39" y="29"/>
                </a:cxn>
                <a:cxn ang="0">
                  <a:pos x="29" y="19"/>
                </a:cxn>
              </a:cxnLst>
              <a:rect l="0" t="0" r="r" b="b"/>
              <a:pathLst>
                <a:path w="58" h="58">
                  <a:moveTo>
                    <a:pt x="58" y="33"/>
                  </a:moveTo>
                  <a:cubicBezTo>
                    <a:pt x="58" y="34"/>
                    <a:pt x="58" y="34"/>
                    <a:pt x="57" y="34"/>
                  </a:cubicBezTo>
                  <a:cubicBezTo>
                    <a:pt x="50" y="35"/>
                    <a:pt x="50" y="35"/>
                    <a:pt x="50" y="35"/>
                  </a:cubicBezTo>
                  <a:cubicBezTo>
                    <a:pt x="50" y="37"/>
                    <a:pt x="49" y="38"/>
                    <a:pt x="49" y="39"/>
                  </a:cubicBezTo>
                  <a:cubicBezTo>
                    <a:pt x="50" y="41"/>
                    <a:pt x="51" y="42"/>
                    <a:pt x="53" y="44"/>
                  </a:cubicBezTo>
                  <a:cubicBezTo>
                    <a:pt x="53" y="44"/>
                    <a:pt x="53" y="45"/>
                    <a:pt x="53" y="45"/>
                  </a:cubicBezTo>
                  <a:cubicBezTo>
                    <a:pt x="53" y="45"/>
                    <a:pt x="53" y="46"/>
                    <a:pt x="53" y="46"/>
                  </a:cubicBezTo>
                  <a:cubicBezTo>
                    <a:pt x="52" y="47"/>
                    <a:pt x="47" y="53"/>
                    <a:pt x="45" y="53"/>
                  </a:cubicBezTo>
                  <a:cubicBezTo>
                    <a:pt x="45" y="53"/>
                    <a:pt x="45" y="53"/>
                    <a:pt x="44" y="52"/>
                  </a:cubicBezTo>
                  <a:cubicBezTo>
                    <a:pt x="39" y="48"/>
                    <a:pt x="39" y="48"/>
                    <a:pt x="39" y="48"/>
                  </a:cubicBezTo>
                  <a:cubicBezTo>
                    <a:pt x="38" y="49"/>
                    <a:pt x="37" y="49"/>
                    <a:pt x="36" y="50"/>
                  </a:cubicBezTo>
                  <a:cubicBezTo>
                    <a:pt x="35" y="52"/>
                    <a:pt x="35" y="55"/>
                    <a:pt x="34" y="57"/>
                  </a:cubicBezTo>
                  <a:cubicBezTo>
                    <a:pt x="34" y="57"/>
                    <a:pt x="34" y="58"/>
                    <a:pt x="33" y="58"/>
                  </a:cubicBezTo>
                  <a:cubicBezTo>
                    <a:pt x="25" y="58"/>
                    <a:pt x="25" y="58"/>
                    <a:pt x="25" y="58"/>
                  </a:cubicBezTo>
                  <a:cubicBezTo>
                    <a:pt x="24" y="58"/>
                    <a:pt x="23" y="57"/>
                    <a:pt x="23" y="57"/>
                  </a:cubicBezTo>
                  <a:cubicBezTo>
                    <a:pt x="22" y="50"/>
                    <a:pt x="22" y="50"/>
                    <a:pt x="22" y="50"/>
                  </a:cubicBezTo>
                  <a:cubicBezTo>
                    <a:pt x="21" y="49"/>
                    <a:pt x="20" y="49"/>
                    <a:pt x="19" y="48"/>
                  </a:cubicBezTo>
                  <a:cubicBezTo>
                    <a:pt x="14" y="52"/>
                    <a:pt x="14" y="52"/>
                    <a:pt x="14" y="52"/>
                  </a:cubicBezTo>
                  <a:cubicBezTo>
                    <a:pt x="13" y="53"/>
                    <a:pt x="13" y="53"/>
                    <a:pt x="13" y="53"/>
                  </a:cubicBezTo>
                  <a:cubicBezTo>
                    <a:pt x="12" y="53"/>
                    <a:pt x="12" y="53"/>
                    <a:pt x="12" y="52"/>
                  </a:cubicBezTo>
                  <a:cubicBezTo>
                    <a:pt x="10" y="50"/>
                    <a:pt x="7" y="48"/>
                    <a:pt x="5" y="46"/>
                  </a:cubicBezTo>
                  <a:cubicBezTo>
                    <a:pt x="5" y="46"/>
                    <a:pt x="5" y="45"/>
                    <a:pt x="5" y="45"/>
                  </a:cubicBezTo>
                  <a:cubicBezTo>
                    <a:pt x="5" y="45"/>
                    <a:pt x="5" y="44"/>
                    <a:pt x="5" y="44"/>
                  </a:cubicBezTo>
                  <a:cubicBezTo>
                    <a:pt x="7" y="42"/>
                    <a:pt x="8" y="41"/>
                    <a:pt x="9" y="39"/>
                  </a:cubicBezTo>
                  <a:cubicBezTo>
                    <a:pt x="9" y="38"/>
                    <a:pt x="8" y="37"/>
                    <a:pt x="8" y="35"/>
                  </a:cubicBezTo>
                  <a:cubicBezTo>
                    <a:pt x="1" y="34"/>
                    <a:pt x="1" y="34"/>
                    <a:pt x="1" y="34"/>
                  </a:cubicBezTo>
                  <a:cubicBezTo>
                    <a:pt x="0" y="34"/>
                    <a:pt x="0" y="33"/>
                    <a:pt x="0" y="33"/>
                  </a:cubicBezTo>
                  <a:cubicBezTo>
                    <a:pt x="0" y="24"/>
                    <a:pt x="0" y="24"/>
                    <a:pt x="0" y="24"/>
                  </a:cubicBezTo>
                  <a:cubicBezTo>
                    <a:pt x="0" y="24"/>
                    <a:pt x="0" y="23"/>
                    <a:pt x="1" y="23"/>
                  </a:cubicBezTo>
                  <a:cubicBezTo>
                    <a:pt x="8" y="22"/>
                    <a:pt x="8" y="22"/>
                    <a:pt x="8" y="22"/>
                  </a:cubicBezTo>
                  <a:cubicBezTo>
                    <a:pt x="8" y="21"/>
                    <a:pt x="9" y="20"/>
                    <a:pt x="9" y="18"/>
                  </a:cubicBezTo>
                  <a:cubicBezTo>
                    <a:pt x="8" y="17"/>
                    <a:pt x="7" y="15"/>
                    <a:pt x="5" y="13"/>
                  </a:cubicBezTo>
                  <a:cubicBezTo>
                    <a:pt x="5" y="13"/>
                    <a:pt x="5" y="13"/>
                    <a:pt x="5" y="12"/>
                  </a:cubicBezTo>
                  <a:cubicBezTo>
                    <a:pt x="5" y="12"/>
                    <a:pt x="5" y="12"/>
                    <a:pt x="5" y="11"/>
                  </a:cubicBezTo>
                  <a:cubicBezTo>
                    <a:pt x="6" y="10"/>
                    <a:pt x="11" y="5"/>
                    <a:pt x="13" y="5"/>
                  </a:cubicBezTo>
                  <a:cubicBezTo>
                    <a:pt x="13" y="5"/>
                    <a:pt x="13" y="5"/>
                    <a:pt x="14" y="5"/>
                  </a:cubicBezTo>
                  <a:cubicBezTo>
                    <a:pt x="19" y="9"/>
                    <a:pt x="19" y="9"/>
                    <a:pt x="19" y="9"/>
                  </a:cubicBezTo>
                  <a:cubicBezTo>
                    <a:pt x="20" y="9"/>
                    <a:pt x="21" y="8"/>
                    <a:pt x="22" y="8"/>
                  </a:cubicBezTo>
                  <a:cubicBezTo>
                    <a:pt x="22" y="5"/>
                    <a:pt x="23" y="3"/>
                    <a:pt x="23" y="1"/>
                  </a:cubicBezTo>
                  <a:cubicBezTo>
                    <a:pt x="23" y="0"/>
                    <a:pt x="24" y="0"/>
                    <a:pt x="25" y="0"/>
                  </a:cubicBezTo>
                  <a:cubicBezTo>
                    <a:pt x="33" y="0"/>
                    <a:pt x="33" y="0"/>
                    <a:pt x="33" y="0"/>
                  </a:cubicBezTo>
                  <a:cubicBezTo>
                    <a:pt x="34" y="0"/>
                    <a:pt x="34" y="0"/>
                    <a:pt x="34" y="1"/>
                  </a:cubicBezTo>
                  <a:cubicBezTo>
                    <a:pt x="36" y="8"/>
                    <a:pt x="36" y="8"/>
                    <a:pt x="36" y="8"/>
                  </a:cubicBezTo>
                  <a:cubicBezTo>
                    <a:pt x="37" y="8"/>
                    <a:pt x="38" y="9"/>
                    <a:pt x="39" y="9"/>
                  </a:cubicBezTo>
                  <a:cubicBezTo>
                    <a:pt x="44" y="5"/>
                    <a:pt x="44" y="5"/>
                    <a:pt x="44" y="5"/>
                  </a:cubicBezTo>
                  <a:cubicBezTo>
                    <a:pt x="45" y="5"/>
                    <a:pt x="45" y="5"/>
                    <a:pt x="45" y="5"/>
                  </a:cubicBezTo>
                  <a:cubicBezTo>
                    <a:pt x="46" y="5"/>
                    <a:pt x="46" y="5"/>
                    <a:pt x="46" y="5"/>
                  </a:cubicBezTo>
                  <a:cubicBezTo>
                    <a:pt x="48" y="7"/>
                    <a:pt x="51" y="9"/>
                    <a:pt x="52" y="12"/>
                  </a:cubicBezTo>
                  <a:cubicBezTo>
                    <a:pt x="53" y="12"/>
                    <a:pt x="53" y="12"/>
                    <a:pt x="53" y="12"/>
                  </a:cubicBezTo>
                  <a:cubicBezTo>
                    <a:pt x="53" y="13"/>
                    <a:pt x="53" y="13"/>
                    <a:pt x="52" y="13"/>
                  </a:cubicBezTo>
                  <a:cubicBezTo>
                    <a:pt x="51" y="15"/>
                    <a:pt x="50" y="17"/>
                    <a:pt x="48" y="18"/>
                  </a:cubicBezTo>
                  <a:cubicBezTo>
                    <a:pt x="49" y="20"/>
                    <a:pt x="50" y="21"/>
                    <a:pt x="50" y="22"/>
                  </a:cubicBezTo>
                  <a:cubicBezTo>
                    <a:pt x="57" y="23"/>
                    <a:pt x="57" y="23"/>
                    <a:pt x="57" y="23"/>
                  </a:cubicBezTo>
                  <a:cubicBezTo>
                    <a:pt x="58" y="23"/>
                    <a:pt x="58" y="24"/>
                    <a:pt x="58" y="25"/>
                  </a:cubicBezTo>
                  <a:lnTo>
                    <a:pt x="58" y="33"/>
                  </a:lnTo>
                  <a:close/>
                  <a:moveTo>
                    <a:pt x="29" y="19"/>
                  </a:moveTo>
                  <a:cubicBezTo>
                    <a:pt x="24" y="19"/>
                    <a:pt x="19" y="23"/>
                    <a:pt x="19" y="29"/>
                  </a:cubicBezTo>
                  <a:cubicBezTo>
                    <a:pt x="19" y="34"/>
                    <a:pt x="24" y="38"/>
                    <a:pt x="29" y="38"/>
                  </a:cubicBezTo>
                  <a:cubicBezTo>
                    <a:pt x="34" y="38"/>
                    <a:pt x="39" y="34"/>
                    <a:pt x="39" y="29"/>
                  </a:cubicBezTo>
                  <a:cubicBezTo>
                    <a:pt x="39" y="23"/>
                    <a:pt x="34" y="19"/>
                    <a:pt x="29" y="19"/>
                  </a:cubicBezTo>
                  <a:close/>
                </a:path>
              </a:pathLst>
            </a:custGeom>
            <a:solidFill>
              <a:schemeClr val="bg1"/>
            </a:solidFill>
            <a:ln w="9525">
              <a:noFill/>
              <a:round/>
            </a:ln>
          </p:spPr>
          <p:txBody>
            <a:bodyPr vert="horz" wrap="square" lIns="121682" tIns="60841" rIns="121682" bIns="60841" numCol="1" anchor="t" anchorCtr="0" compatLnSpc="1"/>
            <a:lstStyle/>
            <a:p>
              <a:endParaRPr lang="en-US" sz="3100">
                <a:solidFill>
                  <a:schemeClr val="tx1">
                    <a:lumMod val="65000"/>
                    <a:lumOff val="35000"/>
                  </a:schemeClr>
                </a:solidFill>
                <a:latin typeface="+mn-ea"/>
                <a:ea typeface="+mn-ea"/>
              </a:endParaRPr>
            </a:p>
          </p:txBody>
        </p:sp>
      </p:grpSp>
      <p:grpSp>
        <p:nvGrpSpPr>
          <p:cNvPr id="61" name="组合 60"/>
          <p:cNvGrpSpPr/>
          <p:nvPr/>
        </p:nvGrpSpPr>
        <p:grpSpPr>
          <a:xfrm>
            <a:off x="9143047" y="3460908"/>
            <a:ext cx="771437" cy="771436"/>
            <a:chOff x="6938352" y="3445667"/>
            <a:chExt cx="771437" cy="771436"/>
          </a:xfrm>
        </p:grpSpPr>
        <p:sp>
          <p:nvSpPr>
            <p:cNvPr id="62" name="Oval 7"/>
            <p:cNvSpPr>
              <a:spLocks noChangeAspect="1"/>
            </p:cNvSpPr>
            <p:nvPr>
              <p:custDataLst>
                <p:tags r:id="rId11"/>
              </p:custDataLst>
            </p:nvPr>
          </p:nvSpPr>
          <p:spPr>
            <a:xfrm>
              <a:off x="6938352" y="3445667"/>
              <a:ext cx="771437" cy="771436"/>
            </a:xfrm>
            <a:prstGeom prst="ellipse">
              <a:avLst/>
            </a:prstGeom>
            <a:solidFill>
              <a:srgbClr val="00A86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63" name="Freeform 245"/>
            <p:cNvSpPr>
              <a:spLocks noChangeAspect="1"/>
            </p:cNvSpPr>
            <p:nvPr>
              <p:custDataLst>
                <p:tags r:id="rId12"/>
              </p:custDataLst>
            </p:nvPr>
          </p:nvSpPr>
          <p:spPr bwMode="auto">
            <a:xfrm>
              <a:off x="7118606" y="3665660"/>
              <a:ext cx="345647" cy="345373"/>
            </a:xfrm>
            <a:custGeom>
              <a:avLst/>
              <a:gdLst/>
              <a:ahLst/>
              <a:cxnLst>
                <a:cxn ang="0">
                  <a:pos x="68" y="3"/>
                </a:cxn>
                <a:cxn ang="0">
                  <a:pos x="58" y="61"/>
                </a:cxn>
                <a:cxn ang="0">
                  <a:pos x="57" y="63"/>
                </a:cxn>
                <a:cxn ang="0">
                  <a:pos x="56" y="63"/>
                </a:cxn>
                <a:cxn ang="0">
                  <a:pos x="55" y="63"/>
                </a:cxn>
                <a:cxn ang="0">
                  <a:pos x="38" y="56"/>
                </a:cxn>
                <a:cxn ang="0">
                  <a:pos x="28" y="67"/>
                </a:cxn>
                <a:cxn ang="0">
                  <a:pos x="26" y="68"/>
                </a:cxn>
                <a:cxn ang="0">
                  <a:pos x="26" y="68"/>
                </a:cxn>
                <a:cxn ang="0">
                  <a:pos x="24" y="65"/>
                </a:cxn>
                <a:cxn ang="0">
                  <a:pos x="24" y="52"/>
                </a:cxn>
                <a:cxn ang="0">
                  <a:pos x="57" y="12"/>
                </a:cxn>
                <a:cxn ang="0">
                  <a:pos x="16" y="47"/>
                </a:cxn>
                <a:cxn ang="0">
                  <a:pos x="1" y="41"/>
                </a:cxn>
                <a:cxn ang="0">
                  <a:pos x="0" y="39"/>
                </a:cxn>
                <a:cxn ang="0">
                  <a:pos x="1" y="36"/>
                </a:cxn>
                <a:cxn ang="0">
                  <a:pos x="64" y="0"/>
                </a:cxn>
                <a:cxn ang="0">
                  <a:pos x="65" y="0"/>
                </a:cxn>
                <a:cxn ang="0">
                  <a:pos x="67" y="0"/>
                </a:cxn>
                <a:cxn ang="0">
                  <a:pos x="68" y="3"/>
                </a:cxn>
              </a:cxnLst>
              <a:rect l="0" t="0" r="r" b="b"/>
              <a:pathLst>
                <a:path w="68" h="68">
                  <a:moveTo>
                    <a:pt x="68" y="3"/>
                  </a:moveTo>
                  <a:cubicBezTo>
                    <a:pt x="58" y="61"/>
                    <a:pt x="58" y="61"/>
                    <a:pt x="58" y="61"/>
                  </a:cubicBezTo>
                  <a:cubicBezTo>
                    <a:pt x="58" y="62"/>
                    <a:pt x="57" y="62"/>
                    <a:pt x="57" y="63"/>
                  </a:cubicBezTo>
                  <a:cubicBezTo>
                    <a:pt x="56" y="63"/>
                    <a:pt x="56" y="63"/>
                    <a:pt x="56" y="63"/>
                  </a:cubicBezTo>
                  <a:cubicBezTo>
                    <a:pt x="55" y="63"/>
                    <a:pt x="55" y="63"/>
                    <a:pt x="55" y="63"/>
                  </a:cubicBezTo>
                  <a:cubicBezTo>
                    <a:pt x="38" y="56"/>
                    <a:pt x="38" y="56"/>
                    <a:pt x="38" y="56"/>
                  </a:cubicBezTo>
                  <a:cubicBezTo>
                    <a:pt x="28" y="67"/>
                    <a:pt x="28" y="67"/>
                    <a:pt x="28" y="67"/>
                  </a:cubicBezTo>
                  <a:cubicBezTo>
                    <a:pt x="28" y="67"/>
                    <a:pt x="27" y="68"/>
                    <a:pt x="26" y="68"/>
                  </a:cubicBezTo>
                  <a:cubicBezTo>
                    <a:pt x="26" y="68"/>
                    <a:pt x="26" y="68"/>
                    <a:pt x="26" y="68"/>
                  </a:cubicBezTo>
                  <a:cubicBezTo>
                    <a:pt x="25" y="67"/>
                    <a:pt x="24" y="66"/>
                    <a:pt x="24" y="65"/>
                  </a:cubicBezTo>
                  <a:cubicBezTo>
                    <a:pt x="24" y="52"/>
                    <a:pt x="24" y="52"/>
                    <a:pt x="24" y="52"/>
                  </a:cubicBezTo>
                  <a:cubicBezTo>
                    <a:pt x="57" y="12"/>
                    <a:pt x="57" y="12"/>
                    <a:pt x="57" y="12"/>
                  </a:cubicBezTo>
                  <a:cubicBezTo>
                    <a:pt x="16" y="47"/>
                    <a:pt x="16" y="47"/>
                    <a:pt x="16" y="47"/>
                  </a:cubicBezTo>
                  <a:cubicBezTo>
                    <a:pt x="1" y="41"/>
                    <a:pt x="1" y="41"/>
                    <a:pt x="1" y="41"/>
                  </a:cubicBezTo>
                  <a:cubicBezTo>
                    <a:pt x="0" y="40"/>
                    <a:pt x="0" y="40"/>
                    <a:pt x="0" y="39"/>
                  </a:cubicBezTo>
                  <a:cubicBezTo>
                    <a:pt x="0" y="38"/>
                    <a:pt x="0" y="37"/>
                    <a:pt x="1" y="36"/>
                  </a:cubicBezTo>
                  <a:cubicBezTo>
                    <a:pt x="64" y="0"/>
                    <a:pt x="64" y="0"/>
                    <a:pt x="64" y="0"/>
                  </a:cubicBezTo>
                  <a:cubicBezTo>
                    <a:pt x="65" y="0"/>
                    <a:pt x="65" y="0"/>
                    <a:pt x="65" y="0"/>
                  </a:cubicBezTo>
                  <a:cubicBezTo>
                    <a:pt x="66" y="0"/>
                    <a:pt x="66" y="0"/>
                    <a:pt x="67" y="0"/>
                  </a:cubicBezTo>
                  <a:cubicBezTo>
                    <a:pt x="68" y="1"/>
                    <a:pt x="68" y="2"/>
                    <a:pt x="68" y="3"/>
                  </a:cubicBezTo>
                  <a:close/>
                </a:path>
              </a:pathLst>
            </a:custGeom>
            <a:solidFill>
              <a:schemeClr val="bg1"/>
            </a:solidFill>
            <a:ln w="9525">
              <a:noFill/>
              <a:round/>
            </a:ln>
          </p:spPr>
          <p:txBody>
            <a:bodyPr vert="horz" wrap="square" lIns="121682" tIns="60841" rIns="121682" bIns="60841" numCol="1" anchor="t" anchorCtr="0" compatLnSpc="1"/>
            <a:lstStyle/>
            <a:p>
              <a:endParaRPr lang="en-US" sz="3100">
                <a:solidFill>
                  <a:schemeClr val="tx1">
                    <a:lumMod val="65000"/>
                    <a:lumOff val="35000"/>
                  </a:schemeClr>
                </a:solidFill>
                <a:latin typeface="+mn-ea"/>
                <a:ea typeface="+mn-ea"/>
              </a:endParaRPr>
            </a:p>
          </p:txBody>
        </p:sp>
      </p:grpSp>
      <p:grpSp>
        <p:nvGrpSpPr>
          <p:cNvPr id="64" name="组合 63"/>
          <p:cNvGrpSpPr/>
          <p:nvPr/>
        </p:nvGrpSpPr>
        <p:grpSpPr>
          <a:xfrm>
            <a:off x="9143048" y="5033945"/>
            <a:ext cx="771437" cy="771436"/>
            <a:chOff x="6938352" y="4700564"/>
            <a:chExt cx="771437" cy="771436"/>
          </a:xfrm>
        </p:grpSpPr>
        <p:sp>
          <p:nvSpPr>
            <p:cNvPr id="65" name="Oval 8"/>
            <p:cNvSpPr>
              <a:spLocks noChangeAspect="1"/>
            </p:cNvSpPr>
            <p:nvPr>
              <p:custDataLst>
                <p:tags r:id="rId9"/>
              </p:custDataLst>
            </p:nvPr>
          </p:nvSpPr>
          <p:spPr>
            <a:xfrm>
              <a:off x="6938352" y="4700564"/>
              <a:ext cx="771437" cy="771436"/>
            </a:xfrm>
            <a:prstGeom prst="ellipse">
              <a:avLst/>
            </a:prstGeom>
            <a:solidFill>
              <a:srgbClr val="00885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66" name="Freeform 79"/>
            <p:cNvSpPr>
              <a:spLocks noEditPoints="1"/>
            </p:cNvSpPr>
            <p:nvPr>
              <p:custDataLst>
                <p:tags r:id="rId10"/>
              </p:custDataLst>
            </p:nvPr>
          </p:nvSpPr>
          <p:spPr bwMode="auto">
            <a:xfrm>
              <a:off x="7168529" y="4930864"/>
              <a:ext cx="311082" cy="310836"/>
            </a:xfrm>
            <a:custGeom>
              <a:avLst/>
              <a:gdLst/>
              <a:ahLst/>
              <a:cxnLst>
                <a:cxn ang="0">
                  <a:pos x="236" y="200"/>
                </a:cxn>
                <a:cxn ang="0">
                  <a:pos x="176" y="200"/>
                </a:cxn>
                <a:cxn ang="0">
                  <a:pos x="160" y="200"/>
                </a:cxn>
                <a:cxn ang="0">
                  <a:pos x="160" y="220"/>
                </a:cxn>
                <a:cxn ang="0">
                  <a:pos x="176" y="236"/>
                </a:cxn>
                <a:cxn ang="0">
                  <a:pos x="176" y="240"/>
                </a:cxn>
                <a:cxn ang="0">
                  <a:pos x="72" y="240"/>
                </a:cxn>
                <a:cxn ang="0">
                  <a:pos x="72" y="236"/>
                </a:cxn>
                <a:cxn ang="0">
                  <a:pos x="88" y="220"/>
                </a:cxn>
                <a:cxn ang="0">
                  <a:pos x="88" y="200"/>
                </a:cxn>
                <a:cxn ang="0">
                  <a:pos x="72" y="200"/>
                </a:cxn>
                <a:cxn ang="0">
                  <a:pos x="12" y="200"/>
                </a:cxn>
                <a:cxn ang="0">
                  <a:pos x="0" y="188"/>
                </a:cxn>
                <a:cxn ang="0">
                  <a:pos x="0" y="28"/>
                </a:cxn>
                <a:cxn ang="0">
                  <a:pos x="12" y="16"/>
                </a:cxn>
                <a:cxn ang="0">
                  <a:pos x="86" y="16"/>
                </a:cxn>
                <a:cxn ang="0">
                  <a:pos x="70" y="32"/>
                </a:cxn>
                <a:cxn ang="0">
                  <a:pos x="16" y="32"/>
                </a:cxn>
                <a:cxn ang="0">
                  <a:pos x="16" y="168"/>
                </a:cxn>
                <a:cxn ang="0">
                  <a:pos x="232" y="168"/>
                </a:cxn>
                <a:cxn ang="0">
                  <a:pos x="232" y="32"/>
                </a:cxn>
                <a:cxn ang="0">
                  <a:pos x="178" y="32"/>
                </a:cxn>
                <a:cxn ang="0">
                  <a:pos x="162" y="16"/>
                </a:cxn>
                <a:cxn ang="0">
                  <a:pos x="236" y="16"/>
                </a:cxn>
                <a:cxn ang="0">
                  <a:pos x="248" y="28"/>
                </a:cxn>
                <a:cxn ang="0">
                  <a:pos x="248" y="188"/>
                </a:cxn>
                <a:cxn ang="0">
                  <a:pos x="236" y="200"/>
                </a:cxn>
                <a:cxn ang="0">
                  <a:pos x="152" y="52"/>
                </a:cxn>
                <a:cxn ang="0">
                  <a:pos x="144" y="48"/>
                </a:cxn>
                <a:cxn ang="0">
                  <a:pos x="136" y="41"/>
                </a:cxn>
                <a:cxn ang="0">
                  <a:pos x="136" y="96"/>
                </a:cxn>
                <a:cxn ang="0">
                  <a:pos x="124" y="108"/>
                </a:cxn>
                <a:cxn ang="0">
                  <a:pos x="112" y="96"/>
                </a:cxn>
                <a:cxn ang="0">
                  <a:pos x="112" y="41"/>
                </a:cxn>
                <a:cxn ang="0">
                  <a:pos x="104" y="48"/>
                </a:cxn>
                <a:cxn ang="0">
                  <a:pos x="96" y="52"/>
                </a:cxn>
                <a:cxn ang="0">
                  <a:pos x="84" y="40"/>
                </a:cxn>
                <a:cxn ang="0">
                  <a:pos x="88" y="32"/>
                </a:cxn>
                <a:cxn ang="0">
                  <a:pos x="116" y="4"/>
                </a:cxn>
                <a:cxn ang="0">
                  <a:pos x="124" y="0"/>
                </a:cxn>
                <a:cxn ang="0">
                  <a:pos x="132" y="4"/>
                </a:cxn>
                <a:cxn ang="0">
                  <a:pos x="160" y="32"/>
                </a:cxn>
                <a:cxn ang="0">
                  <a:pos x="164" y="40"/>
                </a:cxn>
                <a:cxn ang="0">
                  <a:pos x="152" y="52"/>
                </a:cxn>
              </a:cxnLst>
              <a:rect l="0" t="0" r="r" b="b"/>
              <a:pathLst>
                <a:path w="248" h="240">
                  <a:moveTo>
                    <a:pt x="236" y="200"/>
                  </a:moveTo>
                  <a:cubicBezTo>
                    <a:pt x="176" y="200"/>
                    <a:pt x="176" y="200"/>
                    <a:pt x="176" y="200"/>
                  </a:cubicBezTo>
                  <a:cubicBezTo>
                    <a:pt x="160" y="200"/>
                    <a:pt x="160" y="200"/>
                    <a:pt x="160" y="200"/>
                  </a:cubicBezTo>
                  <a:cubicBezTo>
                    <a:pt x="160" y="220"/>
                    <a:pt x="160" y="220"/>
                    <a:pt x="160" y="220"/>
                  </a:cubicBezTo>
                  <a:cubicBezTo>
                    <a:pt x="176" y="236"/>
                    <a:pt x="176" y="236"/>
                    <a:pt x="176" y="236"/>
                  </a:cubicBezTo>
                  <a:cubicBezTo>
                    <a:pt x="176" y="240"/>
                    <a:pt x="176" y="240"/>
                    <a:pt x="176" y="240"/>
                  </a:cubicBezTo>
                  <a:cubicBezTo>
                    <a:pt x="72" y="240"/>
                    <a:pt x="72" y="240"/>
                    <a:pt x="72" y="240"/>
                  </a:cubicBezTo>
                  <a:cubicBezTo>
                    <a:pt x="72" y="236"/>
                    <a:pt x="72" y="236"/>
                    <a:pt x="72" y="236"/>
                  </a:cubicBezTo>
                  <a:cubicBezTo>
                    <a:pt x="88" y="220"/>
                    <a:pt x="88" y="220"/>
                    <a:pt x="88" y="220"/>
                  </a:cubicBezTo>
                  <a:cubicBezTo>
                    <a:pt x="88" y="200"/>
                    <a:pt x="88" y="200"/>
                    <a:pt x="88" y="200"/>
                  </a:cubicBezTo>
                  <a:cubicBezTo>
                    <a:pt x="72" y="200"/>
                    <a:pt x="72" y="200"/>
                    <a:pt x="72" y="200"/>
                  </a:cubicBezTo>
                  <a:cubicBezTo>
                    <a:pt x="12" y="200"/>
                    <a:pt x="12" y="200"/>
                    <a:pt x="12" y="200"/>
                  </a:cubicBezTo>
                  <a:cubicBezTo>
                    <a:pt x="5" y="200"/>
                    <a:pt x="0" y="195"/>
                    <a:pt x="0" y="188"/>
                  </a:cubicBezTo>
                  <a:cubicBezTo>
                    <a:pt x="0" y="28"/>
                    <a:pt x="0" y="28"/>
                    <a:pt x="0" y="28"/>
                  </a:cubicBezTo>
                  <a:cubicBezTo>
                    <a:pt x="0" y="21"/>
                    <a:pt x="5" y="16"/>
                    <a:pt x="12" y="16"/>
                  </a:cubicBezTo>
                  <a:cubicBezTo>
                    <a:pt x="86" y="16"/>
                    <a:pt x="86" y="16"/>
                    <a:pt x="86" y="16"/>
                  </a:cubicBezTo>
                  <a:cubicBezTo>
                    <a:pt x="70" y="32"/>
                    <a:pt x="70" y="32"/>
                    <a:pt x="70" y="32"/>
                  </a:cubicBezTo>
                  <a:cubicBezTo>
                    <a:pt x="16" y="32"/>
                    <a:pt x="16" y="32"/>
                    <a:pt x="16" y="32"/>
                  </a:cubicBezTo>
                  <a:cubicBezTo>
                    <a:pt x="16" y="168"/>
                    <a:pt x="16" y="168"/>
                    <a:pt x="16" y="168"/>
                  </a:cubicBezTo>
                  <a:cubicBezTo>
                    <a:pt x="232" y="168"/>
                    <a:pt x="232" y="168"/>
                    <a:pt x="232" y="168"/>
                  </a:cubicBezTo>
                  <a:cubicBezTo>
                    <a:pt x="232" y="32"/>
                    <a:pt x="232" y="32"/>
                    <a:pt x="232" y="32"/>
                  </a:cubicBezTo>
                  <a:cubicBezTo>
                    <a:pt x="178" y="32"/>
                    <a:pt x="178" y="32"/>
                    <a:pt x="178" y="32"/>
                  </a:cubicBezTo>
                  <a:cubicBezTo>
                    <a:pt x="162" y="16"/>
                    <a:pt x="162" y="16"/>
                    <a:pt x="162" y="16"/>
                  </a:cubicBezTo>
                  <a:cubicBezTo>
                    <a:pt x="236" y="16"/>
                    <a:pt x="236" y="16"/>
                    <a:pt x="236" y="16"/>
                  </a:cubicBezTo>
                  <a:cubicBezTo>
                    <a:pt x="243" y="16"/>
                    <a:pt x="248" y="21"/>
                    <a:pt x="248" y="28"/>
                  </a:cubicBezTo>
                  <a:cubicBezTo>
                    <a:pt x="248" y="188"/>
                    <a:pt x="248" y="188"/>
                    <a:pt x="248" y="188"/>
                  </a:cubicBezTo>
                  <a:cubicBezTo>
                    <a:pt x="248" y="195"/>
                    <a:pt x="243" y="200"/>
                    <a:pt x="236" y="200"/>
                  </a:cubicBezTo>
                  <a:moveTo>
                    <a:pt x="152" y="52"/>
                  </a:moveTo>
                  <a:cubicBezTo>
                    <a:pt x="149" y="52"/>
                    <a:pt x="146" y="51"/>
                    <a:pt x="144" y="48"/>
                  </a:cubicBezTo>
                  <a:cubicBezTo>
                    <a:pt x="136" y="41"/>
                    <a:pt x="136" y="41"/>
                    <a:pt x="136" y="41"/>
                  </a:cubicBezTo>
                  <a:cubicBezTo>
                    <a:pt x="136" y="96"/>
                    <a:pt x="136" y="96"/>
                    <a:pt x="136" y="96"/>
                  </a:cubicBezTo>
                  <a:cubicBezTo>
                    <a:pt x="136" y="103"/>
                    <a:pt x="131" y="108"/>
                    <a:pt x="124" y="108"/>
                  </a:cubicBezTo>
                  <a:cubicBezTo>
                    <a:pt x="117" y="108"/>
                    <a:pt x="112" y="103"/>
                    <a:pt x="112" y="96"/>
                  </a:cubicBezTo>
                  <a:cubicBezTo>
                    <a:pt x="112" y="41"/>
                    <a:pt x="112" y="41"/>
                    <a:pt x="112" y="41"/>
                  </a:cubicBezTo>
                  <a:cubicBezTo>
                    <a:pt x="104" y="48"/>
                    <a:pt x="104" y="48"/>
                    <a:pt x="104" y="48"/>
                  </a:cubicBezTo>
                  <a:cubicBezTo>
                    <a:pt x="102" y="51"/>
                    <a:pt x="99" y="52"/>
                    <a:pt x="96" y="52"/>
                  </a:cubicBezTo>
                  <a:cubicBezTo>
                    <a:pt x="89" y="52"/>
                    <a:pt x="84" y="47"/>
                    <a:pt x="84" y="40"/>
                  </a:cubicBezTo>
                  <a:cubicBezTo>
                    <a:pt x="84" y="37"/>
                    <a:pt x="85" y="34"/>
                    <a:pt x="88" y="32"/>
                  </a:cubicBezTo>
                  <a:cubicBezTo>
                    <a:pt x="116" y="4"/>
                    <a:pt x="116" y="4"/>
                    <a:pt x="116" y="4"/>
                  </a:cubicBezTo>
                  <a:cubicBezTo>
                    <a:pt x="118" y="1"/>
                    <a:pt x="121" y="0"/>
                    <a:pt x="124" y="0"/>
                  </a:cubicBezTo>
                  <a:cubicBezTo>
                    <a:pt x="127" y="0"/>
                    <a:pt x="130" y="1"/>
                    <a:pt x="132" y="4"/>
                  </a:cubicBezTo>
                  <a:cubicBezTo>
                    <a:pt x="160" y="32"/>
                    <a:pt x="160" y="32"/>
                    <a:pt x="160" y="32"/>
                  </a:cubicBezTo>
                  <a:cubicBezTo>
                    <a:pt x="163" y="34"/>
                    <a:pt x="164" y="37"/>
                    <a:pt x="164" y="40"/>
                  </a:cubicBezTo>
                  <a:cubicBezTo>
                    <a:pt x="164" y="47"/>
                    <a:pt x="159" y="52"/>
                    <a:pt x="152" y="52"/>
                  </a:cubicBezTo>
                </a:path>
              </a:pathLst>
            </a:custGeom>
            <a:solidFill>
              <a:schemeClr val="bg1"/>
            </a:solidFill>
            <a:ln w="9525">
              <a:noFill/>
              <a:round/>
            </a:ln>
          </p:spPr>
          <p:txBody>
            <a:bodyPr vert="horz" wrap="square" lIns="91440" tIns="45720" rIns="91440" bIns="45720" numCol="1" anchor="t" anchorCtr="0" compatLnSpc="1"/>
            <a:lstStyle/>
            <a:p>
              <a:endParaRPr lang="en-US">
                <a:solidFill>
                  <a:schemeClr val="tx1">
                    <a:lumMod val="65000"/>
                    <a:lumOff val="35000"/>
                  </a:schemeClr>
                </a:solidFill>
                <a:latin typeface="+mn-ea"/>
                <a:ea typeface="+mn-ea"/>
              </a:endParaRPr>
            </a:p>
          </p:txBody>
        </p:sp>
      </p:grpSp>
      <p:grpSp>
        <p:nvGrpSpPr>
          <p:cNvPr id="77" name="组合 76"/>
          <p:cNvGrpSpPr/>
          <p:nvPr/>
        </p:nvGrpSpPr>
        <p:grpSpPr>
          <a:xfrm>
            <a:off x="2400135" y="1153632"/>
            <a:ext cx="6398895" cy="1043940"/>
            <a:chOff x="586" y="2062"/>
            <a:chExt cx="10077" cy="1644"/>
          </a:xfrm>
        </p:grpSpPr>
        <p:grpSp>
          <p:nvGrpSpPr>
            <p:cNvPr id="75" name="组合 74"/>
            <p:cNvGrpSpPr/>
            <p:nvPr/>
          </p:nvGrpSpPr>
          <p:grpSpPr>
            <a:xfrm>
              <a:off x="666" y="2062"/>
              <a:ext cx="3000" cy="709"/>
              <a:chOff x="558" y="2062"/>
              <a:chExt cx="3000" cy="709"/>
            </a:xfrm>
          </p:grpSpPr>
          <p:sp>
            <p:nvSpPr>
              <p:cNvPr id="73" name="矩形 72"/>
              <p:cNvSpPr/>
              <p:nvPr/>
            </p:nvSpPr>
            <p:spPr>
              <a:xfrm>
                <a:off x="558" y="2062"/>
                <a:ext cx="3000" cy="709"/>
              </a:xfrm>
              <a:prstGeom prst="rect">
                <a:avLst/>
              </a:prstGeom>
              <a:solidFill>
                <a:srgbClr val="0063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p:cNvSpPr txBox="1"/>
              <p:nvPr/>
            </p:nvSpPr>
            <p:spPr>
              <a:xfrm>
                <a:off x="655" y="2153"/>
                <a:ext cx="2645" cy="582"/>
              </a:xfrm>
              <a:prstGeom prst="rect">
                <a:avLst/>
              </a:prstGeom>
              <a:noFill/>
            </p:spPr>
            <p:txBody>
              <a:bodyPr wrap="square" rtlCol="0">
                <a:spAutoFit/>
              </a:bodyPr>
              <a:lstStyle/>
              <a:p>
                <a:pPr algn="ctr"/>
                <a:r>
                  <a:rPr lang="en-US" altLang="zh-CN" b="1" dirty="0">
                    <a:solidFill>
                      <a:schemeClr val="bg1"/>
                    </a:solidFill>
                  </a:rPr>
                  <a:t>LFM</a:t>
                </a:r>
                <a:r>
                  <a:rPr lang="zh-CN" altLang="en-US" b="1" dirty="0">
                    <a:solidFill>
                      <a:schemeClr val="bg1"/>
                    </a:solidFill>
                  </a:rPr>
                  <a:t>信号模型</a:t>
                </a:r>
              </a:p>
            </p:txBody>
          </p:sp>
        </p:grpSp>
        <p:sp>
          <p:nvSpPr>
            <p:cNvPr id="76" name="矩形 75"/>
            <p:cNvSpPr/>
            <p:nvPr>
              <p:custDataLst>
                <p:tags r:id="rId8"/>
              </p:custDataLst>
            </p:nvPr>
          </p:nvSpPr>
          <p:spPr>
            <a:xfrm>
              <a:off x="586" y="3106"/>
              <a:ext cx="10077" cy="600"/>
            </a:xfrm>
            <a:prstGeom prst="rect">
              <a:avLst/>
            </a:prstGeom>
          </p:spPr>
          <p:txBody>
            <a:bodyPr wrap="square">
              <a:spAutoFit/>
            </a:bodyPr>
            <a:lstStyle/>
            <a:p>
              <a:pPr algn="just" fontAlgn="auto">
                <a:lnSpc>
                  <a:spcPct val="130000"/>
                </a:lnSpc>
              </a:pPr>
              <a:endParaRPr 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lt"/>
              </a:endParaRPr>
            </a:p>
          </p:txBody>
        </p:sp>
      </p:grpSp>
      <p:grpSp>
        <p:nvGrpSpPr>
          <p:cNvPr id="78" name="组合 77"/>
          <p:cNvGrpSpPr/>
          <p:nvPr/>
        </p:nvGrpSpPr>
        <p:grpSpPr>
          <a:xfrm>
            <a:off x="2285200" y="3934181"/>
            <a:ext cx="6477000" cy="1211580"/>
            <a:chOff x="463" y="2062"/>
            <a:chExt cx="10200" cy="1908"/>
          </a:xfrm>
        </p:grpSpPr>
        <p:grpSp>
          <p:nvGrpSpPr>
            <p:cNvPr id="79" name="组合 78"/>
            <p:cNvGrpSpPr/>
            <p:nvPr/>
          </p:nvGrpSpPr>
          <p:grpSpPr>
            <a:xfrm>
              <a:off x="463" y="2062"/>
              <a:ext cx="3306" cy="709"/>
              <a:chOff x="355" y="2062"/>
              <a:chExt cx="3306" cy="709"/>
            </a:xfrm>
          </p:grpSpPr>
          <p:sp>
            <p:nvSpPr>
              <p:cNvPr id="80" name="矩形 79"/>
              <p:cNvSpPr/>
              <p:nvPr>
                <p:custDataLst>
                  <p:tags r:id="rId6"/>
                </p:custDataLst>
              </p:nvPr>
            </p:nvSpPr>
            <p:spPr>
              <a:xfrm>
                <a:off x="586" y="2062"/>
                <a:ext cx="3000" cy="709"/>
              </a:xfrm>
              <a:prstGeom prst="rect">
                <a:avLst/>
              </a:prstGeom>
              <a:solidFill>
                <a:srgbClr val="0063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p:cNvSpPr txBox="1"/>
              <p:nvPr>
                <p:custDataLst>
                  <p:tags r:id="rId7"/>
                </p:custDataLst>
              </p:nvPr>
            </p:nvSpPr>
            <p:spPr>
              <a:xfrm>
                <a:off x="355" y="2154"/>
                <a:ext cx="3306" cy="533"/>
              </a:xfrm>
              <a:prstGeom prst="rect">
                <a:avLst/>
              </a:prstGeom>
              <a:noFill/>
            </p:spPr>
            <p:txBody>
              <a:bodyPr wrap="square" rtlCol="0">
                <a:spAutoFit/>
              </a:bodyPr>
              <a:lstStyle/>
              <a:p>
                <a:pPr algn="ctr"/>
                <a:r>
                  <a:rPr lang="en-US" altLang="zh-CN" sz="1600" b="1" dirty="0">
                    <a:solidFill>
                      <a:schemeClr val="bg1"/>
                    </a:solidFill>
                  </a:rPr>
                  <a:t> </a:t>
                </a:r>
                <a:r>
                  <a:rPr lang="zh-CN" altLang="zh-CN" sz="1600" b="1" dirty="0">
                    <a:solidFill>
                      <a:schemeClr val="bg1"/>
                    </a:solidFill>
                  </a:rPr>
                  <a:t>信号</a:t>
                </a:r>
                <a:r>
                  <a:rPr lang="en-US" altLang="zh-CN" sz="1600" b="1" dirty="0">
                    <a:solidFill>
                      <a:schemeClr val="bg1"/>
                    </a:solidFill>
                  </a:rPr>
                  <a:t>STFRFT</a:t>
                </a:r>
                <a:r>
                  <a:rPr lang="zh-CN" altLang="zh-CN" sz="1600" b="1" dirty="0">
                    <a:solidFill>
                      <a:schemeClr val="bg1"/>
                    </a:solidFill>
                  </a:rPr>
                  <a:t>表达式</a:t>
                </a:r>
                <a:endParaRPr lang="zh-CN" altLang="en-US" sz="1600" b="1" dirty="0">
                  <a:solidFill>
                    <a:schemeClr val="bg1"/>
                  </a:solidFill>
                </a:endParaRPr>
              </a:p>
            </p:txBody>
          </p:sp>
        </p:grpSp>
        <mc:AlternateContent xmlns:mc="http://schemas.openxmlformats.org/markup-compatibility/2006" xmlns:a14="http://schemas.microsoft.com/office/drawing/2010/main">
          <mc:Choice Requires="a14">
            <p:sp>
              <p:nvSpPr>
                <p:cNvPr id="82" name="矩形 81"/>
                <p:cNvSpPr/>
                <p:nvPr>
                  <p:custDataLst>
                    <p:tags r:id="rId5"/>
                  </p:custDataLst>
                </p:nvPr>
              </p:nvSpPr>
              <p:spPr>
                <a:xfrm>
                  <a:off x="586" y="2604"/>
                  <a:ext cx="10077" cy="1366"/>
                </a:xfrm>
                <a:prstGeom prst="rect">
                  <a:avLst/>
                </a:prstGeom>
              </p:spPr>
              <p:txBody>
                <a:bodyPr wrap="square">
                  <a:spAutoFit/>
                </a:bodyPr>
                <a:lstStyle/>
                <a:p>
                  <a:pPr algn="just">
                    <a:lnSpc>
                      <a:spcPct val="13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𝑆𝑇𝐹𝑅𝐹𝑇𝑓𝑔</m:t>
                        </m:r>
                        <m:r>
                          <a:rPr lang="en-US" altLang="zh-CN">
                            <a:latin typeface="Cambria Math" panose="02040503050406030204" pitchFamily="18" charset="0"/>
                          </a:rPr>
                          <m:t>​(</m:t>
                        </m:r>
                        <m:r>
                          <a:rPr lang="en-US" altLang="zh-CN" i="1">
                            <a:latin typeface="Cambria Math" panose="02040503050406030204" pitchFamily="18" charset="0"/>
                          </a:rPr>
                          <m:t>𝛼</m:t>
                        </m:r>
                        <m:r>
                          <a:rPr lang="en-US" altLang="zh-CN">
                            <a:latin typeface="Cambria Math" panose="02040503050406030204" pitchFamily="18" charset="0"/>
                          </a:rPr>
                          <m:t>,</m:t>
                        </m:r>
                        <m:r>
                          <a:rPr lang="en-US" altLang="zh-CN" i="1">
                            <a:latin typeface="Cambria Math" panose="02040503050406030204" pitchFamily="18" charset="0"/>
                          </a:rPr>
                          <m:t>𝑡</m:t>
                        </m:r>
                        <m:r>
                          <a:rPr lang="en-US" altLang="zh-CN">
                            <a:latin typeface="Cambria Math" panose="02040503050406030204" pitchFamily="18" charset="0"/>
                          </a:rPr>
                          <m:t>,</m:t>
                        </m:r>
                        <m:r>
                          <a:rPr lang="en-US" altLang="zh-CN" i="1">
                            <a:latin typeface="Cambria Math" panose="02040503050406030204" pitchFamily="18" charset="0"/>
                          </a:rPr>
                          <m:t>𝑢</m:t>
                        </m:r>
                        <m:r>
                          <a:rPr lang="en-US" altLang="zh-CN">
                            <a:latin typeface="Cambria Math" panose="02040503050406030204" pitchFamily="18" charset="0"/>
                          </a:rPr>
                          <m:t>)=</m:t>
                        </m:r>
                        <m:nary>
                          <m:naryPr>
                            <m:limLoc m:val="subSup"/>
                            <m:ctrlPr>
                              <a:rPr lang="zh-CN" altLang="zh-CN" i="1">
                                <a:latin typeface="Cambria Math" panose="02040503050406030204" pitchFamily="18" charset="0"/>
                              </a:rPr>
                            </m:ctrlPr>
                          </m:naryPr>
                          <m:sub>
                            <m:r>
                              <a:rPr lang="en-US" altLang="zh-CN" i="1">
                                <a:latin typeface="Cambria Math" panose="02040503050406030204" pitchFamily="18" charset="0"/>
                              </a:rPr>
                              <m:t>−∞</m:t>
                            </m:r>
                          </m:sub>
                          <m:sup>
                            <m:r>
                              <a:rPr lang="en-US" altLang="zh-CN" i="1">
                                <a:latin typeface="Cambria Math" panose="02040503050406030204" pitchFamily="18" charset="0"/>
                              </a:rPr>
                              <m:t>∞</m:t>
                            </m:r>
                          </m:sup>
                          <m:e>
                            <m:r>
                              <a:rPr lang="en-US" altLang="zh-CN" i="1">
                                <a:latin typeface="Cambria Math" panose="02040503050406030204" pitchFamily="18" charset="0"/>
                              </a:rPr>
                              <m:t>𝑓</m:t>
                            </m:r>
                          </m:e>
                        </m:nary>
                        <m:r>
                          <a:rPr lang="en-US" altLang="zh-CN">
                            <a:latin typeface="Cambria Math" panose="02040503050406030204" pitchFamily="18" charset="0"/>
                          </a:rPr>
                          <m:t>​(</m:t>
                        </m:r>
                        <m:r>
                          <a:rPr lang="en-US" altLang="zh-CN" i="1">
                            <a:latin typeface="Cambria Math" panose="02040503050406030204" pitchFamily="18" charset="0"/>
                          </a:rPr>
                          <m:t>𝑡</m:t>
                        </m:r>
                        <m:r>
                          <a:rPr lang="en-US" altLang="zh-CN">
                            <a:latin typeface="Cambria Math" panose="02040503050406030204" pitchFamily="18" charset="0"/>
                          </a:rPr>
                          <m:t>+</m:t>
                        </m:r>
                        <m:r>
                          <a:rPr lang="en-US" altLang="zh-CN" i="1">
                            <a:latin typeface="Cambria Math" panose="02040503050406030204" pitchFamily="18" charset="0"/>
                          </a:rPr>
                          <m:t>𝜏</m:t>
                        </m:r>
                        <m:r>
                          <a:rPr lang="en-US" altLang="zh-CN">
                            <a:latin typeface="Cambria Math" panose="02040503050406030204" pitchFamily="18" charset="0"/>
                          </a:rPr>
                          <m:t>)⋅</m:t>
                        </m:r>
                        <m:r>
                          <a:rPr lang="en-US" altLang="zh-CN" i="1">
                            <a:latin typeface="Cambria Math" panose="02040503050406030204" pitchFamily="18" charset="0"/>
                          </a:rPr>
                          <m:t>𝑔</m:t>
                        </m:r>
                        <m:r>
                          <a:rPr lang="en-US" altLang="zh-CN">
                            <a:latin typeface="Cambria Math" panose="02040503050406030204" pitchFamily="18" charset="0"/>
                          </a:rPr>
                          <m:t>(</m:t>
                        </m:r>
                        <m:r>
                          <a:rPr lang="en-US" altLang="zh-CN" i="1">
                            <a:latin typeface="Cambria Math" panose="02040503050406030204" pitchFamily="18" charset="0"/>
                          </a:rPr>
                          <m:t>𝜏</m:t>
                        </m:r>
                        <m:r>
                          <a:rPr lang="en-US" altLang="zh-CN">
                            <a:latin typeface="Cambria Math" panose="02040503050406030204" pitchFamily="18" charset="0"/>
                          </a:rPr>
                          <m:t>)⋅</m:t>
                        </m:r>
                        <m:r>
                          <a:rPr lang="en-US" altLang="zh-CN" i="1">
                            <a:latin typeface="Cambria Math" panose="02040503050406030204" pitchFamily="18" charset="0"/>
                          </a:rPr>
                          <m:t>𝐾</m:t>
                        </m:r>
                        <m:r>
                          <a:rPr lang="en-US" altLang="zh-CN">
                            <a:latin typeface="Cambria Math" panose="02040503050406030204" pitchFamily="18" charset="0"/>
                          </a:rPr>
                          <m:t>(</m:t>
                        </m:r>
                        <m:r>
                          <a:rPr lang="en-US" altLang="zh-CN" i="1">
                            <a:latin typeface="Cambria Math" panose="02040503050406030204" pitchFamily="18" charset="0"/>
                          </a:rPr>
                          <m:t>𝜏</m:t>
                        </m:r>
                        <m:r>
                          <a:rPr lang="en-US" altLang="zh-CN">
                            <a:latin typeface="Cambria Math" panose="02040503050406030204" pitchFamily="18" charset="0"/>
                          </a:rPr>
                          <m:t>,</m:t>
                        </m:r>
                        <m:r>
                          <a:rPr lang="en-US" altLang="zh-CN" i="1">
                            <a:latin typeface="Cambria Math" panose="02040503050406030204" pitchFamily="18" charset="0"/>
                          </a:rPr>
                          <m:t>𝛼</m:t>
                        </m:r>
                        <m:r>
                          <a:rPr lang="en-US" altLang="zh-CN">
                            <a:latin typeface="Cambria Math" panose="02040503050406030204" pitchFamily="18" charset="0"/>
                          </a:rPr>
                          <m:t>)</m:t>
                        </m:r>
                        <m:r>
                          <a:rPr lang="en-US" altLang="zh-CN" i="1">
                            <a:latin typeface="Cambria Math" panose="02040503050406030204" pitchFamily="18" charset="0"/>
                          </a:rPr>
                          <m:t>𝑑</m:t>
                        </m:r>
                        <m:r>
                          <a:rPr lang="en-US" altLang="zh-CN" i="1">
                            <a:latin typeface="Cambria Math" panose="02040503050406030204" pitchFamily="18" charset="0"/>
                          </a:rPr>
                          <m:t>𝜏</m:t>
                        </m:r>
                      </m:oMath>
                    </m:oMathPara>
                  </a14:m>
                  <a:endParaRPr lang="zh-CN" altLang="zh-CN" dirty="0"/>
                </a:p>
              </p:txBody>
            </p:sp>
          </mc:Choice>
          <mc:Fallback xmlns="">
            <p:sp>
              <p:nvSpPr>
                <p:cNvPr id="82" name="矩形 81"/>
                <p:cNvSpPr>
                  <a:spLocks noRot="1" noChangeAspect="1" noMove="1" noResize="1" noEditPoints="1" noAdjustHandles="1" noChangeArrowheads="1" noChangeShapeType="1" noTextEdit="1"/>
                </p:cNvSpPr>
                <p:nvPr>
                  <p:custDataLst>
                    <p:tags r:id="rId17"/>
                  </p:custDataLst>
                </p:nvPr>
              </p:nvSpPr>
              <p:spPr>
                <a:xfrm>
                  <a:off x="586" y="2604"/>
                  <a:ext cx="10077" cy="1366"/>
                </a:xfrm>
                <a:prstGeom prst="rect">
                  <a:avLst/>
                </a:prstGeom>
                <a:blipFill rotWithShape="1">
                  <a:blip r:embed="rId18"/>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 name="文本框 1"/>
              <p:cNvSpPr txBox="1"/>
              <p:nvPr/>
            </p:nvSpPr>
            <p:spPr>
              <a:xfrm>
                <a:off x="2431885" y="5084529"/>
                <a:ext cx="2660728"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𝐾</m:t>
                      </m:r>
                      <m:d>
                        <m:dPr>
                          <m:ctrlPr>
                            <a:rPr lang="zh-CN" altLang="zh-CN" i="1">
                              <a:latin typeface="Cambria Math" panose="02040503050406030204" pitchFamily="18" charset="0"/>
                            </a:rPr>
                          </m:ctrlPr>
                        </m:dPr>
                        <m:e>
                          <m:r>
                            <a:rPr lang="en-US" altLang="zh-CN" i="1">
                              <a:latin typeface="Cambria Math" panose="02040503050406030204" pitchFamily="18" charset="0"/>
                            </a:rPr>
                            <m:t>𝜏</m:t>
                          </m:r>
                          <m:r>
                            <a:rPr lang="en-US" altLang="zh-CN">
                              <a:latin typeface="Cambria Math" panose="02040503050406030204" pitchFamily="18" charset="0"/>
                            </a:rPr>
                            <m:t>,</m:t>
                          </m:r>
                          <m:r>
                            <a:rPr lang="en-US" altLang="zh-CN" i="1">
                              <a:latin typeface="Cambria Math" panose="02040503050406030204" pitchFamily="18" charset="0"/>
                            </a:rPr>
                            <m:t>𝛼</m:t>
                          </m:r>
                        </m:e>
                      </m:d>
                      <m:r>
                        <a:rPr lang="zh-CN" altLang="zh-CN">
                          <a:latin typeface="Cambria Math" panose="02040503050406030204" pitchFamily="18" charset="0"/>
                        </a:rPr>
                        <m:t>为核函数，即：</m:t>
                      </m:r>
                      <m:r>
                        <a:rPr lang="zh-CN" altLang="zh-CN">
                          <a:latin typeface="Cambria Math" panose="02040503050406030204" pitchFamily="18" charset="0"/>
                        </a:rPr>
                        <m:t> </m:t>
                      </m:r>
                    </m:oMath>
                  </m:oMathPara>
                </a14:m>
                <a:endParaRPr lang="zh-CN" altLang="zh-CN" dirty="0"/>
              </a:p>
              <a:p>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2431885" y="5084529"/>
                <a:ext cx="2660728" cy="646331"/>
              </a:xfrm>
              <a:prstGeom prst="rect">
                <a:avLst/>
              </a:prstGeom>
              <a:blipFill rotWithShape="1">
                <a:blip r:embed="rId19"/>
                <a:stretch>
                  <a:fillRect l="-18" t="-13" r="21" b="96"/>
                </a:stretch>
              </a:blipFill>
            </p:spPr>
            <p:txBody>
              <a:bodyPr/>
              <a:lstStyle/>
              <a:p>
                <a:r>
                  <a:rPr lang="zh-CN" altLang="en-US">
                    <a:noFill/>
                  </a:rPr>
                  <a:t> </a:t>
                </a:r>
              </a:p>
            </p:txBody>
          </p:sp>
        </mc:Fallback>
      </mc:AlternateContent>
      <p:pic>
        <p:nvPicPr>
          <p:cNvPr id="30" name="图片 29"/>
          <p:cNvPicPr/>
          <p:nvPr/>
        </p:nvPicPr>
        <p:blipFill>
          <a:blip r:embed="rId20" cstate="print">
            <a:extLst>
              <a:ext uri="{28A0092B-C50C-407E-A947-70E740481C1C}">
                <a14:useLocalDpi xmlns:a14="http://schemas.microsoft.com/office/drawing/2010/main" val="0"/>
              </a:ext>
            </a:extLst>
          </a:blip>
          <a:stretch>
            <a:fillRect/>
          </a:stretch>
        </p:blipFill>
        <p:spPr>
          <a:xfrm>
            <a:off x="3014893" y="5329316"/>
            <a:ext cx="3685039" cy="1279693"/>
          </a:xfrm>
          <a:prstGeom prst="rect">
            <a:avLst/>
          </a:prstGeom>
        </p:spPr>
      </p:pic>
      <mc:AlternateContent xmlns:mc="http://schemas.openxmlformats.org/markup-compatibility/2006" xmlns:a14="http://schemas.microsoft.com/office/drawing/2010/main">
        <mc:Choice Requires="a14">
          <p:sp>
            <p:nvSpPr>
              <p:cNvPr id="4" name="文本框 3"/>
              <p:cNvSpPr txBox="1"/>
              <p:nvPr/>
            </p:nvSpPr>
            <p:spPr>
              <a:xfrm>
                <a:off x="2397221" y="3002749"/>
                <a:ext cx="6733103" cy="1276375"/>
              </a:xfrm>
              <a:prstGeom prst="rect">
                <a:avLst/>
              </a:prstGeom>
              <a:noFill/>
            </p:spPr>
            <p:txBody>
              <a:bodyPr wrap="square" rtlCol="0">
                <a:spAutoFit/>
              </a:bodyPr>
              <a:lstStyle/>
              <a:p>
                <a:r>
                  <a:rPr lang="zh-CN" altLang="zh-CN" dirty="0"/>
                  <a:t>其中</a:t>
                </a:r>
                <a14:m>
                  <m:oMath xmlns:m="http://schemas.openxmlformats.org/officeDocument/2006/math">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A</m:t>
                        </m:r>
                      </m:e>
                      <m:sub>
                        <m:r>
                          <a:rPr lang="en-US" altLang="zh-CN" i="1">
                            <a:latin typeface="Cambria Math" panose="02040503050406030204" pitchFamily="18" charset="0"/>
                          </a:rPr>
                          <m:t>𝑖</m:t>
                        </m:r>
                      </m:sub>
                    </m:sSub>
                    <m:r>
                      <a:rPr lang="zh-CN"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m:t>
                        </m:r>
                      </m:e>
                      <m:sub>
                        <m:r>
                          <a:rPr lang="en-US" altLang="zh-CN" i="1">
                            <a:latin typeface="Cambria Math" panose="02040503050406030204" pitchFamily="18" charset="0"/>
                          </a:rPr>
                          <m:t>𝑖</m:t>
                        </m:r>
                      </m:sub>
                    </m:sSub>
                    <m:d>
                      <m:dPr>
                        <m:ctrlPr>
                          <a:rPr lang="zh-CN" altLang="zh-CN" i="1">
                            <a:latin typeface="Cambria Math" panose="02040503050406030204" pitchFamily="18" charset="0"/>
                          </a:rPr>
                        </m:ctrlPr>
                      </m:dPr>
                      <m:e>
                        <m:r>
                          <a:rPr lang="en-US" altLang="zh-CN" i="1">
                            <a:latin typeface="Cambria Math" panose="02040503050406030204" pitchFamily="18" charset="0"/>
                          </a:rPr>
                          <m:t>𝑡</m:t>
                        </m:r>
                      </m:e>
                    </m:d>
                    <m:r>
                      <a:rPr lang="zh-CN"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𝑖</m:t>
                        </m:r>
                      </m:sub>
                    </m:sSub>
                    <m:r>
                      <a:rPr lang="zh-CN"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i="1">
                            <a:latin typeface="Cambria Math" panose="02040503050406030204" pitchFamily="18" charset="0"/>
                          </a:rPr>
                          <m:t>0,</m:t>
                        </m:r>
                        <m:r>
                          <a:rPr lang="en-US" altLang="zh-CN" i="1">
                            <a:latin typeface="Cambria Math" panose="02040503050406030204" pitchFamily="18" charset="0"/>
                          </a:rPr>
                          <m:t>𝑖</m:t>
                        </m:r>
                      </m:sub>
                    </m:sSub>
                  </m:oMath>
                </a14:m>
                <a:r>
                  <a:rPr lang="zh-CN" altLang="zh-CN" dirty="0"/>
                  <a:t>是</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oMath>
                </a14:m>
                <a:r>
                  <a:rPr lang="zh-CN" altLang="zh-CN" dirty="0"/>
                  <a:t>的振幅、相位、调频率和中心频率，</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𝑟𝑒𝑐𝑡</m:t>
                        </m:r>
                      </m:e>
                      <m:sub>
                        <m:r>
                          <a:rPr lang="en-US" altLang="zh-CN" i="1">
                            <a:latin typeface="Cambria Math" panose="02040503050406030204" pitchFamily="18" charset="0"/>
                          </a:rPr>
                          <m:t>𝑖</m:t>
                        </m:r>
                      </m:sub>
                    </m:sSub>
                  </m:oMath>
                </a14:m>
                <a:r>
                  <a:rPr lang="zh-CN" altLang="zh-CN" dirty="0"/>
                  <a:t>（</a:t>
                </a:r>
                <a:r>
                  <a:rPr lang="en-US" altLang="zh-CN" dirty="0"/>
                  <a:t>t</a:t>
                </a:r>
                <a:r>
                  <a:rPr lang="zh-CN" altLang="zh-CN" dirty="0"/>
                  <a:t>）代表矩形窗函数：</a:t>
                </a:r>
                <a14:m>
                  <m:oMath xmlns:m="http://schemas.openxmlformats.org/officeDocument/2006/math">
                    <m:r>
                      <m:rPr>
                        <m:sty m:val="p"/>
                      </m:rPr>
                      <a:rPr lang="en-US" altLang="zh-CN">
                        <a:latin typeface="Cambria Math" panose="02040503050406030204" pitchFamily="18" charset="0"/>
                      </a:rPr>
                      <m:t>rect</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t</m:t>
                        </m:r>
                      </m:e>
                    </m:d>
                    <m:r>
                      <a:rPr lang="en-US" altLang="zh-CN">
                        <a:latin typeface="Cambria Math" panose="02040503050406030204" pitchFamily="18" charset="0"/>
                      </a:rPr>
                      <m:t>=</m:t>
                    </m:r>
                    <m:d>
                      <m:dPr>
                        <m:begChr m:val="{"/>
                        <m:endChr m:val=""/>
                        <m:ctrlPr>
                          <a:rPr lang="zh-CN" altLang="zh-CN" i="1">
                            <a:latin typeface="Cambria Math" panose="02040503050406030204" pitchFamily="18" charset="0"/>
                          </a:rPr>
                        </m:ctrlPr>
                      </m:dPr>
                      <m:e>
                        <m:eqArr>
                          <m:eqArrPr>
                            <m:ctrlPr>
                              <a:rPr lang="zh-CN" altLang="zh-CN" i="1">
                                <a:latin typeface="Cambria Math" panose="02040503050406030204" pitchFamily="18" charset="0"/>
                              </a:rPr>
                            </m:ctrlPr>
                          </m:eqArrPr>
                          <m:e>
                            <m:r>
                              <a:rPr lang="en-US" altLang="zh-CN">
                                <a:latin typeface="Cambria Math" panose="02040503050406030204" pitchFamily="18" charset="0"/>
                              </a:rPr>
                              <m:t>1,</m:t>
                            </m:r>
                            <m:r>
                              <a:rPr lang="en-US" altLang="zh-CN" b="0" i="0" smtClean="0">
                                <a:latin typeface="Cambria Math" panose="02040503050406030204" pitchFamily="18" charset="0"/>
                              </a:rPr>
                              <m:t>  </m:t>
                            </m:r>
                            <m:r>
                              <m:rPr>
                                <m:sty m:val="p"/>
                              </m:rPr>
                              <a:rPr lang="en-US" altLang="zh-CN">
                                <a:latin typeface="Cambria Math" panose="02040503050406030204" pitchFamily="18" charset="0"/>
                              </a:rPr>
                              <m:t>if</m:t>
                            </m:r>
                            <m:r>
                              <a:rPr lang="en-US" altLang="zh-CN" b="0" i="1" smtClean="0">
                                <a:latin typeface="Cambria Math" panose="02040503050406030204" pitchFamily="18" charset="0"/>
                              </a:rPr>
                              <m:t> </m:t>
                            </m:r>
                            <m:r>
                              <a:rPr lang="en-US" altLang="zh-CN" i="1">
                                <a:latin typeface="Cambria Math" panose="02040503050406030204" pitchFamily="18" charset="0"/>
                              </a:rPr>
                              <m:t>−</m:t>
                            </m:r>
                            <m:r>
                              <a:rPr lang="en-US" altLang="zh-CN">
                                <a:latin typeface="Cambria Math" panose="02040503050406030204" pitchFamily="18" charset="0"/>
                              </a:rPr>
                              <m:t>0.5≤</m:t>
                            </m:r>
                            <m:r>
                              <m:rPr>
                                <m:sty m:val="p"/>
                              </m:rPr>
                              <a:rPr lang="en-US" altLang="zh-CN">
                                <a:latin typeface="Cambria Math" panose="02040503050406030204" pitchFamily="18" charset="0"/>
                              </a:rPr>
                              <m:t>t</m:t>
                            </m:r>
                            <m:r>
                              <a:rPr lang="en-US" altLang="zh-CN">
                                <a:latin typeface="Cambria Math" panose="02040503050406030204" pitchFamily="18" charset="0"/>
                              </a:rPr>
                              <m:t>≤0.5</m:t>
                            </m:r>
                          </m:e>
                          <m:e>
                            <m:r>
                              <a:rPr lang="en-US" altLang="zh-CN" i="1">
                                <a:latin typeface="Cambria Math" panose="02040503050406030204" pitchFamily="18" charset="0"/>
                              </a:rPr>
                              <m:t>0</m:t>
                            </m:r>
                            <m:r>
                              <a:rPr lang="en-US" altLang="zh-CN">
                                <a:latin typeface="Cambria Math" panose="02040503050406030204" pitchFamily="18" charset="0"/>
                              </a:rPr>
                              <m:t>, </m:t>
                            </m:r>
                            <m:r>
                              <m:rPr>
                                <m:sty m:val="p"/>
                              </m:rPr>
                              <a:rPr lang="en-US" altLang="zh-CN">
                                <a:latin typeface="Cambria Math" panose="02040503050406030204" pitchFamily="18" charset="0"/>
                              </a:rPr>
                              <m:t>otherwise</m:t>
                            </m:r>
                          </m:e>
                        </m:eqArr>
                      </m:e>
                    </m:d>
                  </m:oMath>
                </a14:m>
                <a:r>
                  <a:rPr lang="zh-CN" altLang="zh-CN" dirty="0"/>
                  <a:t>。</a:t>
                </a:r>
              </a:p>
              <a:p>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2397221" y="3002749"/>
                <a:ext cx="6733103" cy="1276375"/>
              </a:xfrm>
              <a:prstGeom prst="rect">
                <a:avLst/>
              </a:prstGeom>
              <a:blipFill rotWithShape="1">
                <a:blip r:embed="rId21"/>
                <a:stretch>
                  <a:fillRect l="-1" t="-37" r="-1071" b="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2397221" y="1755112"/>
                <a:ext cx="6622502" cy="941155"/>
              </a:xfrm>
              <a:prstGeom prst="rect">
                <a:avLst/>
              </a:prstGeom>
              <a:noFill/>
            </p:spPr>
            <p:txBody>
              <a:bodyPr wrap="square" rtlCol="0">
                <a:spAutoFit/>
              </a:bodyPr>
              <a:lstStyle/>
              <a:p>
                <a:r>
                  <a:rPr lang="zh-CN" altLang="zh-CN" dirty="0">
                    <a:latin typeface="等线" panose="02010600030101010101" charset="-122"/>
                    <a:ea typeface="等线" panose="02010600030101010101" charset="-122"/>
                  </a:rPr>
                  <a:t>分段</a:t>
                </a:r>
                <a:r>
                  <a:rPr lang="en-US" altLang="zh-CN" dirty="0">
                    <a:latin typeface="等线" panose="02010600030101010101" charset="-122"/>
                    <a:ea typeface="等线" panose="02010600030101010101" charset="-122"/>
                  </a:rPr>
                  <a:t>LFM</a:t>
                </a:r>
                <a:r>
                  <a:rPr lang="zh-CN" altLang="zh-CN" dirty="0">
                    <a:latin typeface="等线" panose="02010600030101010101" charset="-122"/>
                    <a:ea typeface="等线" panose="02010600030101010101" charset="-122"/>
                  </a:rPr>
                  <a:t>信号的数字模型为：</a:t>
                </a:r>
                <a14:m>
                  <m:oMath xmlns:m="http://schemas.openxmlformats.org/officeDocument/2006/math">
                    <m:r>
                      <m:rPr>
                        <m:sty m:val="p"/>
                      </m:rPr>
                      <a:rPr lang="en-US" altLang="zh-CN">
                        <a:latin typeface="Cambria Math" panose="02040503050406030204" pitchFamily="18" charset="0"/>
                        <a:ea typeface="等线" panose="02010600030101010101" charset="-122"/>
                      </a:rPr>
                      <m:t>sf</m:t>
                    </m:r>
                    <m:d>
                      <m:dPr>
                        <m:ctrlPr>
                          <a:rPr lang="zh-CN" altLang="zh-CN" i="1">
                            <a:latin typeface="Cambria Math" panose="02040503050406030204" pitchFamily="18" charset="0"/>
                            <a:ea typeface="等线" panose="02010600030101010101" charset="-122"/>
                          </a:rPr>
                        </m:ctrlPr>
                      </m:dPr>
                      <m:e>
                        <m:r>
                          <m:rPr>
                            <m:sty m:val="p"/>
                          </m:rPr>
                          <a:rPr lang="en-US" altLang="zh-CN">
                            <a:latin typeface="Cambria Math" panose="02040503050406030204" pitchFamily="18" charset="0"/>
                            <a:ea typeface="等线" panose="02010600030101010101" charset="-122"/>
                          </a:rPr>
                          <m:t>t</m:t>
                        </m:r>
                      </m:e>
                    </m:d>
                    <m:r>
                      <a:rPr lang="en-US" altLang="zh-CN">
                        <a:latin typeface="Cambria Math" panose="02040503050406030204" pitchFamily="18" charset="0"/>
                        <a:ea typeface="等线" panose="02010600030101010101" charset="-122"/>
                      </a:rPr>
                      <m:t>=</m:t>
                    </m:r>
                    <m:nary>
                      <m:naryPr>
                        <m:chr m:val="∑"/>
                        <m:grow m:val="on"/>
                        <m:ctrlPr>
                          <a:rPr lang="zh-CN" altLang="zh-CN" i="1">
                            <a:latin typeface="Cambria Math" panose="02040503050406030204" pitchFamily="18" charset="0"/>
                            <a:ea typeface="等线" panose="02010600030101010101" charset="-122"/>
                          </a:rPr>
                        </m:ctrlPr>
                      </m:naryPr>
                      <m:sub>
                        <m:r>
                          <a:rPr lang="en-US" altLang="zh-CN">
                            <a:latin typeface="Cambria Math" panose="02040503050406030204" pitchFamily="18" charset="0"/>
                            <a:ea typeface="等线" panose="02010600030101010101" charset="-122"/>
                          </a:rPr>
                          <m:t>𝑖</m:t>
                        </m:r>
                        <m:r>
                          <a:rPr lang="en-US" altLang="zh-CN">
                            <a:latin typeface="Cambria Math" panose="02040503050406030204" pitchFamily="18" charset="0"/>
                            <a:ea typeface="等线" panose="02010600030101010101" charset="-122"/>
                          </a:rPr>
                          <m:t>=1</m:t>
                        </m:r>
                      </m:sub>
                      <m:sup>
                        <m:r>
                          <a:rPr lang="en-US" altLang="zh-CN">
                            <a:latin typeface="Cambria Math" panose="02040503050406030204" pitchFamily="18" charset="0"/>
                            <a:ea typeface="等线" panose="02010600030101010101" charset="-122"/>
                          </a:rPr>
                          <m:t>𝑁</m:t>
                        </m:r>
                      </m:sup>
                      <m:e>
                        <m:sSub>
                          <m:sSubPr>
                            <m:ctrlPr>
                              <a:rPr lang="zh-CN" altLang="zh-CN" i="1">
                                <a:latin typeface="Cambria Math" panose="02040503050406030204" pitchFamily="18" charset="0"/>
                                <a:ea typeface="等线" panose="02010600030101010101" charset="-122"/>
                              </a:rPr>
                            </m:ctrlPr>
                          </m:sSubPr>
                          <m:e>
                            <m:r>
                              <a:rPr lang="en-US" altLang="zh-CN">
                                <a:latin typeface="Cambria Math" panose="02040503050406030204" pitchFamily="18" charset="0"/>
                                <a:ea typeface="等线" panose="02010600030101010101" charset="-122"/>
                              </a:rPr>
                              <m:t> </m:t>
                            </m:r>
                            <m:r>
                              <a:rPr lang="en-US" altLang="zh-CN">
                                <a:latin typeface="Cambria Math" panose="02040503050406030204" pitchFamily="18" charset="0"/>
                                <a:ea typeface="等线" panose="02010600030101010101" charset="-122"/>
                              </a:rPr>
                              <m:t>𝑓</m:t>
                            </m:r>
                          </m:e>
                          <m:sub>
                            <m:r>
                              <a:rPr lang="en-US" altLang="zh-CN">
                                <a:latin typeface="Cambria Math" panose="02040503050406030204" pitchFamily="18" charset="0"/>
                                <a:ea typeface="等线" panose="02010600030101010101" charset="-122"/>
                              </a:rPr>
                              <m:t>𝑖</m:t>
                            </m:r>
                          </m:sub>
                        </m:sSub>
                      </m:e>
                    </m:nary>
                    <m:d>
                      <m:dPr>
                        <m:ctrlPr>
                          <a:rPr lang="zh-CN" altLang="zh-CN" i="1">
                            <a:latin typeface="Cambria Math" panose="02040503050406030204" pitchFamily="18" charset="0"/>
                            <a:ea typeface="等线" panose="02010600030101010101" charset="-122"/>
                          </a:rPr>
                        </m:ctrlPr>
                      </m:dPr>
                      <m:e>
                        <m:r>
                          <a:rPr lang="en-US" altLang="zh-CN">
                            <a:latin typeface="Cambria Math" panose="02040503050406030204" pitchFamily="18" charset="0"/>
                            <a:ea typeface="等线" panose="02010600030101010101" charset="-122"/>
                          </a:rPr>
                          <m:t>𝑡</m:t>
                        </m:r>
                      </m:e>
                    </m:d>
                  </m:oMath>
                </a14:m>
                <a:r>
                  <a:rPr lang="zh-CN" altLang="zh-CN" dirty="0">
                    <a:latin typeface="等线" panose="02010600030101010101" charset="-122"/>
                    <a:ea typeface="等线" panose="02010600030101010101" charset="-122"/>
                  </a:rPr>
                  <a:t>，公式</a:t>
                </a:r>
                <a:r>
                  <a:rPr lang="en-US" altLang="zh-CN" dirty="0">
                    <a:latin typeface="等线" panose="02010600030101010101" charset="-122"/>
                    <a:ea typeface="等线" panose="02010600030101010101" charset="-122"/>
                  </a:rPr>
                  <a:t>(1)</a:t>
                </a:r>
                <a:r>
                  <a:rPr lang="zh-CN" altLang="zh-CN" dirty="0">
                    <a:latin typeface="等线" panose="02010600030101010101" charset="-122"/>
                    <a:ea typeface="等线" panose="02010600030101010101" charset="-122"/>
                  </a:rPr>
                  <a:t>中</a:t>
                </a:r>
                <a14:m>
                  <m:oMath xmlns:m="http://schemas.openxmlformats.org/officeDocument/2006/math">
                    <m:sSub>
                      <m:sSubPr>
                        <m:ctrlPr>
                          <a:rPr lang="zh-CN" altLang="zh-CN" i="1">
                            <a:latin typeface="Cambria Math" panose="02040503050406030204" pitchFamily="18" charset="0"/>
                            <a:ea typeface="等线" panose="02010600030101010101" charset="-122"/>
                          </a:rPr>
                        </m:ctrlPr>
                      </m:sSubPr>
                      <m:e>
                        <m:r>
                          <a:rPr lang="en-US" altLang="zh-CN">
                            <a:latin typeface="Cambria Math" panose="02040503050406030204" pitchFamily="18" charset="0"/>
                            <a:ea typeface="等线" panose="02010600030101010101" charset="-122"/>
                          </a:rPr>
                          <m:t>𝑓</m:t>
                        </m:r>
                      </m:e>
                      <m:sub>
                        <m:r>
                          <a:rPr lang="en-US" altLang="zh-CN">
                            <a:latin typeface="Cambria Math" panose="02040503050406030204" pitchFamily="18" charset="0"/>
                            <a:ea typeface="等线" panose="02010600030101010101" charset="-122"/>
                          </a:rPr>
                          <m:t>𝑖</m:t>
                        </m:r>
                      </m:sub>
                    </m:sSub>
                    <m:d>
                      <m:dPr>
                        <m:ctrlPr>
                          <a:rPr lang="zh-CN" altLang="zh-CN" i="1">
                            <a:latin typeface="Cambria Math" panose="02040503050406030204" pitchFamily="18" charset="0"/>
                            <a:ea typeface="等线" panose="02010600030101010101" charset="-122"/>
                          </a:rPr>
                        </m:ctrlPr>
                      </m:dPr>
                      <m:e>
                        <m:r>
                          <a:rPr lang="en-US" altLang="zh-CN">
                            <a:latin typeface="Cambria Math" panose="02040503050406030204" pitchFamily="18" charset="0"/>
                            <a:ea typeface="等线" panose="02010600030101010101" charset="-122"/>
                          </a:rPr>
                          <m:t>𝑡</m:t>
                        </m:r>
                      </m:e>
                    </m:d>
                  </m:oMath>
                </a14:m>
                <a:r>
                  <a:rPr lang="zh-CN" altLang="zh-CN" dirty="0">
                    <a:latin typeface="等线" panose="02010600030101010101" charset="-122"/>
                    <a:ea typeface="等线" panose="02010600030101010101" charset="-122"/>
                  </a:rPr>
                  <a:t>是第</a:t>
                </a:r>
                <a:r>
                  <a:rPr lang="en-US" altLang="zh-CN" dirty="0" err="1">
                    <a:latin typeface="等线" panose="02010600030101010101" charset="-122"/>
                    <a:ea typeface="等线" panose="02010600030101010101" charset="-122"/>
                  </a:rPr>
                  <a:t>i</a:t>
                </a:r>
                <a:r>
                  <a:rPr lang="zh-CN" altLang="zh-CN" dirty="0">
                    <a:latin typeface="等线" panose="02010600030101010101" charset="-122"/>
                    <a:ea typeface="等线" panose="02010600030101010101" charset="-122"/>
                  </a:rPr>
                  <a:t>个时间段内的</a:t>
                </a:r>
                <a:r>
                  <a:rPr lang="en-US" altLang="zh-CN" dirty="0">
                    <a:latin typeface="等线" panose="02010600030101010101" charset="-122"/>
                    <a:ea typeface="等线" panose="02010600030101010101" charset="-122"/>
                  </a:rPr>
                  <a:t>LFM</a:t>
                </a:r>
                <a:r>
                  <a:rPr lang="zh-CN" altLang="zh-CN" dirty="0">
                    <a:latin typeface="等线" panose="02010600030101010101" charset="-122"/>
                    <a:ea typeface="等线" panose="02010600030101010101" charset="-122"/>
                  </a:rPr>
                  <a:t>信号</a:t>
                </a:r>
                <a:r>
                  <a:rPr lang="en-US" altLang="zh-CN" dirty="0">
                    <a:latin typeface="等线" panose="02010600030101010101" charset="-122"/>
                    <a:ea typeface="等线" panose="02010600030101010101" charset="-122"/>
                  </a:rPr>
                  <a:t>,</a:t>
                </a:r>
                <a:r>
                  <a:rPr lang="en-US" altLang="zh-CN" dirty="0" err="1">
                    <a:latin typeface="等线" panose="02010600030101010101" charset="-122"/>
                    <a:ea typeface="等线" panose="02010600030101010101" charset="-122"/>
                  </a:rPr>
                  <a:t>i</a:t>
                </a:r>
                <a:r>
                  <a:rPr lang="en-US" altLang="zh-CN" dirty="0">
                    <a:latin typeface="等线" panose="02010600030101010101" charset="-122"/>
                    <a:ea typeface="等线" panose="02010600030101010101" charset="-122"/>
                  </a:rPr>
                  <a:t>=1</a:t>
                </a:r>
                <a:r>
                  <a:rPr lang="zh-CN" altLang="zh-CN" dirty="0">
                    <a:latin typeface="等线" panose="02010600030101010101" charset="-122"/>
                    <a:ea typeface="等线" panose="02010600030101010101" charset="-122"/>
                  </a:rPr>
                  <a:t>，</a:t>
                </a:r>
                <a:r>
                  <a:rPr lang="en-US" altLang="zh-CN" dirty="0">
                    <a:latin typeface="等线" panose="02010600030101010101" charset="-122"/>
                    <a:ea typeface="等线" panose="02010600030101010101" charset="-122"/>
                  </a:rPr>
                  <a:t>2</a:t>
                </a:r>
                <a:r>
                  <a:rPr lang="zh-CN" altLang="zh-CN" dirty="0">
                    <a:latin typeface="等线" panose="02010600030101010101" charset="-122"/>
                    <a:ea typeface="等线" panose="02010600030101010101" charset="-122"/>
                  </a:rPr>
                  <a:t>，</a:t>
                </a:r>
                <a:r>
                  <a:rPr lang="en-US" altLang="zh-CN" dirty="0">
                    <a:latin typeface="等线" panose="02010600030101010101" charset="-122"/>
                    <a:ea typeface="等线" panose="02010600030101010101" charset="-122"/>
                  </a:rPr>
                  <a:t>…</a:t>
                </a:r>
                <a:r>
                  <a:rPr lang="zh-CN" altLang="zh-CN" dirty="0">
                    <a:latin typeface="等线" panose="02010600030101010101" charset="-122"/>
                    <a:ea typeface="等线" panose="02010600030101010101" charset="-122"/>
                  </a:rPr>
                  <a:t>，</a:t>
                </a:r>
                <a:r>
                  <a:rPr lang="en-US" altLang="zh-CN" dirty="0">
                    <a:latin typeface="等线" panose="02010600030101010101" charset="-122"/>
                    <a:ea typeface="等线" panose="02010600030101010101" charset="-122"/>
                  </a:rPr>
                  <a:t>N</a:t>
                </a:r>
                <a:r>
                  <a:rPr lang="zh-CN" altLang="zh-CN" dirty="0">
                    <a:latin typeface="等线" panose="02010600030101010101" charset="-122"/>
                    <a:ea typeface="等线" panose="02010600030101010101" charset="-122"/>
                  </a:rPr>
                  <a:t>，具体为</a:t>
                </a:r>
                <a:r>
                  <a:rPr lang="zh-CN" altLang="en-US" dirty="0">
                    <a:latin typeface="等线" panose="02010600030101010101" charset="-122"/>
                    <a:ea typeface="等线" panose="02010600030101010101" charset="-122"/>
                  </a:rPr>
                  <a:t>：</a:t>
                </a:r>
                <a:endParaRPr lang="zh-CN" altLang="zh-CN" dirty="0">
                  <a:latin typeface="等线" panose="02010600030101010101" charset="-122"/>
                  <a:ea typeface="等线" panose="02010600030101010101" charset="-122"/>
                </a:endParaRPr>
              </a:p>
              <a:p>
                <a:endParaRPr lang="zh-CN" altLang="en-US" dirty="0">
                  <a:latin typeface="等线" panose="02010600030101010101" charset="-122"/>
                  <a:ea typeface="等线" panose="02010600030101010101"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2397221" y="1755112"/>
                <a:ext cx="6622502" cy="941155"/>
              </a:xfrm>
              <a:prstGeom prst="rect">
                <a:avLst/>
              </a:prstGeom>
              <a:blipFill rotWithShape="1">
                <a:blip r:embed="rId22"/>
                <a:stretch>
                  <a:fillRect l="-1" t="-64" r="3" b="6"/>
                </a:stretch>
              </a:blipFill>
            </p:spPr>
            <p:txBody>
              <a:bodyPr/>
              <a:lstStyle/>
              <a:p>
                <a:r>
                  <a:rPr lang="zh-CN" altLang="en-US">
                    <a:noFill/>
                  </a:rPr>
                  <a:t> </a:t>
                </a:r>
              </a:p>
            </p:txBody>
          </p:sp>
        </mc:Fallback>
      </mc:AlternateContent>
      <p:pic>
        <p:nvPicPr>
          <p:cNvPr id="33" name="图片 32"/>
          <p:cNvPicPr/>
          <p:nvPr/>
        </p:nvPicPr>
        <p:blipFill>
          <a:blip r:embed="rId23"/>
          <a:stretch>
            <a:fillRect/>
          </a:stretch>
        </p:blipFill>
        <p:spPr>
          <a:xfrm>
            <a:off x="3420262" y="2461227"/>
            <a:ext cx="4689958" cy="552189"/>
          </a:xfrm>
          <a:prstGeom prst="rect">
            <a:avLst/>
          </a:prstGeom>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2"/>
            </p:custDataLst>
          </p:nvPr>
        </p:nvSpPr>
        <p:spPr>
          <a:xfrm>
            <a:off x="0" y="0"/>
            <a:ext cx="12201525" cy="68453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descr="校徽+南京师范大学(白)"/>
          <p:cNvPicPr>
            <a:picLocks noChangeAspect="1"/>
          </p:cNvPicPr>
          <p:nvPr>
            <p:custDataLst>
              <p:tags r:id="rId3"/>
            </p:custDataLst>
          </p:nvPr>
        </p:nvPicPr>
        <p:blipFill>
          <a:blip r:embed="rId10"/>
          <a:stretch>
            <a:fillRect/>
          </a:stretch>
        </p:blipFill>
        <p:spPr>
          <a:xfrm>
            <a:off x="9427845" y="-587375"/>
            <a:ext cx="2764155" cy="1955165"/>
          </a:xfrm>
          <a:prstGeom prst="rect">
            <a:avLst/>
          </a:prstGeom>
        </p:spPr>
      </p:pic>
      <p:sp>
        <p:nvSpPr>
          <p:cNvPr id="10" name="文本框 9"/>
          <p:cNvSpPr txBox="1"/>
          <p:nvPr/>
        </p:nvSpPr>
        <p:spPr>
          <a:xfrm>
            <a:off x="226060" y="109855"/>
            <a:ext cx="2644140" cy="461665"/>
          </a:xfrm>
          <a:prstGeom prst="rect">
            <a:avLst/>
          </a:prstGeom>
          <a:noFill/>
        </p:spPr>
        <p:txBody>
          <a:bodyPr wrap="square" rtlCol="0">
            <a:spAutoFit/>
          </a:bodyPr>
          <a:lstStyle/>
          <a:p>
            <a:r>
              <a:rPr lang="zh-CN" altLang="zh-CN" sz="2400" b="1" dirty="0">
                <a:solidFill>
                  <a:schemeClr val="bg1"/>
                </a:solidFill>
                <a:latin typeface="微软雅黑" panose="020B0503020204020204" charset="-122"/>
                <a:ea typeface="微软雅黑" panose="020B0503020204020204" charset="-122"/>
              </a:rPr>
              <a:t>相关理论补</a:t>
            </a:r>
            <a:r>
              <a:rPr lang="zh-CN" altLang="en-US" sz="2400" b="1" dirty="0">
                <a:solidFill>
                  <a:schemeClr val="bg1"/>
                </a:solidFill>
                <a:latin typeface="微软雅黑" panose="020B0503020204020204" charset="-122"/>
                <a:ea typeface="微软雅黑" panose="020B0503020204020204" charset="-122"/>
              </a:rPr>
              <a:t>充</a:t>
            </a:r>
            <a:endParaRPr lang="zh-CN" altLang="en-US" sz="2400" b="1" dirty="0">
              <a:solidFill>
                <a:schemeClr val="bg1"/>
              </a:solidFill>
            </a:endParaRPr>
          </a:p>
        </p:txBody>
      </p:sp>
      <p:sp>
        <p:nvSpPr>
          <p:cNvPr id="11" name="矩形 10"/>
          <p:cNvSpPr/>
          <p:nvPr>
            <p:custDataLst>
              <p:tags r:id="rId4"/>
            </p:custDataLst>
          </p:nvPr>
        </p:nvSpPr>
        <p:spPr>
          <a:xfrm>
            <a:off x="-9525" y="6738620"/>
            <a:ext cx="12201525" cy="1193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7" name="组合 76"/>
          <p:cNvGrpSpPr/>
          <p:nvPr/>
        </p:nvGrpSpPr>
        <p:grpSpPr>
          <a:xfrm>
            <a:off x="2565749" y="1195969"/>
            <a:ext cx="6398895" cy="1043940"/>
            <a:chOff x="586" y="2062"/>
            <a:chExt cx="10077" cy="1644"/>
          </a:xfrm>
        </p:grpSpPr>
        <p:grpSp>
          <p:nvGrpSpPr>
            <p:cNvPr id="75" name="组合 74"/>
            <p:cNvGrpSpPr/>
            <p:nvPr/>
          </p:nvGrpSpPr>
          <p:grpSpPr>
            <a:xfrm>
              <a:off x="666" y="2062"/>
              <a:ext cx="3000" cy="709"/>
              <a:chOff x="558" y="2062"/>
              <a:chExt cx="3000" cy="709"/>
            </a:xfrm>
          </p:grpSpPr>
          <p:sp>
            <p:nvSpPr>
              <p:cNvPr id="73" name="矩形 72"/>
              <p:cNvSpPr/>
              <p:nvPr/>
            </p:nvSpPr>
            <p:spPr>
              <a:xfrm>
                <a:off x="558" y="2062"/>
                <a:ext cx="3000" cy="709"/>
              </a:xfrm>
              <a:prstGeom prst="rect">
                <a:avLst/>
              </a:prstGeom>
              <a:solidFill>
                <a:srgbClr val="0063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p:cNvSpPr txBox="1"/>
              <p:nvPr/>
            </p:nvSpPr>
            <p:spPr>
              <a:xfrm>
                <a:off x="806" y="2124"/>
                <a:ext cx="2559" cy="582"/>
              </a:xfrm>
              <a:prstGeom prst="rect">
                <a:avLst/>
              </a:prstGeom>
              <a:noFill/>
            </p:spPr>
            <p:txBody>
              <a:bodyPr wrap="square" rtlCol="0">
                <a:spAutoFit/>
              </a:bodyPr>
              <a:lstStyle/>
              <a:p>
                <a:pPr algn="ctr"/>
                <a:r>
                  <a:rPr lang="zh-CN" altLang="zh-CN" b="1" dirty="0">
                    <a:solidFill>
                      <a:schemeClr val="bg1"/>
                    </a:solidFill>
                  </a:rPr>
                  <a:t>高斯窗函数</a:t>
                </a:r>
                <a:endParaRPr lang="zh-CN" altLang="en-US" b="1" dirty="0">
                  <a:solidFill>
                    <a:schemeClr val="bg1"/>
                  </a:solidFill>
                </a:endParaRPr>
              </a:p>
            </p:txBody>
          </p:sp>
        </p:grpSp>
        <p:sp>
          <p:nvSpPr>
            <p:cNvPr id="76" name="矩形 75"/>
            <p:cNvSpPr/>
            <p:nvPr>
              <p:custDataLst>
                <p:tags r:id="rId8"/>
              </p:custDataLst>
            </p:nvPr>
          </p:nvSpPr>
          <p:spPr>
            <a:xfrm>
              <a:off x="586" y="3106"/>
              <a:ext cx="10077" cy="600"/>
            </a:xfrm>
            <a:prstGeom prst="rect">
              <a:avLst/>
            </a:prstGeom>
          </p:spPr>
          <p:txBody>
            <a:bodyPr wrap="square">
              <a:spAutoFit/>
            </a:bodyPr>
            <a:lstStyle/>
            <a:p>
              <a:pPr algn="just" fontAlgn="auto">
                <a:lnSpc>
                  <a:spcPct val="130000"/>
                </a:lnSpc>
              </a:pPr>
              <a:endParaRPr 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lt"/>
              </a:endParaRPr>
            </a:p>
          </p:txBody>
        </p:sp>
      </p:grpSp>
      <p:grpSp>
        <p:nvGrpSpPr>
          <p:cNvPr id="78" name="组合 77"/>
          <p:cNvGrpSpPr/>
          <p:nvPr/>
        </p:nvGrpSpPr>
        <p:grpSpPr>
          <a:xfrm>
            <a:off x="2533999" y="3605251"/>
            <a:ext cx="6419850" cy="2306955"/>
            <a:chOff x="553" y="2062"/>
            <a:chExt cx="10110" cy="3633"/>
          </a:xfrm>
        </p:grpSpPr>
        <p:grpSp>
          <p:nvGrpSpPr>
            <p:cNvPr id="79" name="组合 78"/>
            <p:cNvGrpSpPr/>
            <p:nvPr/>
          </p:nvGrpSpPr>
          <p:grpSpPr>
            <a:xfrm>
              <a:off x="553" y="2062"/>
              <a:ext cx="3254" cy="709"/>
              <a:chOff x="445" y="2062"/>
              <a:chExt cx="3254" cy="709"/>
            </a:xfrm>
          </p:grpSpPr>
          <p:sp>
            <p:nvSpPr>
              <p:cNvPr id="80" name="矩形 79"/>
              <p:cNvSpPr/>
              <p:nvPr>
                <p:custDataLst>
                  <p:tags r:id="rId6"/>
                </p:custDataLst>
              </p:nvPr>
            </p:nvSpPr>
            <p:spPr>
              <a:xfrm>
                <a:off x="586" y="2062"/>
                <a:ext cx="3000" cy="709"/>
              </a:xfrm>
              <a:prstGeom prst="rect">
                <a:avLst/>
              </a:prstGeom>
              <a:solidFill>
                <a:srgbClr val="0063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p:cNvSpPr txBox="1"/>
              <p:nvPr>
                <p:custDataLst>
                  <p:tags r:id="rId7"/>
                </p:custDataLst>
              </p:nvPr>
            </p:nvSpPr>
            <p:spPr>
              <a:xfrm>
                <a:off x="445" y="2118"/>
                <a:ext cx="3254" cy="582"/>
              </a:xfrm>
              <a:prstGeom prst="rect">
                <a:avLst/>
              </a:prstGeom>
              <a:noFill/>
            </p:spPr>
            <p:txBody>
              <a:bodyPr wrap="square" rtlCol="0">
                <a:spAutoFit/>
              </a:bodyPr>
              <a:lstStyle/>
              <a:p>
                <a:pPr algn="ctr"/>
                <a:r>
                  <a:rPr lang="en-US" altLang="zh-CN" b="1" dirty="0">
                    <a:solidFill>
                      <a:schemeClr val="bg1"/>
                    </a:solidFill>
                  </a:rPr>
                  <a:t>STFRFT</a:t>
                </a:r>
                <a:r>
                  <a:rPr lang="zh-CN" altLang="zh-CN" b="1" dirty="0">
                    <a:solidFill>
                      <a:schemeClr val="bg1"/>
                    </a:solidFill>
                  </a:rPr>
                  <a:t>时频表示</a:t>
                </a:r>
                <a:endParaRPr lang="zh-CN" altLang="en-US" b="1" dirty="0">
                  <a:solidFill>
                    <a:schemeClr val="bg1"/>
                  </a:solidFill>
                </a:endParaRPr>
              </a:p>
            </p:txBody>
          </p:sp>
        </p:grpSp>
        <mc:AlternateContent xmlns:mc="http://schemas.openxmlformats.org/markup-compatibility/2006" xmlns:a14="http://schemas.microsoft.com/office/drawing/2010/main">
          <mc:Choice Requires="a14">
            <p:sp>
              <p:nvSpPr>
                <p:cNvPr id="82" name="矩形 81"/>
                <p:cNvSpPr/>
                <p:nvPr>
                  <p:custDataLst>
                    <p:tags r:id="rId5"/>
                  </p:custDataLst>
                </p:nvPr>
              </p:nvSpPr>
              <p:spPr>
                <a:xfrm>
                  <a:off x="770" y="3193"/>
                  <a:ext cx="9893" cy="250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𝑆𝑇𝐹𝑅𝐹𝑇𝑓𝑔</m:t>
                        </m:r>
                        <m:r>
                          <a:rPr lang="en-US" altLang="zh-CN">
                            <a:latin typeface="Cambria Math" panose="02040503050406030204" pitchFamily="18" charset="0"/>
                          </a:rPr>
                          <m:t>​</m:t>
                        </m:r>
                        <m:d>
                          <m:dPr>
                            <m:ctrlPr>
                              <a:rPr lang="en-US" altLang="zh-CN" i="1">
                                <a:latin typeface="Cambria Math" panose="02040503050406030204" pitchFamily="18" charset="0"/>
                              </a:rPr>
                            </m:ctrlPr>
                          </m:dPr>
                          <m:e>
                            <m:r>
                              <a:rPr lang="en-US" altLang="zh-CN" i="1">
                                <a:latin typeface="Cambria Math" panose="02040503050406030204" pitchFamily="18" charset="0"/>
                              </a:rPr>
                              <m:t>𝛼</m:t>
                            </m:r>
                            <m:r>
                              <a:rPr lang="en-US" altLang="zh-CN">
                                <a:latin typeface="Cambria Math" panose="02040503050406030204" pitchFamily="18" charset="0"/>
                              </a:rPr>
                              <m:t>,</m:t>
                            </m:r>
                            <m:r>
                              <a:rPr lang="en-US" altLang="zh-CN" i="1">
                                <a:latin typeface="Cambria Math" panose="02040503050406030204" pitchFamily="18" charset="0"/>
                              </a:rPr>
                              <m:t>𝑡</m:t>
                            </m:r>
                            <m:r>
                              <a:rPr lang="en-US" altLang="zh-CN">
                                <a:latin typeface="Cambria Math" panose="02040503050406030204" pitchFamily="18" charset="0"/>
                              </a:rPr>
                              <m:t>,</m:t>
                            </m:r>
                            <m:r>
                              <a:rPr lang="en-US" altLang="zh-CN" i="1">
                                <a:latin typeface="Cambria Math" panose="02040503050406030204" pitchFamily="18" charset="0"/>
                              </a:rPr>
                              <m:t>𝑢</m:t>
                            </m:r>
                          </m:e>
                        </m:d>
                        <m:r>
                          <a:rPr lang="en-US" altLang="zh-CN">
                            <a:latin typeface="Cambria Math" panose="02040503050406030204" pitchFamily="18" charset="0"/>
                          </a:rPr>
                          <m:t>=</m:t>
                        </m:r>
                        <m:r>
                          <a:rPr lang="en-US" altLang="zh-CN" i="1">
                            <a:latin typeface="Cambria Math" panose="02040503050406030204" pitchFamily="18" charset="0"/>
                          </a:rPr>
                          <m:t>𝑒𝑗</m:t>
                        </m:r>
                        <m:d>
                          <m:dPr>
                            <m:ctrlPr>
                              <a:rPr lang="en-US" altLang="zh-CN" i="1">
                                <a:latin typeface="Cambria Math" panose="02040503050406030204" pitchFamily="18" charset="0"/>
                              </a:rPr>
                            </m:ctrlPr>
                          </m:dPr>
                          <m:e>
                            <m:r>
                              <a:rPr lang="en-US" altLang="zh-CN" i="1">
                                <a:latin typeface="Cambria Math" panose="02040503050406030204" pitchFamily="18" charset="0"/>
                              </a:rPr>
                              <m:t>𝛽</m:t>
                            </m:r>
                            <m:sSup>
                              <m:sSupPr>
                                <m:ctrlPr>
                                  <a:rPr lang="en-US" altLang="zh-CN" i="1">
                                    <a:latin typeface="Cambria Math" panose="02040503050406030204" pitchFamily="18" charset="0"/>
                                  </a:rPr>
                                </m:ctrlPr>
                              </m:sSupPr>
                              <m:e>
                                <m:r>
                                  <a:rPr lang="en-US" altLang="zh-CN" i="1">
                                    <a:latin typeface="Cambria Math" panose="02040503050406030204" pitchFamily="18" charset="0"/>
                                  </a:rPr>
                                  <m:t>𝜙</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r>
                              <a:rPr lang="en-US" altLang="zh-CN" i="1">
                                <a:latin typeface="Cambria Math" panose="02040503050406030204" pitchFamily="18" charset="0"/>
                              </a:rPr>
                              <m:t>𝛼𝛽</m:t>
                            </m:r>
                            <m:sSup>
                              <m:sSupPr>
                                <m:ctrlPr>
                                  <a:rPr lang="en-US" altLang="zh-CN" i="1">
                                    <a:latin typeface="Cambria Math" panose="02040503050406030204" pitchFamily="18" charset="0"/>
                                  </a:rPr>
                                </m:ctrlPr>
                              </m:sSupPr>
                              <m:e>
                                <m:r>
                                  <a:rPr lang="en-US" altLang="zh-CN" i="1">
                                    <a:latin typeface="Cambria Math" panose="02040503050406030204" pitchFamily="18" charset="0"/>
                                  </a:rPr>
                                  <m:t>𝜙</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m:rPr>
                                <m:sty m:val="p"/>
                              </m:rPr>
                              <a:rPr lang="en-US" altLang="zh-CN">
                                <a:latin typeface="Cambria Math" panose="02040503050406030204" pitchFamily="18" charset="0"/>
                              </a:rPr>
                              <m:t>cot</m:t>
                            </m:r>
                            <m:d>
                              <m:dPr>
                                <m:ctrlPr>
                                  <a:rPr lang="en-US" altLang="zh-CN" i="1">
                                    <a:latin typeface="Cambria Math" panose="02040503050406030204" pitchFamily="18" charset="0"/>
                                  </a:rPr>
                                </m:ctrlPr>
                              </m:dPr>
                              <m:e>
                                <m:r>
                                  <a:rPr lang="en-US" altLang="zh-CN" i="1">
                                    <a:latin typeface="Cambria Math" panose="02040503050406030204" pitchFamily="18" charset="0"/>
                                  </a:rPr>
                                  <m:t>𝛼</m:t>
                                </m:r>
                              </m:e>
                            </m:d>
                            <m:r>
                              <a:rPr lang="en-US" altLang="zh-CN">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𝛼𝛽</m:t>
                                </m:r>
                                <m:r>
                                  <a:rPr lang="en-US" altLang="zh-CN">
                                    <a:latin typeface="Cambria Math" panose="02040503050406030204" pitchFamily="18" charset="0"/>
                                  </a:rPr>
                                  <m:t>2</m:t>
                                </m:r>
                              </m:num>
                              <m:den>
                                <m:r>
                                  <a:rPr lang="en-US" altLang="zh-CN">
                                    <a:latin typeface="Cambria Math" panose="02040503050406030204" pitchFamily="18" charset="0"/>
                                  </a:rPr>
                                  <m:t>4</m:t>
                                </m:r>
                              </m:den>
                            </m:f>
                          </m:e>
                        </m:d>
                      </m:oMath>
                    </m:oMathPara>
                  </a14:m>
                  <a:endParaRPr lang="en-US" altLang="zh-CN" dirty="0"/>
                </a:p>
                <a:p>
                  <a:endParaRPr lang="zh-CN" altLang="zh-CN" dirty="0"/>
                </a:p>
                <a:p>
                  <a:r>
                    <a:rPr lang="zh-CN" altLang="zh-CN" dirty="0">
                      <a:latin typeface="等线" panose="02010600030101010101" charset="-122"/>
                      <a:ea typeface="等线" panose="02010600030101010101" charset="-122"/>
                    </a:rPr>
                    <a:t>其中</a:t>
                  </a:r>
                  <a14:m>
                    <m:oMath xmlns:m="http://schemas.openxmlformats.org/officeDocument/2006/math">
                      <m:r>
                        <a:rPr lang="zh-CN" altLang="zh-CN">
                          <a:latin typeface="Cambria Math" panose="02040503050406030204" pitchFamily="18" charset="0"/>
                          <a:ea typeface="等线" panose="02010600030101010101" charset="-122"/>
                        </a:rPr>
                        <m:t>：</m:t>
                      </m:r>
                      <m:r>
                        <m:rPr>
                          <m:sty m:val="p"/>
                        </m:rPr>
                        <a:rPr lang="en-US" altLang="zh-CN">
                          <a:latin typeface="Cambria Math" panose="02040503050406030204" pitchFamily="18" charset="0"/>
                          <a:ea typeface="等线" panose="02010600030101010101" charset="-122"/>
                        </a:rPr>
                        <m:t>β</m:t>
                      </m:r>
                      <m:r>
                        <a:rPr lang="en-US" altLang="zh-CN">
                          <a:latin typeface="Cambria Math" panose="02040503050406030204" pitchFamily="18" charset="0"/>
                          <a:ea typeface="等线" panose="02010600030101010101" charset="-122"/>
                        </a:rPr>
                        <m:t>=</m:t>
                      </m:r>
                      <m:r>
                        <m:rPr>
                          <m:sty m:val="p"/>
                        </m:rPr>
                        <a:rPr lang="en-US" altLang="zh-CN">
                          <a:latin typeface="Cambria Math" panose="02040503050406030204" pitchFamily="18" charset="0"/>
                          <a:ea typeface="等线" panose="02010600030101010101" charset="-122"/>
                        </a:rPr>
                        <m:t>arccot</m:t>
                      </m:r>
                      <m:r>
                        <a:rPr lang="en-US" altLang="zh-CN">
                          <a:latin typeface="Cambria Math" panose="02040503050406030204" pitchFamily="18" charset="0"/>
                          <a:ea typeface="等线" panose="02010600030101010101" charset="-122"/>
                        </a:rPr>
                        <m:t>(</m:t>
                      </m:r>
                      <m:r>
                        <a:rPr lang="en-US" altLang="zh-CN">
                          <a:latin typeface="Cambria Math" panose="02040503050406030204" pitchFamily="18" charset="0"/>
                          <a:ea typeface="等线" panose="02010600030101010101" charset="-122"/>
                        </a:rPr>
                        <m:t>𝛼</m:t>
                      </m:r>
                      <m:r>
                        <m:rPr>
                          <m:sty m:val="p"/>
                        </m:rPr>
                        <a:rPr lang="en-US" altLang="zh-CN">
                          <a:latin typeface="Cambria Math" panose="02040503050406030204" pitchFamily="18" charset="0"/>
                          <a:ea typeface="等线" panose="02010600030101010101" charset="-122"/>
                        </a:rPr>
                        <m:t>cot</m:t>
                      </m:r>
                      <m:r>
                        <a:rPr lang="en-US" altLang="zh-CN">
                          <a:latin typeface="Cambria Math" panose="02040503050406030204" pitchFamily="18" charset="0"/>
                          <a:ea typeface="等线" panose="02010600030101010101" charset="-122"/>
                        </a:rPr>
                        <m:t>(</m:t>
                      </m:r>
                      <m:r>
                        <a:rPr lang="en-US" altLang="zh-CN">
                          <a:latin typeface="Cambria Math" panose="02040503050406030204" pitchFamily="18" charset="0"/>
                          <a:ea typeface="等线" panose="02010600030101010101" charset="-122"/>
                        </a:rPr>
                        <m:t>𝜙</m:t>
                      </m:r>
                      <m:r>
                        <a:rPr lang="en-US" altLang="zh-CN">
                          <a:latin typeface="Cambria Math" panose="02040503050406030204" pitchFamily="18" charset="0"/>
                          <a:ea typeface="等线" panose="02010600030101010101" charset="-122"/>
                        </a:rPr>
                        <m:t>′′(</m:t>
                      </m:r>
                      <m:r>
                        <a:rPr lang="en-US" altLang="zh-CN">
                          <a:latin typeface="Cambria Math" panose="02040503050406030204" pitchFamily="18" charset="0"/>
                          <a:ea typeface="等线" panose="02010600030101010101" charset="-122"/>
                        </a:rPr>
                        <m:t>𝑡</m:t>
                      </m:r>
                      <m:r>
                        <a:rPr lang="en-US" altLang="zh-CN">
                          <a:latin typeface="Cambria Math" panose="02040503050406030204" pitchFamily="18" charset="0"/>
                          <a:ea typeface="等线" panose="02010600030101010101" charset="-122"/>
                        </a:rPr>
                        <m:t>)))</m:t>
                      </m:r>
                    </m:oMath>
                  </a14:m>
                  <a:r>
                    <a:rPr lang="zh-CN" altLang="zh-CN" dirty="0">
                      <a:latin typeface="等线" panose="02010600030101010101" charset="-122"/>
                      <a:ea typeface="等线" panose="02010600030101010101" charset="-122"/>
                    </a:rPr>
                    <a:t>可以得出高斯窗函数对应宽度：</a:t>
                  </a:r>
                </a:p>
                <a:p>
                  <a:pPr algn="just" fontAlgn="auto">
                    <a:lnSpc>
                      <a:spcPct val="130000"/>
                    </a:lnSpc>
                  </a:pPr>
                  <a:endParaRPr 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lt"/>
                  </a:endParaRPr>
                </a:p>
              </p:txBody>
            </p:sp>
          </mc:Choice>
          <mc:Fallback xmlns="">
            <p:sp>
              <p:nvSpPr>
                <p:cNvPr id="82" name="矩形 81"/>
                <p:cNvSpPr>
                  <a:spLocks noRot="1" noChangeAspect="1" noMove="1" noResize="1" noEditPoints="1" noAdjustHandles="1" noChangeArrowheads="1" noChangeShapeType="1" noTextEdit="1"/>
                </p:cNvSpPr>
                <p:nvPr>
                  <p:custDataLst>
                    <p:tags r:id="rId15"/>
                  </p:custDataLst>
                </p:nvPr>
              </p:nvSpPr>
              <p:spPr>
                <a:xfrm>
                  <a:off x="770" y="3193"/>
                  <a:ext cx="9893" cy="2502"/>
                </a:xfrm>
                <a:prstGeom prst="rect">
                  <a:avLst/>
                </a:prstGeom>
                <a:blipFill rotWithShape="1">
                  <a:blip r:embed="rId16"/>
                </a:blipFill>
              </p:spPr>
              <p:txBody>
                <a:bodyPr/>
                <a:lstStyle/>
                <a:p>
                  <a:r>
                    <a:rPr lang="zh-CN" altLang="en-US">
                      <a:noFill/>
                    </a:rPr>
                    <a:t> </a:t>
                  </a:r>
                </a:p>
              </p:txBody>
            </p:sp>
          </mc:Fallback>
        </mc:AlternateContent>
      </p:grpSp>
      <p:pic>
        <p:nvPicPr>
          <p:cNvPr id="28" name="图片 27"/>
          <p:cNvPicPr/>
          <p:nvPr/>
        </p:nvPicPr>
        <p:blipFill>
          <a:blip r:embed="rId17" cstate="print">
            <a:extLst>
              <a:ext uri="{28A0092B-C50C-407E-A947-70E740481C1C}">
                <a14:useLocalDpi xmlns:a14="http://schemas.microsoft.com/office/drawing/2010/main" val="0"/>
              </a:ext>
            </a:extLst>
          </a:blip>
          <a:stretch>
            <a:fillRect/>
          </a:stretch>
        </p:blipFill>
        <p:spPr>
          <a:xfrm>
            <a:off x="4529910" y="1809873"/>
            <a:ext cx="2546073" cy="833104"/>
          </a:xfrm>
          <a:prstGeom prst="rect">
            <a:avLst/>
          </a:prstGeom>
        </p:spPr>
      </p:pic>
      <p:sp>
        <p:nvSpPr>
          <p:cNvPr id="2" name="文本框 1"/>
          <p:cNvSpPr txBox="1"/>
          <p:nvPr/>
        </p:nvSpPr>
        <p:spPr>
          <a:xfrm>
            <a:off x="2672080" y="2724000"/>
            <a:ext cx="4164811" cy="646331"/>
          </a:xfrm>
          <a:prstGeom prst="rect">
            <a:avLst/>
          </a:prstGeom>
          <a:noFill/>
        </p:spPr>
        <p:txBody>
          <a:bodyPr wrap="square" rtlCol="0">
            <a:spAutoFit/>
          </a:bodyPr>
          <a:lstStyle/>
          <a:p>
            <a:r>
              <a:rPr lang="zh-CN" altLang="zh-CN" dirty="0">
                <a:latin typeface="等线" panose="02010600030101010101" charset="-122"/>
                <a:ea typeface="等线" panose="02010600030101010101" charset="-122"/>
              </a:rPr>
              <a:t>其中：</a:t>
            </a:r>
            <a:r>
              <a:rPr lang="en-US" altLang="zh-CN" dirty="0">
                <a:latin typeface="等线" panose="02010600030101010101" charset="-122"/>
                <a:ea typeface="等线" panose="02010600030101010101" charset="-122"/>
                <a:sym typeface="Symbol" panose="05050102010706020507" pitchFamily="18" charset="2"/>
              </a:rPr>
              <a:t></a:t>
            </a:r>
            <a:r>
              <a:rPr lang="zh-CN" altLang="zh-CN" dirty="0">
                <a:latin typeface="等线" panose="02010600030101010101" charset="-122"/>
                <a:ea typeface="等线" panose="02010600030101010101" charset="-122"/>
              </a:rPr>
              <a:t>是窗长参数，且</a:t>
            </a:r>
            <a:r>
              <a:rPr lang="en-US" altLang="zh-CN" dirty="0">
                <a:latin typeface="等线" panose="02010600030101010101" charset="-122"/>
                <a:ea typeface="等线" panose="02010600030101010101" charset="-122"/>
                <a:sym typeface="Symbol" panose="05050102010706020507" pitchFamily="18" charset="2"/>
              </a:rPr>
              <a:t></a:t>
            </a:r>
            <a:r>
              <a:rPr lang="en-US" altLang="zh-CN" dirty="0">
                <a:latin typeface="等线" panose="02010600030101010101" charset="-122"/>
                <a:ea typeface="等线" panose="02010600030101010101" charset="-122"/>
              </a:rPr>
              <a:t>0</a:t>
            </a:r>
            <a:r>
              <a:rPr lang="zh-CN" altLang="zh-CN" dirty="0">
                <a:latin typeface="等线" panose="02010600030101010101" charset="-122"/>
                <a:ea typeface="等线" panose="02010600030101010101" charset="-122"/>
              </a:rPr>
              <a:t>。</a:t>
            </a:r>
          </a:p>
          <a:p>
            <a:endParaRPr lang="zh-CN" altLang="en-US" dirty="0"/>
          </a:p>
        </p:txBody>
      </p:sp>
      <p:pic>
        <p:nvPicPr>
          <p:cNvPr id="31" name="图片 30"/>
          <p:cNvPicPr/>
          <p:nvPr/>
        </p:nvPicPr>
        <p:blipFill>
          <a:blip r:embed="rId18"/>
          <a:stretch>
            <a:fillRect/>
          </a:stretch>
        </p:blipFill>
        <p:spPr>
          <a:xfrm>
            <a:off x="2719275" y="5890093"/>
            <a:ext cx="2633631" cy="686556"/>
          </a:xfrm>
          <a:prstGeom prst="rect">
            <a:avLst/>
          </a:prstGeom>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2"/>
            </p:custDataLst>
          </p:nvPr>
        </p:nvSpPr>
        <p:spPr>
          <a:xfrm>
            <a:off x="0" y="0"/>
            <a:ext cx="12201525" cy="68453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descr="校徽+南京师范大学(白)"/>
          <p:cNvPicPr>
            <a:picLocks noChangeAspect="1"/>
          </p:cNvPicPr>
          <p:nvPr>
            <p:custDataLst>
              <p:tags r:id="rId3"/>
            </p:custDataLst>
          </p:nvPr>
        </p:nvPicPr>
        <p:blipFill>
          <a:blip r:embed="rId10"/>
          <a:stretch>
            <a:fillRect/>
          </a:stretch>
        </p:blipFill>
        <p:spPr>
          <a:xfrm>
            <a:off x="9427845" y="-587375"/>
            <a:ext cx="2764155" cy="1955165"/>
          </a:xfrm>
          <a:prstGeom prst="rect">
            <a:avLst/>
          </a:prstGeom>
        </p:spPr>
      </p:pic>
      <p:sp>
        <p:nvSpPr>
          <p:cNvPr id="10" name="文本框 9"/>
          <p:cNvSpPr txBox="1"/>
          <p:nvPr/>
        </p:nvSpPr>
        <p:spPr>
          <a:xfrm>
            <a:off x="226060" y="109855"/>
            <a:ext cx="4293522" cy="461665"/>
          </a:xfrm>
          <a:prstGeom prst="rect">
            <a:avLst/>
          </a:prstGeom>
          <a:noFill/>
        </p:spPr>
        <p:txBody>
          <a:bodyPr wrap="square" rtlCol="0">
            <a:spAutoFit/>
          </a:bodyPr>
          <a:lstStyle/>
          <a:p>
            <a:r>
              <a:rPr lang="en-US" altLang="zh-CN" sz="2400" b="1" dirty="0">
                <a:solidFill>
                  <a:schemeClr val="bg1"/>
                </a:solidFill>
                <a:latin typeface="微软雅黑" panose="020B0503020204020204" charset="-122"/>
                <a:ea typeface="微软雅黑" panose="020B0503020204020204" charset="-122"/>
              </a:rPr>
              <a:t>ASTFRFT</a:t>
            </a:r>
            <a:r>
              <a:rPr lang="zh-CN" altLang="zh-CN" sz="2400" b="1" dirty="0">
                <a:solidFill>
                  <a:schemeClr val="bg1"/>
                </a:solidFill>
                <a:latin typeface="微软雅黑" panose="020B0503020204020204" charset="-122"/>
                <a:ea typeface="微软雅黑" panose="020B0503020204020204" charset="-122"/>
              </a:rPr>
              <a:t>关键原理和算法</a:t>
            </a:r>
            <a:endParaRPr lang="zh-CN" altLang="en-US" sz="2400" b="1" dirty="0">
              <a:solidFill>
                <a:schemeClr val="bg1"/>
              </a:solidFill>
              <a:latin typeface="微软雅黑" panose="020B0503020204020204" charset="-122"/>
              <a:ea typeface="微软雅黑" panose="020B0503020204020204" charset="-122"/>
            </a:endParaRPr>
          </a:p>
        </p:txBody>
      </p:sp>
      <p:sp>
        <p:nvSpPr>
          <p:cNvPr id="11" name="矩形 10"/>
          <p:cNvSpPr/>
          <p:nvPr>
            <p:custDataLst>
              <p:tags r:id="rId4"/>
            </p:custDataLst>
          </p:nvPr>
        </p:nvSpPr>
        <p:spPr>
          <a:xfrm>
            <a:off x="-9525" y="6738620"/>
            <a:ext cx="12201525" cy="1193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文本框 92"/>
          <p:cNvSpPr txBox="1"/>
          <p:nvPr>
            <p:custDataLst>
              <p:tags r:id="rId5"/>
            </p:custDataLst>
          </p:nvPr>
        </p:nvSpPr>
        <p:spPr>
          <a:xfrm>
            <a:off x="1053402" y="3211347"/>
            <a:ext cx="700405" cy="461665"/>
          </a:xfrm>
          <a:prstGeom prst="rect">
            <a:avLst/>
          </a:prstGeom>
          <a:noFill/>
        </p:spPr>
        <p:txBody>
          <a:bodyPr wrap="square">
            <a:spAutoFit/>
          </a:bodyPr>
          <a:lstStyle/>
          <a:p>
            <a:r>
              <a:rPr lang="en-US" altLang="zh-CN" sz="2400" b="1" dirty="0">
                <a:solidFill>
                  <a:srgbClr val="00633D"/>
                </a:solidFill>
                <a:latin typeface="黑体" panose="02010609060101010101" charset="-122"/>
                <a:ea typeface="黑体" panose="02010609060101010101" charset="-122"/>
                <a:sym typeface="汉仪旗黑X1-75W" panose="00020600040101010101" pitchFamily="18" charset="-122"/>
              </a:rPr>
              <a:t>02</a:t>
            </a:r>
            <a:endParaRPr lang="zh-CN" altLang="en-US" sz="2400" b="1" dirty="0">
              <a:solidFill>
                <a:srgbClr val="00633D"/>
              </a:solidFill>
              <a:latin typeface="黑体" panose="02010609060101010101" charset="-122"/>
              <a:ea typeface="黑体" panose="02010609060101010101" charset="-122"/>
              <a:sym typeface="汉仪旗黑X1-75W" panose="00020600040101010101" pitchFamily="18" charset="-122"/>
            </a:endParaRPr>
          </a:p>
        </p:txBody>
      </p:sp>
      <p:sp>
        <p:nvSpPr>
          <p:cNvPr id="96" name="文本框 95"/>
          <p:cNvSpPr txBox="1"/>
          <p:nvPr>
            <p:custDataLst>
              <p:tags r:id="rId6"/>
            </p:custDataLst>
          </p:nvPr>
        </p:nvSpPr>
        <p:spPr>
          <a:xfrm>
            <a:off x="1753807" y="3211347"/>
            <a:ext cx="3230173" cy="460375"/>
          </a:xfrm>
          <a:prstGeom prst="rect">
            <a:avLst/>
          </a:prstGeom>
          <a:noFill/>
        </p:spPr>
        <p:txBody>
          <a:bodyPr wrap="square">
            <a:spAutoFit/>
          </a:bodyPr>
          <a:lstStyle/>
          <a:p>
            <a:r>
              <a:rPr lang="zh-CN" altLang="en-US" sz="2400" b="1" dirty="0">
                <a:solidFill>
                  <a:srgbClr val="00633D"/>
                </a:solidFill>
                <a:latin typeface="黑体" panose="02010609060101010101" charset="-122"/>
                <a:ea typeface="黑体" panose="02010609060101010101" charset="-122"/>
                <a:sym typeface="汉仪旗黑X1-75W" panose="00020600040101010101" pitchFamily="18" charset="-122"/>
              </a:rPr>
              <a:t>支撑区间</a:t>
            </a:r>
          </a:p>
        </p:txBody>
      </p:sp>
      <p:sp>
        <p:nvSpPr>
          <p:cNvPr id="97" name="矩形 96"/>
          <p:cNvSpPr/>
          <p:nvPr>
            <p:custDataLst>
              <p:tags r:id="rId7"/>
            </p:custDataLst>
          </p:nvPr>
        </p:nvSpPr>
        <p:spPr>
          <a:xfrm>
            <a:off x="1249045" y="1890395"/>
            <a:ext cx="9734550" cy="1172629"/>
          </a:xfrm>
          <a:prstGeom prst="rect">
            <a:avLst/>
          </a:prstGeom>
        </p:spPr>
        <p:txBody>
          <a:bodyPr wrap="square">
            <a:spAutoFit/>
          </a:bodyPr>
          <a:lstStyle/>
          <a:p>
            <a:pPr algn="just" fontAlgn="auto">
              <a:lnSpc>
                <a:spcPct val="130000"/>
              </a:lnSpc>
            </a:pPr>
            <a:r>
              <a:rPr lang="en-US" altLang="zh-CN" dirty="0"/>
              <a:t>       </a:t>
            </a:r>
            <a:r>
              <a:rPr lang="zh-CN" altLang="zh-CN" dirty="0">
                <a:latin typeface="等线" panose="02010600030101010101" charset="-122"/>
                <a:ea typeface="等线" panose="02010600030101010101" charset="-122"/>
              </a:rPr>
              <a:t>为说明变换参数和时频性能提升之间关系，本小节推导了分段</a:t>
            </a:r>
            <a:r>
              <a:rPr lang="en-US" altLang="zh-CN" dirty="0">
                <a:latin typeface="等线" panose="02010600030101010101" charset="-122"/>
                <a:ea typeface="等线" panose="02010600030101010101" charset="-122"/>
              </a:rPr>
              <a:t>LFM</a:t>
            </a:r>
            <a:r>
              <a:rPr lang="zh-CN" altLang="zh-CN" dirty="0">
                <a:latin typeface="等线" panose="02010600030101010101" charset="-122"/>
                <a:ea typeface="等线" panose="02010600030101010101" charset="-122"/>
              </a:rPr>
              <a:t>信号在时间</a:t>
            </a:r>
            <a:r>
              <a:rPr lang="en-US" altLang="zh-CN" dirty="0">
                <a:latin typeface="等线" panose="02010600030101010101" charset="-122"/>
                <a:ea typeface="等线" panose="02010600030101010101" charset="-122"/>
              </a:rPr>
              <a:t>-</a:t>
            </a:r>
            <a:r>
              <a:rPr lang="zh-CN" altLang="zh-CN" dirty="0">
                <a:latin typeface="等线" panose="02010600030101010101" charset="-122"/>
                <a:ea typeface="等线" panose="02010600030101010101" charset="-122"/>
              </a:rPr>
              <a:t>分数阶傅里叶频率平面的支撑区间解析表达式，在此基础上，建立基于瞬时支撑宽度最小化的</a:t>
            </a:r>
            <a:r>
              <a:rPr lang="en-US" altLang="zh-CN" dirty="0">
                <a:latin typeface="等线" panose="02010600030101010101" charset="-122"/>
                <a:ea typeface="等线" panose="02010600030101010101" charset="-122"/>
              </a:rPr>
              <a:t>ASTFRFT</a:t>
            </a:r>
            <a:r>
              <a:rPr lang="zh-CN" altLang="zh-CN" dirty="0">
                <a:latin typeface="等线" panose="02010600030101010101" charset="-122"/>
                <a:ea typeface="等线" panose="02010600030101010101" charset="-122"/>
              </a:rPr>
              <a:t>优化模型，并提出相应优化算法求解窗长和分数阶最优值，得到最优</a:t>
            </a:r>
            <a:r>
              <a:rPr lang="en-US" altLang="zh-CN" dirty="0">
                <a:latin typeface="等线" panose="02010600030101010101" charset="-122"/>
                <a:ea typeface="等线" panose="02010600030101010101" charset="-122"/>
              </a:rPr>
              <a:t>STFRFT</a:t>
            </a:r>
            <a:r>
              <a:rPr lang="zh-CN" altLang="zh-CN" dirty="0">
                <a:latin typeface="等线" panose="02010600030101010101" charset="-122"/>
                <a:ea typeface="等线" panose="02010600030101010101" charset="-122"/>
              </a:rPr>
              <a:t>。</a:t>
            </a:r>
            <a:endParaRPr lang="zh-CN" sz="1600" dirty="0">
              <a:solidFill>
                <a:schemeClr val="tx1">
                  <a:lumMod val="75000"/>
                  <a:lumOff val="25000"/>
                </a:schemeClr>
              </a:solidFill>
              <a:latin typeface="等线" panose="02010600030101010101" charset="-122"/>
              <a:ea typeface="等线" panose="02010600030101010101" charset="-122"/>
              <a:cs typeface="微软雅黑" panose="020B0503020204020204" charset="-122"/>
              <a:sym typeface="+mn-lt"/>
            </a:endParaRPr>
          </a:p>
        </p:txBody>
      </p:sp>
      <p:sp>
        <p:nvSpPr>
          <p:cNvPr id="2" name="矩形 1"/>
          <p:cNvSpPr/>
          <p:nvPr/>
        </p:nvSpPr>
        <p:spPr>
          <a:xfrm>
            <a:off x="1753807" y="1298680"/>
            <a:ext cx="1117614" cy="461665"/>
          </a:xfrm>
          <a:prstGeom prst="rect">
            <a:avLst/>
          </a:prstGeom>
        </p:spPr>
        <p:txBody>
          <a:bodyPr wrap="none">
            <a:spAutoFit/>
          </a:bodyPr>
          <a:lstStyle/>
          <a:p>
            <a:r>
              <a:rPr lang="en-US" altLang="zh-CN" sz="2400" b="1" dirty="0">
                <a:solidFill>
                  <a:srgbClr val="00633D"/>
                </a:solidFill>
                <a:latin typeface="黑体" panose="02010609060101010101" charset="-122"/>
                <a:ea typeface="黑体" panose="02010609060101010101" charset="-122"/>
              </a:rPr>
              <a:t>STFRFT</a:t>
            </a:r>
            <a:endParaRPr lang="zh-CN" altLang="en-US" sz="2400" b="1" dirty="0">
              <a:solidFill>
                <a:srgbClr val="00633D"/>
              </a:solidFill>
              <a:latin typeface="黑体" panose="02010609060101010101" charset="-122"/>
              <a:ea typeface="黑体" panose="02010609060101010101" charset="-122"/>
            </a:endParaRPr>
          </a:p>
        </p:txBody>
      </p:sp>
      <p:pic>
        <p:nvPicPr>
          <p:cNvPr id="3" name="图片 2"/>
          <p:cNvPicPr>
            <a:picLocks noChangeAspect="1"/>
          </p:cNvPicPr>
          <p:nvPr/>
        </p:nvPicPr>
        <p:blipFill>
          <a:blip r:embed="rId11"/>
          <a:stretch>
            <a:fillRect/>
          </a:stretch>
        </p:blipFill>
        <p:spPr>
          <a:xfrm>
            <a:off x="1760178" y="3820045"/>
            <a:ext cx="8717322" cy="2825517"/>
          </a:xfrm>
          <a:prstGeom prst="rect">
            <a:avLst/>
          </a:prstGeom>
        </p:spPr>
      </p:pic>
      <p:sp>
        <p:nvSpPr>
          <p:cNvPr id="26" name="文本框 25"/>
          <p:cNvSpPr txBox="1"/>
          <p:nvPr>
            <p:custDataLst>
              <p:tags r:id="rId8"/>
            </p:custDataLst>
          </p:nvPr>
        </p:nvSpPr>
        <p:spPr>
          <a:xfrm>
            <a:off x="1053402" y="1310347"/>
            <a:ext cx="700405" cy="461665"/>
          </a:xfrm>
          <a:prstGeom prst="rect">
            <a:avLst/>
          </a:prstGeom>
          <a:noFill/>
        </p:spPr>
        <p:txBody>
          <a:bodyPr wrap="square">
            <a:spAutoFit/>
          </a:bodyPr>
          <a:lstStyle/>
          <a:p>
            <a:r>
              <a:rPr lang="en-US" altLang="zh-CN" sz="2400" b="1" dirty="0">
                <a:solidFill>
                  <a:srgbClr val="00633D"/>
                </a:solidFill>
                <a:latin typeface="黑体" panose="02010609060101010101" charset="-122"/>
                <a:ea typeface="黑体" panose="02010609060101010101" charset="-122"/>
                <a:sym typeface="汉仪旗黑X1-75W" panose="00020600040101010101" pitchFamily="18" charset="-122"/>
              </a:rPr>
              <a:t>01</a:t>
            </a:r>
            <a:endParaRPr lang="zh-CN" altLang="en-US" sz="2400" b="1" dirty="0">
              <a:solidFill>
                <a:srgbClr val="00633D"/>
              </a:solidFill>
              <a:latin typeface="黑体" panose="02010609060101010101" charset="-122"/>
              <a:ea typeface="黑体" panose="02010609060101010101" charset="-122"/>
              <a:sym typeface="汉仪旗黑X1-75W" panose="00020600040101010101" pitchFamily="18" charset="-122"/>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2"/>
            </p:custDataLst>
          </p:nvPr>
        </p:nvSpPr>
        <p:spPr>
          <a:xfrm>
            <a:off x="0" y="0"/>
            <a:ext cx="12201525" cy="68453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descr="校徽+南京师范大学(白)"/>
          <p:cNvPicPr>
            <a:picLocks noChangeAspect="1"/>
          </p:cNvPicPr>
          <p:nvPr>
            <p:custDataLst>
              <p:tags r:id="rId3"/>
            </p:custDataLst>
          </p:nvPr>
        </p:nvPicPr>
        <p:blipFill>
          <a:blip r:embed="rId8"/>
          <a:stretch>
            <a:fillRect/>
          </a:stretch>
        </p:blipFill>
        <p:spPr>
          <a:xfrm>
            <a:off x="9427845" y="-587375"/>
            <a:ext cx="2764155" cy="1955165"/>
          </a:xfrm>
          <a:prstGeom prst="rect">
            <a:avLst/>
          </a:prstGeom>
        </p:spPr>
      </p:pic>
      <p:sp>
        <p:nvSpPr>
          <p:cNvPr id="10" name="文本框 9"/>
          <p:cNvSpPr txBox="1"/>
          <p:nvPr/>
        </p:nvSpPr>
        <p:spPr>
          <a:xfrm>
            <a:off x="226060" y="109855"/>
            <a:ext cx="4293522" cy="461665"/>
          </a:xfrm>
          <a:prstGeom prst="rect">
            <a:avLst/>
          </a:prstGeom>
          <a:noFill/>
        </p:spPr>
        <p:txBody>
          <a:bodyPr wrap="square" rtlCol="0">
            <a:spAutoFit/>
          </a:bodyPr>
          <a:lstStyle/>
          <a:p>
            <a:r>
              <a:rPr lang="en-US" altLang="zh-CN" sz="2400" b="1" dirty="0">
                <a:solidFill>
                  <a:schemeClr val="bg1"/>
                </a:solidFill>
                <a:latin typeface="微软雅黑" panose="020B0503020204020204" charset="-122"/>
                <a:ea typeface="微软雅黑" panose="020B0503020204020204" charset="-122"/>
              </a:rPr>
              <a:t>ASTFRFT</a:t>
            </a:r>
            <a:r>
              <a:rPr lang="zh-CN" altLang="zh-CN" sz="2400" b="1" dirty="0">
                <a:solidFill>
                  <a:schemeClr val="bg1"/>
                </a:solidFill>
                <a:latin typeface="微软雅黑" panose="020B0503020204020204" charset="-122"/>
                <a:ea typeface="微软雅黑" panose="020B0503020204020204" charset="-122"/>
              </a:rPr>
              <a:t>关键原理和算法</a:t>
            </a:r>
            <a:endParaRPr lang="zh-CN" altLang="en-US" sz="2400" b="1" dirty="0">
              <a:solidFill>
                <a:schemeClr val="bg1"/>
              </a:solidFill>
              <a:latin typeface="微软雅黑" panose="020B0503020204020204" charset="-122"/>
              <a:ea typeface="微软雅黑" panose="020B0503020204020204" charset="-122"/>
            </a:endParaRPr>
          </a:p>
        </p:txBody>
      </p:sp>
      <p:sp>
        <p:nvSpPr>
          <p:cNvPr id="11" name="矩形 10"/>
          <p:cNvSpPr/>
          <p:nvPr>
            <p:custDataLst>
              <p:tags r:id="rId4"/>
            </p:custDataLst>
          </p:nvPr>
        </p:nvSpPr>
        <p:spPr>
          <a:xfrm>
            <a:off x="-9525" y="6738620"/>
            <a:ext cx="12201525" cy="1193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矩形 96"/>
          <p:cNvSpPr/>
          <p:nvPr>
            <p:custDataLst>
              <p:tags r:id="rId5"/>
            </p:custDataLst>
          </p:nvPr>
        </p:nvSpPr>
        <p:spPr>
          <a:xfrm>
            <a:off x="1233486" y="1772012"/>
            <a:ext cx="9734550" cy="1532727"/>
          </a:xfrm>
          <a:prstGeom prst="rect">
            <a:avLst/>
          </a:prstGeom>
        </p:spPr>
        <p:txBody>
          <a:bodyPr wrap="square">
            <a:spAutoFit/>
          </a:bodyPr>
          <a:lstStyle/>
          <a:p>
            <a:pPr algn="just">
              <a:lnSpc>
                <a:spcPct val="130000"/>
              </a:lnSpc>
            </a:pPr>
            <a:r>
              <a:rPr lang="en-US" altLang="zh-CN" dirty="0">
                <a:latin typeface="等线" panose="02010600030101010101" charset="-122"/>
                <a:ea typeface="等线" panose="02010600030101010101" charset="-122"/>
              </a:rPr>
              <a:t>        </a:t>
            </a:r>
            <a:r>
              <a:rPr lang="zh-CN" altLang="zh-CN" dirty="0">
                <a:latin typeface="等线" panose="02010600030101010101" charset="-122"/>
                <a:ea typeface="等线" panose="02010600030101010101" charset="-122"/>
              </a:rPr>
              <a:t>分段信号分布在时间</a:t>
            </a:r>
            <a:r>
              <a:rPr lang="en-US" altLang="zh-CN" dirty="0">
                <a:latin typeface="等线" panose="02010600030101010101" charset="-122"/>
                <a:ea typeface="等线" panose="02010600030101010101" charset="-122"/>
              </a:rPr>
              <a:t>-</a:t>
            </a:r>
            <a:r>
              <a:rPr lang="zh-CN" altLang="zh-CN" dirty="0">
                <a:latin typeface="等线" panose="02010600030101010101" charset="-122"/>
                <a:ea typeface="等线" panose="02010600030101010101" charset="-122"/>
              </a:rPr>
              <a:t>分数阶频率平面的区间内，支撑宽度随窗长</a:t>
            </a:r>
            <a:r>
              <a:rPr lang="en-US" altLang="zh-CN" dirty="0">
                <a:latin typeface="等线" panose="02010600030101010101" charset="-122"/>
                <a:ea typeface="等线" panose="02010600030101010101" charset="-122"/>
                <a:sym typeface="Symbol" panose="05050102010706020507" pitchFamily="18" charset="2"/>
              </a:rPr>
              <a:t></a:t>
            </a:r>
            <a:r>
              <a:rPr lang="zh-CN" altLang="zh-CN" dirty="0">
                <a:latin typeface="等线" panose="02010600030101010101" charset="-122"/>
                <a:ea typeface="等线" panose="02010600030101010101" charset="-122"/>
              </a:rPr>
              <a:t>和分数阶</a:t>
            </a:r>
            <a:r>
              <a:rPr lang="en-US" altLang="zh-CN" dirty="0">
                <a:latin typeface="等线" panose="02010600030101010101" charset="-122"/>
                <a:ea typeface="等线" panose="02010600030101010101" charset="-122"/>
                <a:sym typeface="Symbol" panose="05050102010706020507" pitchFamily="18" charset="2"/>
              </a:rPr>
              <a:t></a:t>
            </a:r>
            <a:r>
              <a:rPr lang="zh-CN" altLang="zh-CN" dirty="0">
                <a:latin typeface="等线" panose="02010600030101010101" charset="-122"/>
                <a:ea typeface="等线" panose="02010600030101010101" charset="-122"/>
              </a:rPr>
              <a:t>参数变化。一旦窗长和分数阶取得最优值，支撑宽度可达最小，此时时频分辨率最佳，</a:t>
            </a:r>
            <a:r>
              <a:rPr lang="en-US" altLang="zh-CN" dirty="0">
                <a:latin typeface="等线" panose="02010600030101010101" charset="-122"/>
                <a:ea typeface="等线" panose="02010600030101010101" charset="-122"/>
              </a:rPr>
              <a:t>IF</a:t>
            </a:r>
            <a:r>
              <a:rPr lang="zh-CN" altLang="zh-CN" dirty="0">
                <a:latin typeface="等线" panose="02010600030101010101" charset="-122"/>
                <a:ea typeface="等线" panose="02010600030101010101" charset="-122"/>
              </a:rPr>
              <a:t>提取能力最强。因此，最优</a:t>
            </a:r>
            <a:r>
              <a:rPr lang="en-US" altLang="zh-CN" dirty="0">
                <a:latin typeface="等线" panose="02010600030101010101" charset="-122"/>
                <a:ea typeface="等线" panose="02010600030101010101" charset="-122"/>
              </a:rPr>
              <a:t>STFRFT</a:t>
            </a:r>
            <a:r>
              <a:rPr lang="zh-CN" altLang="zh-CN" dirty="0">
                <a:latin typeface="等线" panose="02010600030101010101" charset="-122"/>
                <a:ea typeface="等线" panose="02010600030101010101" charset="-122"/>
              </a:rPr>
              <a:t>的求解问题等价于二元函数极值求解问题，即采用瞬时支撑区间的宽度作为优化目标，建立如下优化模型：</a:t>
            </a:r>
          </a:p>
        </p:txBody>
      </p:sp>
      <p:sp>
        <p:nvSpPr>
          <p:cNvPr id="2" name="矩形 1"/>
          <p:cNvSpPr/>
          <p:nvPr/>
        </p:nvSpPr>
        <p:spPr>
          <a:xfrm>
            <a:off x="1753807" y="1298680"/>
            <a:ext cx="1422184" cy="461665"/>
          </a:xfrm>
          <a:prstGeom prst="rect">
            <a:avLst/>
          </a:prstGeom>
        </p:spPr>
        <p:txBody>
          <a:bodyPr wrap="none">
            <a:spAutoFit/>
          </a:bodyPr>
          <a:lstStyle/>
          <a:p>
            <a:r>
              <a:rPr lang="zh-CN" altLang="en-US" sz="2400" b="1" dirty="0">
                <a:solidFill>
                  <a:srgbClr val="00633D"/>
                </a:solidFill>
                <a:latin typeface="黑体" panose="02010609060101010101" charset="-122"/>
                <a:ea typeface="黑体" panose="02010609060101010101" charset="-122"/>
              </a:rPr>
              <a:t>优化模型</a:t>
            </a:r>
          </a:p>
        </p:txBody>
      </p:sp>
      <p:sp>
        <p:nvSpPr>
          <p:cNvPr id="26" name="文本框 25"/>
          <p:cNvSpPr txBox="1"/>
          <p:nvPr>
            <p:custDataLst>
              <p:tags r:id="rId6"/>
            </p:custDataLst>
          </p:nvPr>
        </p:nvSpPr>
        <p:spPr>
          <a:xfrm>
            <a:off x="1053402" y="1310347"/>
            <a:ext cx="700405" cy="461665"/>
          </a:xfrm>
          <a:prstGeom prst="rect">
            <a:avLst/>
          </a:prstGeom>
          <a:noFill/>
        </p:spPr>
        <p:txBody>
          <a:bodyPr wrap="square">
            <a:spAutoFit/>
          </a:bodyPr>
          <a:lstStyle/>
          <a:p>
            <a:r>
              <a:rPr lang="en-US" altLang="zh-CN" sz="2400" b="1" dirty="0">
                <a:solidFill>
                  <a:srgbClr val="00633D"/>
                </a:solidFill>
                <a:latin typeface="黑体" panose="02010609060101010101" charset="-122"/>
                <a:ea typeface="黑体" panose="02010609060101010101" charset="-122"/>
                <a:sym typeface="汉仪旗黑X1-75W" panose="00020600040101010101" pitchFamily="18" charset="-122"/>
              </a:rPr>
              <a:t>03</a:t>
            </a:r>
            <a:endParaRPr lang="zh-CN" altLang="en-US" sz="2400" b="1" dirty="0">
              <a:solidFill>
                <a:srgbClr val="00633D"/>
              </a:solidFill>
              <a:latin typeface="黑体" panose="02010609060101010101" charset="-122"/>
              <a:ea typeface="黑体" panose="02010609060101010101" charset="-122"/>
              <a:sym typeface="汉仪旗黑X1-75W" panose="00020600040101010101" pitchFamily="18" charset="-122"/>
            </a:endParaRPr>
          </a:p>
        </p:txBody>
      </p:sp>
      <p:pic>
        <p:nvPicPr>
          <p:cNvPr id="12" name="图片 11"/>
          <p:cNvPicPr/>
          <p:nvPr/>
        </p:nvPicPr>
        <p:blipFill>
          <a:blip r:embed="rId9"/>
          <a:stretch>
            <a:fillRect/>
          </a:stretch>
        </p:blipFill>
        <p:spPr>
          <a:xfrm>
            <a:off x="3564412" y="3382258"/>
            <a:ext cx="5078706" cy="811169"/>
          </a:xfrm>
          <a:prstGeom prst="rect">
            <a:avLst/>
          </a:prstGeom>
        </p:spPr>
      </p:pic>
      <p:sp>
        <p:nvSpPr>
          <p:cNvPr id="4" name="文本框 3"/>
          <p:cNvSpPr txBox="1"/>
          <p:nvPr/>
        </p:nvSpPr>
        <p:spPr>
          <a:xfrm>
            <a:off x="1233486" y="4496284"/>
            <a:ext cx="9734550" cy="1744425"/>
          </a:xfrm>
          <a:prstGeom prst="rect">
            <a:avLst/>
          </a:prstGeom>
          <a:noFill/>
        </p:spPr>
        <p:txBody>
          <a:bodyPr wrap="square" rtlCol="0">
            <a:spAutoFit/>
          </a:bodyPr>
          <a:lstStyle/>
          <a:p>
            <a:r>
              <a:rPr lang="en-US" altLang="zh-CN" dirty="0">
                <a:latin typeface="等线" panose="02010600030101010101" charset="-122"/>
                <a:ea typeface="等线" panose="02010600030101010101" charset="-122"/>
              </a:rPr>
              <a:t>        </a:t>
            </a:r>
            <a:r>
              <a:rPr lang="zh-CN" altLang="zh-CN" dirty="0">
                <a:latin typeface="等线" panose="02010600030101010101" charset="-122"/>
                <a:ea typeface="等线" panose="02010600030101010101" charset="-122"/>
              </a:rPr>
              <a:t>针对分段</a:t>
            </a:r>
            <a:r>
              <a:rPr lang="en-US" altLang="zh-CN" dirty="0">
                <a:latin typeface="等线" panose="02010600030101010101" charset="-122"/>
                <a:ea typeface="等线" panose="02010600030101010101" charset="-122"/>
              </a:rPr>
              <a:t>LFM</a:t>
            </a:r>
            <a:r>
              <a:rPr lang="zh-CN" altLang="zh-CN" dirty="0">
                <a:latin typeface="等线" panose="02010600030101010101" charset="-122"/>
                <a:ea typeface="等线" panose="02010600030101010101" charset="-122"/>
              </a:rPr>
              <a:t>信号，不同时间段的</a:t>
            </a:r>
            <a:r>
              <a:rPr lang="en-US" altLang="zh-CN" dirty="0">
                <a:latin typeface="等线" panose="02010600030101010101" charset="-122"/>
                <a:ea typeface="等线" panose="02010600030101010101" charset="-122"/>
              </a:rPr>
              <a:t>IF</a:t>
            </a:r>
            <a:r>
              <a:rPr lang="zh-CN" altLang="zh-CN" dirty="0">
                <a:latin typeface="等线" panose="02010600030101010101" charset="-122"/>
                <a:ea typeface="等线" panose="02010600030101010101" charset="-122"/>
              </a:rPr>
              <a:t>检测问题可转化为多个子优化问题求解。具体而言， 先根据信号频率变化程度对信号分段，确定时间范围。然后，在各个时间段依次进行优化问题求解，逐次得到每段窗长和分数阶最优值， 从而得到随信号时频特征变化的最优</a:t>
            </a:r>
            <a:r>
              <a:rPr lang="en-US" altLang="zh-CN" dirty="0">
                <a:latin typeface="等线" panose="02010600030101010101" charset="-122"/>
                <a:ea typeface="等线" panose="02010600030101010101" charset="-122"/>
              </a:rPr>
              <a:t>STFRFT</a:t>
            </a:r>
            <a:r>
              <a:rPr lang="zh-CN" altLang="zh-CN" dirty="0">
                <a:latin typeface="等线" panose="02010600030101010101" charset="-122"/>
                <a:ea typeface="等线" panose="02010600030101010101" charset="-122"/>
              </a:rPr>
              <a:t>。特别地，若分数阶取特殊值，</a:t>
            </a:r>
            <a:r>
              <a:rPr lang="en-US" altLang="zh-CN" dirty="0">
                <a:latin typeface="等线" panose="02010600030101010101" charset="-122"/>
                <a:ea typeface="等线" panose="02010600030101010101" charset="-122"/>
              </a:rPr>
              <a:t>STFRFT</a:t>
            </a:r>
            <a:r>
              <a:rPr lang="zh-CN" altLang="zh-CN" dirty="0">
                <a:latin typeface="等线" panose="02010600030101010101" charset="-122"/>
                <a:ea typeface="等线" panose="02010600030101010101" charset="-122"/>
              </a:rPr>
              <a:t>退化为</a:t>
            </a:r>
            <a:r>
              <a:rPr lang="en-US" altLang="zh-CN" dirty="0">
                <a:latin typeface="等线" panose="02010600030101010101" charset="-122"/>
                <a:ea typeface="等线" panose="02010600030101010101" charset="-122"/>
              </a:rPr>
              <a:t> STFT</a:t>
            </a:r>
            <a:r>
              <a:rPr lang="zh-CN" altLang="zh-CN" dirty="0">
                <a:latin typeface="等线" panose="02010600030101010101" charset="-122"/>
                <a:ea typeface="等线" panose="02010600030101010101" charset="-122"/>
              </a:rPr>
              <a:t>，例如当</a:t>
            </a:r>
            <a:r>
              <a:rPr lang="en-US" altLang="zh-CN" dirty="0">
                <a:latin typeface="等线" panose="02010600030101010101" charset="-122"/>
                <a:ea typeface="等线" panose="02010600030101010101" charset="-122"/>
                <a:sym typeface="Symbol" panose="05050102010706020507" pitchFamily="18" charset="2"/>
              </a:rPr>
              <a:t></a:t>
            </a:r>
            <a:r>
              <a:rPr lang="en-US" altLang="zh-CN" dirty="0">
                <a:latin typeface="等线" panose="02010600030101010101" charset="-122"/>
                <a:ea typeface="等线" panose="02010600030101010101" charset="-122"/>
              </a:rPr>
              <a:t>=</a:t>
            </a:r>
            <a:r>
              <a:rPr lang="en-US" altLang="zh-CN" dirty="0">
                <a:latin typeface="等线" panose="02010600030101010101" charset="-122"/>
                <a:ea typeface="等线" panose="02010600030101010101" charset="-122"/>
                <a:sym typeface="Symbol" panose="05050102010706020507" pitchFamily="18" charset="2"/>
              </a:rPr>
              <a:t></a:t>
            </a:r>
            <a:r>
              <a:rPr lang="en-US" altLang="zh-CN" dirty="0">
                <a:latin typeface="等线" panose="02010600030101010101" charset="-122"/>
                <a:ea typeface="等线" panose="02010600030101010101" charset="-122"/>
              </a:rPr>
              <a:t>/2</a:t>
            </a:r>
            <a:r>
              <a:rPr lang="zh-CN" altLang="zh-CN" dirty="0">
                <a:latin typeface="等线" panose="02010600030101010101" charset="-122"/>
                <a:ea typeface="等线" panose="02010600030101010101" charset="-122"/>
              </a:rPr>
              <a:t>时，</a:t>
            </a:r>
            <a:r>
              <a:rPr lang="en-US" altLang="zh-CN" dirty="0">
                <a:latin typeface="等线" panose="02010600030101010101" charset="-122"/>
                <a:ea typeface="等线" panose="02010600030101010101" charset="-122"/>
              </a:rPr>
              <a:t>LFM</a:t>
            </a:r>
            <a:r>
              <a:rPr lang="zh-CN" altLang="zh-CN" dirty="0">
                <a:latin typeface="等线" panose="02010600030101010101" charset="-122"/>
                <a:ea typeface="等线" panose="02010600030101010101" charset="-122"/>
              </a:rPr>
              <a:t>信号</a:t>
            </a:r>
            <a:r>
              <a:rPr lang="en-US" altLang="zh-CN" dirty="0">
                <a:latin typeface="等线" panose="02010600030101010101" charset="-122"/>
                <a:ea typeface="等线" panose="02010600030101010101" charset="-122"/>
              </a:rPr>
              <a:t>f(t)</a:t>
            </a:r>
            <a:r>
              <a:rPr lang="zh-CN" altLang="zh-CN" dirty="0">
                <a:latin typeface="等线" panose="02010600030101010101" charset="-122"/>
                <a:ea typeface="等线" panose="02010600030101010101" charset="-122"/>
              </a:rPr>
              <a:t>在时间</a:t>
            </a:r>
            <a:r>
              <a:rPr lang="en-US" altLang="zh-CN" dirty="0">
                <a:latin typeface="等线" panose="02010600030101010101" charset="-122"/>
                <a:ea typeface="等线" panose="02010600030101010101" charset="-122"/>
              </a:rPr>
              <a:t>-</a:t>
            </a:r>
            <a:r>
              <a:rPr lang="zh-CN" altLang="zh-CN" dirty="0">
                <a:latin typeface="等线" panose="02010600030101010101" charset="-122"/>
                <a:ea typeface="等线" panose="02010600030101010101" charset="-122"/>
              </a:rPr>
              <a:t>分数阶傅里叶频率平面内仍存在相应支撑区间和支撑宽度。</a:t>
            </a:r>
          </a:p>
          <a:p>
            <a:endParaRPr lang="zh-CN" altLang="en-US" dirty="0">
              <a:latin typeface="等线" panose="02010600030101010101" charset="-122"/>
              <a:ea typeface="等线" panose="02010600030101010101" charset="-122"/>
            </a:endParaRP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2"/>
            </p:custDataLst>
          </p:nvPr>
        </p:nvSpPr>
        <p:spPr>
          <a:xfrm>
            <a:off x="0" y="0"/>
            <a:ext cx="12201525" cy="68453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descr="校徽+南京师范大学(白)"/>
          <p:cNvPicPr>
            <a:picLocks noChangeAspect="1"/>
          </p:cNvPicPr>
          <p:nvPr>
            <p:custDataLst>
              <p:tags r:id="rId3"/>
            </p:custDataLst>
          </p:nvPr>
        </p:nvPicPr>
        <p:blipFill>
          <a:blip r:embed="rId9"/>
          <a:stretch>
            <a:fillRect/>
          </a:stretch>
        </p:blipFill>
        <p:spPr>
          <a:xfrm>
            <a:off x="9427845" y="-587375"/>
            <a:ext cx="2764155" cy="1955165"/>
          </a:xfrm>
          <a:prstGeom prst="rect">
            <a:avLst/>
          </a:prstGeom>
        </p:spPr>
      </p:pic>
      <p:sp>
        <p:nvSpPr>
          <p:cNvPr id="10" name="文本框 9"/>
          <p:cNvSpPr txBox="1"/>
          <p:nvPr/>
        </p:nvSpPr>
        <p:spPr>
          <a:xfrm>
            <a:off x="226060" y="109855"/>
            <a:ext cx="4293522" cy="461665"/>
          </a:xfrm>
          <a:prstGeom prst="rect">
            <a:avLst/>
          </a:prstGeom>
          <a:noFill/>
        </p:spPr>
        <p:txBody>
          <a:bodyPr wrap="square" rtlCol="0">
            <a:spAutoFit/>
          </a:bodyPr>
          <a:lstStyle/>
          <a:p>
            <a:r>
              <a:rPr lang="en-US" altLang="zh-CN" sz="2400" b="1" dirty="0">
                <a:solidFill>
                  <a:schemeClr val="bg1"/>
                </a:solidFill>
                <a:latin typeface="微软雅黑" panose="020B0503020204020204" charset="-122"/>
                <a:ea typeface="微软雅黑" panose="020B0503020204020204" charset="-122"/>
              </a:rPr>
              <a:t>ASTFRFT</a:t>
            </a:r>
            <a:r>
              <a:rPr lang="zh-CN" altLang="zh-CN" sz="2400" b="1" dirty="0">
                <a:solidFill>
                  <a:schemeClr val="bg1"/>
                </a:solidFill>
                <a:latin typeface="微软雅黑" panose="020B0503020204020204" charset="-122"/>
                <a:ea typeface="微软雅黑" panose="020B0503020204020204" charset="-122"/>
              </a:rPr>
              <a:t>的优化求解算法</a:t>
            </a:r>
          </a:p>
        </p:txBody>
      </p:sp>
      <p:sp>
        <p:nvSpPr>
          <p:cNvPr id="11" name="矩形 10"/>
          <p:cNvSpPr/>
          <p:nvPr>
            <p:custDataLst>
              <p:tags r:id="rId4"/>
            </p:custDataLst>
          </p:nvPr>
        </p:nvSpPr>
        <p:spPr>
          <a:xfrm>
            <a:off x="-9525" y="6738620"/>
            <a:ext cx="12201525" cy="1193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7" name="矩形 96"/>
              <p:cNvSpPr/>
              <p:nvPr>
                <p:custDataLst>
                  <p:tags r:id="rId5"/>
                </p:custDataLst>
              </p:nvPr>
            </p:nvSpPr>
            <p:spPr>
              <a:xfrm>
                <a:off x="1233486" y="1772012"/>
                <a:ext cx="9734550" cy="4805867"/>
              </a:xfrm>
              <a:prstGeom prst="rect">
                <a:avLst/>
              </a:prstGeom>
            </p:spPr>
            <p:txBody>
              <a:bodyPr wrap="square">
                <a:spAutoFit/>
              </a:bodyPr>
              <a:lstStyle/>
              <a:p>
                <a:pPr algn="just">
                  <a:lnSpc>
                    <a:spcPct val="130000"/>
                  </a:lnSpc>
                </a:pPr>
                <a:r>
                  <a:rPr lang="en-US" altLang="zh-CN" dirty="0">
                    <a:latin typeface="等线" panose="02010600030101010101" charset="-122"/>
                    <a:ea typeface="等线" panose="02010600030101010101" charset="-122"/>
                  </a:rPr>
                  <a:t>       </a:t>
                </a:r>
                <a:r>
                  <a:rPr lang="zh-CN" altLang="zh-CN" dirty="0">
                    <a:latin typeface="等线" panose="02010600030101010101" charset="-122"/>
                    <a:ea typeface="等线" panose="02010600030101010101" charset="-122"/>
                  </a:rPr>
                  <a:t>该算法的核心思想是，在每段信号的处理过程中，对自由参数先进行粗略搜索，根据目标函数值更新搜索区间，并在更新后的参数范围内变化搜索步长，进行目标函数最小值的精确搜索。此算法旨在以最小的时间成本内获得最优的自由参数</a:t>
                </a:r>
                <a:r>
                  <a:rPr lang="zh-CN" altLang="en-US" dirty="0">
                    <a:latin typeface="等线" panose="02010600030101010101" charset="-122"/>
                    <a:ea typeface="等线" panose="02010600030101010101" charset="-122"/>
                  </a:rPr>
                  <a:t>。</a:t>
                </a:r>
                <a:endParaRPr lang="en-US" altLang="zh-CN" dirty="0">
                  <a:latin typeface="等线" panose="02010600030101010101" charset="-122"/>
                  <a:ea typeface="等线" panose="02010600030101010101" charset="-122"/>
                </a:endParaRPr>
              </a:p>
              <a:p>
                <a:pPr algn="just">
                  <a:lnSpc>
                    <a:spcPct val="130000"/>
                  </a:lnSpc>
                </a:pPr>
                <a:endParaRPr lang="en-US" altLang="zh-CN" dirty="0">
                  <a:latin typeface="等线" panose="02010600030101010101" charset="-122"/>
                  <a:ea typeface="等线" panose="02010600030101010101" charset="-122"/>
                </a:endParaRPr>
              </a:p>
              <a:p>
                <a:pPr algn="just">
                  <a:lnSpc>
                    <a:spcPct val="130000"/>
                  </a:lnSpc>
                </a:pPr>
                <a:endParaRPr lang="en-US" altLang="zh-CN" dirty="0">
                  <a:latin typeface="等线" panose="02010600030101010101" charset="-122"/>
                  <a:ea typeface="等线" panose="02010600030101010101" charset="-122"/>
                </a:endParaRPr>
              </a:p>
              <a:p>
                <a:pPr algn="just">
                  <a:lnSpc>
                    <a:spcPct val="130000"/>
                  </a:lnSpc>
                </a:pPr>
                <a:r>
                  <a:rPr lang="en-US" altLang="zh-CN" dirty="0">
                    <a:latin typeface="等线" panose="02010600030101010101" charset="-122"/>
                    <a:ea typeface="等线" panose="02010600030101010101" charset="-122"/>
                  </a:rPr>
                  <a:t>       </a:t>
                </a:r>
                <a:r>
                  <a:rPr lang="zh-CN" altLang="zh-CN" dirty="0">
                    <a:latin typeface="等线" panose="02010600030101010101" charset="-122"/>
                    <a:ea typeface="等线" panose="02010600030101010101" charset="-122"/>
                  </a:rPr>
                  <a:t>为了说明本文所提算法的计算效率，以下从计算复杂度角度出发对</a:t>
                </a:r>
                <a:r>
                  <a:rPr lang="en-US" altLang="zh-CN" dirty="0">
                    <a:latin typeface="等线" panose="02010600030101010101" charset="-122"/>
                    <a:ea typeface="等线" panose="02010600030101010101" charset="-122"/>
                  </a:rPr>
                  <a:t>ASTFRFT</a:t>
                </a:r>
                <a:r>
                  <a:rPr lang="zh-CN" altLang="zh-CN" dirty="0">
                    <a:latin typeface="等线" panose="02010600030101010101" charset="-122"/>
                    <a:ea typeface="等线" panose="02010600030101010101" charset="-122"/>
                  </a:rPr>
                  <a:t>的复杂度进行理论分析。</a:t>
                </a:r>
                <a:r>
                  <a:rPr lang="en-US" altLang="zh-CN" dirty="0">
                    <a:latin typeface="等线" panose="02010600030101010101" charset="-122"/>
                    <a:ea typeface="等线" panose="02010600030101010101" charset="-122"/>
                  </a:rPr>
                  <a:t>ASTFRFT</a:t>
                </a:r>
                <a:r>
                  <a:rPr lang="zh-CN" altLang="zh-CN" dirty="0">
                    <a:latin typeface="等线" panose="02010600030101010101" charset="-122"/>
                    <a:ea typeface="等线" panose="02010600030101010101" charset="-122"/>
                  </a:rPr>
                  <a:t>的计算成本集中在参数搜索、支撑宽度和</a:t>
                </a:r>
                <a:r>
                  <a:rPr lang="en-US" altLang="zh-CN" dirty="0">
                    <a:latin typeface="等线" panose="02010600030101010101" charset="-122"/>
                    <a:ea typeface="等线" panose="02010600030101010101" charset="-122"/>
                  </a:rPr>
                  <a:t>FRFT</a:t>
                </a:r>
                <a:r>
                  <a:rPr lang="zh-CN" altLang="zh-CN" dirty="0">
                    <a:latin typeface="等线" panose="02010600030101010101" charset="-122"/>
                    <a:ea typeface="等线" panose="02010600030101010101" charset="-122"/>
                  </a:rPr>
                  <a:t>三个部分，其中前两个部分又分为粗搜索和细搜索两个阶段。以参数搜索为例，窗长和分数阶在粗搜索和细搜索两个阶段的搜索次数分别为</a:t>
                </a:r>
                <a14:m>
                  <m:oMath xmlns:m="http://schemas.openxmlformats.org/officeDocument/2006/math">
                    <m:sSub>
                      <m:sSubPr>
                        <m:ctrlPr>
                          <a:rPr lang="zh-CN" altLang="zh-CN" i="1">
                            <a:latin typeface="Cambria Math" panose="02040503050406030204" pitchFamily="18" charset="0"/>
                            <a:ea typeface="等线" panose="02010600030101010101" charset="-122"/>
                          </a:rPr>
                        </m:ctrlPr>
                      </m:sSubPr>
                      <m:e>
                        <m:r>
                          <a:rPr lang="en-US" altLang="zh-CN">
                            <a:latin typeface="Cambria Math" panose="02040503050406030204" pitchFamily="18" charset="0"/>
                            <a:ea typeface="等线" panose="02010600030101010101" charset="-122"/>
                          </a:rPr>
                          <m:t>𝑙𝐶</m:t>
                        </m:r>
                      </m:e>
                      <m:sub>
                        <m:r>
                          <a:rPr lang="en-US" altLang="zh-CN">
                            <a:latin typeface="Cambria Math" panose="02040503050406030204" pitchFamily="18" charset="0"/>
                            <a:ea typeface="等线" panose="02010600030101010101" charset="-122"/>
                          </a:rPr>
                          <m:t>𝜎</m:t>
                        </m:r>
                      </m:sub>
                    </m:sSub>
                    <m:r>
                      <a:rPr lang="zh-CN" altLang="zh-CN">
                        <a:latin typeface="Cambria Math" panose="02040503050406030204" pitchFamily="18" charset="0"/>
                        <a:ea typeface="等线" panose="02010600030101010101" charset="-122"/>
                      </a:rPr>
                      <m:t>、</m:t>
                    </m:r>
                    <m:sSub>
                      <m:sSubPr>
                        <m:ctrlPr>
                          <a:rPr lang="zh-CN" altLang="zh-CN" i="1">
                            <a:latin typeface="Cambria Math" panose="02040503050406030204" pitchFamily="18" charset="0"/>
                            <a:ea typeface="等线" panose="02010600030101010101" charset="-122"/>
                          </a:rPr>
                        </m:ctrlPr>
                      </m:sSubPr>
                      <m:e>
                        <m:r>
                          <a:rPr lang="en-US" altLang="zh-CN">
                            <a:latin typeface="Cambria Math" panose="02040503050406030204" pitchFamily="18" charset="0"/>
                            <a:ea typeface="等线" panose="02010600030101010101" charset="-122"/>
                          </a:rPr>
                          <m:t>𝑙𝐶</m:t>
                        </m:r>
                      </m:e>
                      <m:sub>
                        <m:r>
                          <a:rPr lang="en-US" altLang="zh-CN">
                            <a:latin typeface="Cambria Math" panose="02040503050406030204" pitchFamily="18" charset="0"/>
                            <a:ea typeface="等线" panose="02010600030101010101" charset="-122"/>
                          </a:rPr>
                          <m:t>𝑝</m:t>
                        </m:r>
                      </m:sub>
                    </m:sSub>
                    <m:r>
                      <a:rPr lang="zh-CN" altLang="zh-CN">
                        <a:latin typeface="Cambria Math" panose="02040503050406030204" pitchFamily="18" charset="0"/>
                        <a:ea typeface="等线" panose="02010600030101010101" charset="-122"/>
                      </a:rPr>
                      <m:t>、</m:t>
                    </m:r>
                    <m:sSub>
                      <m:sSubPr>
                        <m:ctrlPr>
                          <a:rPr lang="zh-CN" altLang="zh-CN" i="1">
                            <a:latin typeface="Cambria Math" panose="02040503050406030204" pitchFamily="18" charset="0"/>
                            <a:ea typeface="等线" panose="02010600030101010101" charset="-122"/>
                          </a:rPr>
                        </m:ctrlPr>
                      </m:sSubPr>
                      <m:e>
                        <m:r>
                          <a:rPr lang="en-US" altLang="zh-CN">
                            <a:latin typeface="Cambria Math" panose="02040503050406030204" pitchFamily="18" charset="0"/>
                            <a:ea typeface="等线" panose="02010600030101010101" charset="-122"/>
                          </a:rPr>
                          <m:t>𝑙𝑓</m:t>
                        </m:r>
                      </m:e>
                      <m:sub>
                        <m:r>
                          <a:rPr lang="en-US" altLang="zh-CN">
                            <a:latin typeface="Cambria Math" panose="02040503050406030204" pitchFamily="18" charset="0"/>
                            <a:ea typeface="等线" panose="02010600030101010101" charset="-122"/>
                          </a:rPr>
                          <m:t>𝜎</m:t>
                        </m:r>
                      </m:sub>
                    </m:sSub>
                    <m:r>
                      <a:rPr lang="zh-CN" altLang="zh-CN">
                        <a:latin typeface="Cambria Math" panose="02040503050406030204" pitchFamily="18" charset="0"/>
                        <a:ea typeface="等线" panose="02010600030101010101" charset="-122"/>
                      </a:rPr>
                      <m:t>、</m:t>
                    </m:r>
                    <m:sSub>
                      <m:sSubPr>
                        <m:ctrlPr>
                          <a:rPr lang="zh-CN" altLang="zh-CN" i="1">
                            <a:latin typeface="Cambria Math" panose="02040503050406030204" pitchFamily="18" charset="0"/>
                            <a:ea typeface="等线" panose="02010600030101010101" charset="-122"/>
                          </a:rPr>
                        </m:ctrlPr>
                      </m:sSubPr>
                      <m:e>
                        <m:r>
                          <a:rPr lang="en-US" altLang="zh-CN">
                            <a:latin typeface="Cambria Math" panose="02040503050406030204" pitchFamily="18" charset="0"/>
                            <a:ea typeface="等线" panose="02010600030101010101" charset="-122"/>
                          </a:rPr>
                          <m:t>𝑙𝑓</m:t>
                        </m:r>
                      </m:e>
                      <m:sub>
                        <m:r>
                          <a:rPr lang="en-US" altLang="zh-CN">
                            <a:latin typeface="Cambria Math" panose="02040503050406030204" pitchFamily="18" charset="0"/>
                            <a:ea typeface="等线" panose="02010600030101010101" charset="-122"/>
                          </a:rPr>
                          <m:t>𝑝</m:t>
                        </m:r>
                      </m:sub>
                    </m:sSub>
                    <m:r>
                      <a:rPr lang="zh-CN" altLang="zh-CN">
                        <a:latin typeface="Cambria Math" panose="02040503050406030204" pitchFamily="18" charset="0"/>
                        <a:ea typeface="等线" panose="02010600030101010101" charset="-122"/>
                      </a:rPr>
                      <m:t>。</m:t>
                    </m:r>
                  </m:oMath>
                </a14:m>
                <a:r>
                  <a:rPr lang="zh-CN" altLang="zh-CN" dirty="0">
                    <a:latin typeface="等线" panose="02010600030101010101" charset="-122"/>
                    <a:ea typeface="等线" panose="02010600030101010101" charset="-122"/>
                  </a:rPr>
                  <a:t>根据内外循环，该部分计算量与支撑宽度计算量相同。前两个部分执行完毕后，需要逐次进行</a:t>
                </a:r>
                <a:r>
                  <a:rPr lang="en-US" altLang="zh-CN" dirty="0">
                    <a:latin typeface="等线" panose="02010600030101010101" charset="-122"/>
                    <a:ea typeface="等线" panose="02010600030101010101" charset="-122"/>
                  </a:rPr>
                  <a:t>FRFT</a:t>
                </a:r>
                <a:r>
                  <a:rPr lang="zh-CN" altLang="zh-CN" dirty="0">
                    <a:latin typeface="等线" panose="02010600030101010101" charset="-122"/>
                    <a:ea typeface="等线" panose="02010600030101010101" charset="-122"/>
                  </a:rPr>
                  <a:t>。由于单个</a:t>
                </a:r>
                <a:r>
                  <a:rPr lang="en-US" altLang="zh-CN" dirty="0">
                    <a:latin typeface="等线" panose="02010600030101010101" charset="-122"/>
                    <a:ea typeface="等线" panose="02010600030101010101" charset="-122"/>
                  </a:rPr>
                  <a:t>FRFT</a:t>
                </a:r>
                <a:r>
                  <a:rPr lang="zh-CN" altLang="zh-CN" dirty="0">
                    <a:latin typeface="等线" panose="02010600030101010101" charset="-122"/>
                    <a:ea typeface="等线" panose="02010600030101010101" charset="-122"/>
                  </a:rPr>
                  <a:t>的计算复杂度为</a:t>
                </a:r>
                <a14:m>
                  <m:oMath xmlns:m="http://schemas.openxmlformats.org/officeDocument/2006/math">
                    <m:r>
                      <m:rPr>
                        <m:sty m:val="p"/>
                      </m:rPr>
                      <a:rPr lang="en-US" altLang="zh-CN">
                        <a:latin typeface="Cambria Math" panose="02040503050406030204" pitchFamily="18" charset="0"/>
                        <a:ea typeface="等线" panose="02010600030101010101" charset="-122"/>
                      </a:rPr>
                      <m:t>O</m:t>
                    </m:r>
                    <m:r>
                      <a:rPr lang="en-US" altLang="zh-CN">
                        <a:latin typeface="Cambria Math" panose="02040503050406030204" pitchFamily="18" charset="0"/>
                        <a:ea typeface="等线" panose="02010600030101010101" charset="-122"/>
                      </a:rPr>
                      <m:t>(</m:t>
                    </m:r>
                    <m:r>
                      <m:rPr>
                        <m:sty m:val="p"/>
                      </m:rPr>
                      <a:rPr lang="en-US" altLang="zh-CN">
                        <a:latin typeface="Cambria Math" panose="02040503050406030204" pitchFamily="18" charset="0"/>
                        <a:ea typeface="等线" panose="02010600030101010101" charset="-122"/>
                      </a:rPr>
                      <m:t>N</m:t>
                    </m:r>
                    <m:func>
                      <m:funcPr>
                        <m:ctrlPr>
                          <a:rPr lang="zh-CN" altLang="zh-CN" i="1">
                            <a:latin typeface="Cambria Math" panose="02040503050406030204" pitchFamily="18" charset="0"/>
                            <a:ea typeface="等线" panose="02010600030101010101" charset="-122"/>
                          </a:rPr>
                        </m:ctrlPr>
                      </m:funcPr>
                      <m:fName>
                        <m:sSub>
                          <m:sSubPr>
                            <m:ctrlPr>
                              <a:rPr lang="zh-CN" altLang="zh-CN" i="1">
                                <a:latin typeface="Cambria Math" panose="02040503050406030204" pitchFamily="18" charset="0"/>
                                <a:ea typeface="等线" panose="02010600030101010101" charset="-122"/>
                              </a:rPr>
                            </m:ctrlPr>
                          </m:sSubPr>
                          <m:e>
                            <m:r>
                              <m:rPr>
                                <m:sty m:val="p"/>
                              </m:rPr>
                              <a:rPr lang="en-US" altLang="zh-CN">
                                <a:latin typeface="Cambria Math" panose="02040503050406030204" pitchFamily="18" charset="0"/>
                                <a:ea typeface="等线" panose="02010600030101010101" charset="-122"/>
                              </a:rPr>
                              <m:t>log</m:t>
                            </m:r>
                          </m:e>
                          <m:sub>
                            <m:r>
                              <a:rPr lang="en-US" altLang="zh-CN">
                                <a:latin typeface="Cambria Math" panose="02040503050406030204" pitchFamily="18" charset="0"/>
                                <a:ea typeface="等线" panose="02010600030101010101" charset="-122"/>
                              </a:rPr>
                              <m:t>2</m:t>
                            </m:r>
                          </m:sub>
                        </m:sSub>
                      </m:fName>
                      <m:e>
                        <m:r>
                          <a:rPr lang="en-US" altLang="zh-CN">
                            <a:latin typeface="Cambria Math" panose="02040503050406030204" pitchFamily="18" charset="0"/>
                            <a:ea typeface="等线" panose="02010600030101010101" charset="-122"/>
                          </a:rPr>
                          <m:t>𝑁</m:t>
                        </m:r>
                      </m:e>
                    </m:func>
                    <m:r>
                      <a:rPr lang="en-US" altLang="zh-CN">
                        <a:latin typeface="Cambria Math" panose="02040503050406030204" pitchFamily="18" charset="0"/>
                        <a:ea typeface="等线" panose="02010600030101010101" charset="-122"/>
                      </a:rPr>
                      <m:t>)</m:t>
                    </m:r>
                  </m:oMath>
                </a14:m>
                <a:r>
                  <a:rPr lang="zh-CN" altLang="zh-CN" dirty="0">
                    <a:latin typeface="等线" panose="02010600030101010101" charset="-122"/>
                    <a:ea typeface="等线" panose="02010600030101010101" charset="-122"/>
                  </a:rPr>
                  <a:t>，故</a:t>
                </a:r>
                <a:r>
                  <a:rPr lang="en-US" altLang="zh-CN" dirty="0">
                    <a:latin typeface="等线" panose="02010600030101010101" charset="-122"/>
                    <a:ea typeface="等线" panose="02010600030101010101" charset="-122"/>
                  </a:rPr>
                  <a:t>ASTFRFT</a:t>
                </a:r>
                <a:r>
                  <a:rPr lang="zh-CN" altLang="zh-CN" dirty="0">
                    <a:latin typeface="等线" panose="02010600030101010101" charset="-122"/>
                    <a:ea typeface="等线" panose="02010600030101010101" charset="-122"/>
                  </a:rPr>
                  <a:t>算法总的计算复杂度为</a:t>
                </a:r>
                <a:r>
                  <a:rPr lang="en-US" altLang="zh-CN" dirty="0">
                    <a:latin typeface="等线" panose="02010600030101010101" charset="-122"/>
                    <a:ea typeface="等线" panose="02010600030101010101" charset="-122"/>
                  </a:rPr>
                  <a:t>:</a:t>
                </a:r>
              </a:p>
              <a:p>
                <a:pPr algn="just">
                  <a:lnSpc>
                    <a:spcPct val="130000"/>
                  </a:lnSpc>
                </a:pPr>
                <a:br>
                  <a:rPr lang="en-US" altLang="zh-CN" dirty="0">
                    <a:latin typeface="等线" panose="02010600030101010101" charset="-122"/>
                    <a:ea typeface="等线" panose="02010600030101010101" charset="-122"/>
                  </a:rPr>
                </a:br>
                <a:endParaRPr lang="zh-CN" altLang="zh-CN" dirty="0">
                  <a:latin typeface="等线" panose="02010600030101010101" charset="-122"/>
                  <a:ea typeface="等线" panose="02010600030101010101" charset="-122"/>
                </a:endParaRPr>
              </a:p>
            </p:txBody>
          </p:sp>
        </mc:Choice>
        <mc:Fallback xmlns="">
          <p:sp>
            <p:nvSpPr>
              <p:cNvPr id="97" name="矩形 96"/>
              <p:cNvSpPr>
                <a:spLocks noRot="1" noChangeAspect="1" noMove="1" noResize="1" noEditPoints="1" noAdjustHandles="1" noChangeArrowheads="1" noChangeShapeType="1" noTextEdit="1"/>
              </p:cNvSpPr>
              <p:nvPr>
                <p:custDataLst>
                  <p:tags r:id="rId10"/>
                </p:custDataLst>
              </p:nvPr>
            </p:nvSpPr>
            <p:spPr>
              <a:xfrm>
                <a:off x="1233486" y="1772012"/>
                <a:ext cx="9734550" cy="4805867"/>
              </a:xfrm>
              <a:prstGeom prst="rect">
                <a:avLst/>
              </a:prstGeom>
              <a:blipFill rotWithShape="1">
                <a:blip r:embed="rId11"/>
                <a:stretch>
                  <a:fillRect l="-3" t="-8" r="3" b="11"/>
                </a:stretch>
              </a:blipFill>
            </p:spPr>
            <p:txBody>
              <a:bodyPr/>
              <a:lstStyle/>
              <a:p>
                <a:r>
                  <a:rPr lang="zh-CN" altLang="en-US">
                    <a:noFill/>
                  </a:rPr>
                  <a:t> </a:t>
                </a:r>
              </a:p>
            </p:txBody>
          </p:sp>
        </mc:Fallback>
      </mc:AlternateContent>
      <p:sp>
        <p:nvSpPr>
          <p:cNvPr id="2" name="矩形 1"/>
          <p:cNvSpPr/>
          <p:nvPr/>
        </p:nvSpPr>
        <p:spPr>
          <a:xfrm>
            <a:off x="1753807" y="1298680"/>
            <a:ext cx="1422184" cy="461665"/>
          </a:xfrm>
          <a:prstGeom prst="rect">
            <a:avLst/>
          </a:prstGeom>
        </p:spPr>
        <p:txBody>
          <a:bodyPr wrap="none">
            <a:spAutoFit/>
          </a:bodyPr>
          <a:lstStyle/>
          <a:p>
            <a:r>
              <a:rPr lang="zh-CN" altLang="en-US" sz="2400" b="1" dirty="0">
                <a:solidFill>
                  <a:srgbClr val="00633D"/>
                </a:solidFill>
                <a:latin typeface="黑体" panose="02010609060101010101" charset="-122"/>
                <a:ea typeface="黑体" panose="02010609060101010101" charset="-122"/>
              </a:rPr>
              <a:t>优化成果</a:t>
            </a:r>
          </a:p>
        </p:txBody>
      </p:sp>
      <p:sp>
        <p:nvSpPr>
          <p:cNvPr id="26" name="文本框 25"/>
          <p:cNvSpPr txBox="1"/>
          <p:nvPr>
            <p:custDataLst>
              <p:tags r:id="rId6"/>
            </p:custDataLst>
          </p:nvPr>
        </p:nvSpPr>
        <p:spPr>
          <a:xfrm>
            <a:off x="1053402" y="1310347"/>
            <a:ext cx="700405" cy="461665"/>
          </a:xfrm>
          <a:prstGeom prst="rect">
            <a:avLst/>
          </a:prstGeom>
          <a:noFill/>
        </p:spPr>
        <p:txBody>
          <a:bodyPr wrap="square">
            <a:spAutoFit/>
          </a:bodyPr>
          <a:lstStyle/>
          <a:p>
            <a:r>
              <a:rPr lang="en-US" altLang="zh-CN" sz="2400" b="1" dirty="0">
                <a:solidFill>
                  <a:srgbClr val="00633D"/>
                </a:solidFill>
                <a:latin typeface="黑体" panose="02010609060101010101" charset="-122"/>
                <a:ea typeface="黑体" panose="02010609060101010101" charset="-122"/>
                <a:sym typeface="汉仪旗黑X1-75W" panose="00020600040101010101" pitchFamily="18" charset="-122"/>
              </a:rPr>
              <a:t>01</a:t>
            </a:r>
            <a:endParaRPr lang="zh-CN" altLang="en-US" sz="2400" b="1" dirty="0">
              <a:solidFill>
                <a:srgbClr val="00633D"/>
              </a:solidFill>
              <a:latin typeface="黑体" panose="02010609060101010101" charset="-122"/>
              <a:ea typeface="黑体" panose="02010609060101010101" charset="-122"/>
              <a:sym typeface="汉仪旗黑X1-75W" panose="00020600040101010101" pitchFamily="18" charset="-122"/>
            </a:endParaRPr>
          </a:p>
        </p:txBody>
      </p:sp>
      <mc:AlternateContent xmlns:mc="http://schemas.openxmlformats.org/markup-compatibility/2006" xmlns:a14="http://schemas.microsoft.com/office/drawing/2010/main">
        <mc:Choice Requires="a14">
          <p:sp>
            <p:nvSpPr>
              <p:cNvPr id="3" name="文本框 2"/>
              <p:cNvSpPr txBox="1"/>
              <p:nvPr/>
            </p:nvSpPr>
            <p:spPr>
              <a:xfrm>
                <a:off x="3261554" y="6310955"/>
                <a:ext cx="5995552" cy="671146"/>
              </a:xfrm>
              <a:prstGeom prst="rect">
                <a:avLst/>
              </a:prstGeom>
              <a:noFill/>
            </p:spPr>
            <p:txBody>
              <a:bodyPr wrap="none" rtlCol="0">
                <a:spAutoFit/>
              </a:bodyPr>
              <a:lstStyle/>
              <a:p>
                <a:r>
                  <a:rPr lang="zh-CN" altLang="zh-CN" dirty="0">
                    <a:latin typeface="等线" panose="02010600030101010101" charset="-122"/>
                    <a:ea typeface="等线" panose="02010600030101010101" charset="-122"/>
                  </a:rPr>
                  <a:t>故</a:t>
                </a:r>
                <a:r>
                  <a:rPr lang="en-US" altLang="zh-CN" dirty="0">
                    <a:latin typeface="等线" panose="02010600030101010101" charset="-122"/>
                    <a:ea typeface="等线" panose="02010600030101010101" charset="-122"/>
                  </a:rPr>
                  <a:t>ASTFRFT</a:t>
                </a:r>
                <a:r>
                  <a:rPr lang="zh-CN" altLang="zh-CN" dirty="0">
                    <a:latin typeface="等线" panose="02010600030101010101" charset="-122"/>
                    <a:ea typeface="等线" panose="02010600030101010101" charset="-122"/>
                  </a:rPr>
                  <a:t>算法的计算复杂度简化为</a:t>
                </a:r>
                <a14:m>
                  <m:oMath xmlns:m="http://schemas.openxmlformats.org/officeDocument/2006/math">
                    <m:r>
                      <m:rPr>
                        <m:sty m:val="p"/>
                      </m:rPr>
                      <a:rPr lang="en-US" altLang="zh-CN">
                        <a:latin typeface="Cambria Math" panose="02040503050406030204" pitchFamily="18" charset="0"/>
                        <a:ea typeface="等线" panose="02010600030101010101" charset="-122"/>
                      </a:rPr>
                      <m:t>O</m:t>
                    </m:r>
                    <m:sSub>
                      <m:sSubPr>
                        <m:ctrlPr>
                          <a:rPr lang="zh-CN" altLang="zh-CN" i="1">
                            <a:latin typeface="Cambria Math" panose="02040503050406030204" pitchFamily="18" charset="0"/>
                            <a:ea typeface="等线" panose="02010600030101010101" charset="-122"/>
                          </a:rPr>
                        </m:ctrlPr>
                      </m:sSubPr>
                      <m:e>
                        <m:r>
                          <a:rPr lang="en-US" altLang="zh-CN">
                            <a:latin typeface="Cambria Math" panose="02040503050406030204" pitchFamily="18" charset="0"/>
                            <a:ea typeface="等线" panose="02010600030101010101" charset="-122"/>
                          </a:rPr>
                          <m:t>(</m:t>
                        </m:r>
                        <m:r>
                          <a:rPr lang="en-US" altLang="zh-CN">
                            <a:latin typeface="Cambria Math" panose="02040503050406030204" pitchFamily="18" charset="0"/>
                            <a:ea typeface="等线" panose="02010600030101010101" charset="-122"/>
                          </a:rPr>
                          <m:t>𝑙𝐶</m:t>
                        </m:r>
                      </m:e>
                      <m:sub>
                        <m:r>
                          <a:rPr lang="en-US" altLang="zh-CN">
                            <a:latin typeface="Cambria Math" panose="02040503050406030204" pitchFamily="18" charset="0"/>
                            <a:ea typeface="等线" panose="02010600030101010101" charset="-122"/>
                          </a:rPr>
                          <m:t>𝜎</m:t>
                        </m:r>
                      </m:sub>
                    </m:sSub>
                    <m:sSub>
                      <m:sSubPr>
                        <m:ctrlPr>
                          <a:rPr lang="zh-CN" altLang="zh-CN" i="1">
                            <a:latin typeface="Cambria Math" panose="02040503050406030204" pitchFamily="18" charset="0"/>
                            <a:ea typeface="等线" panose="02010600030101010101" charset="-122"/>
                          </a:rPr>
                        </m:ctrlPr>
                      </m:sSubPr>
                      <m:e>
                        <m:r>
                          <a:rPr lang="en-US" altLang="zh-CN">
                            <a:latin typeface="Cambria Math" panose="02040503050406030204" pitchFamily="18" charset="0"/>
                            <a:ea typeface="等线" panose="02010600030101010101" charset="-122"/>
                          </a:rPr>
                          <m:t>𝑙𝐶</m:t>
                        </m:r>
                      </m:e>
                      <m:sub>
                        <m:r>
                          <a:rPr lang="en-US" altLang="zh-CN">
                            <a:latin typeface="Cambria Math" panose="02040503050406030204" pitchFamily="18" charset="0"/>
                            <a:ea typeface="等线" panose="02010600030101010101" charset="-122"/>
                          </a:rPr>
                          <m:t>𝑝</m:t>
                        </m:r>
                      </m:sub>
                    </m:sSub>
                    <m:r>
                      <m:rPr>
                        <m:sty m:val="p"/>
                      </m:rPr>
                      <a:rPr lang="en-US" altLang="zh-CN">
                        <a:latin typeface="Cambria Math" panose="02040503050406030204" pitchFamily="18" charset="0"/>
                        <a:ea typeface="等线" panose="02010600030101010101" charset="-122"/>
                      </a:rPr>
                      <m:t>N</m:t>
                    </m:r>
                    <m:func>
                      <m:funcPr>
                        <m:ctrlPr>
                          <a:rPr lang="zh-CN" altLang="zh-CN" i="1">
                            <a:latin typeface="Cambria Math" panose="02040503050406030204" pitchFamily="18" charset="0"/>
                            <a:ea typeface="等线" panose="02010600030101010101" charset="-122"/>
                          </a:rPr>
                        </m:ctrlPr>
                      </m:funcPr>
                      <m:fName>
                        <m:sSub>
                          <m:sSubPr>
                            <m:ctrlPr>
                              <a:rPr lang="zh-CN" altLang="zh-CN" i="1">
                                <a:latin typeface="Cambria Math" panose="02040503050406030204" pitchFamily="18" charset="0"/>
                                <a:ea typeface="等线" panose="02010600030101010101" charset="-122"/>
                              </a:rPr>
                            </m:ctrlPr>
                          </m:sSubPr>
                          <m:e>
                            <m:r>
                              <m:rPr>
                                <m:sty m:val="p"/>
                              </m:rPr>
                              <a:rPr lang="en-US" altLang="zh-CN">
                                <a:latin typeface="Cambria Math" panose="02040503050406030204" pitchFamily="18" charset="0"/>
                                <a:ea typeface="等线" panose="02010600030101010101" charset="-122"/>
                              </a:rPr>
                              <m:t>log</m:t>
                            </m:r>
                          </m:e>
                          <m:sub>
                            <m:r>
                              <a:rPr lang="en-US" altLang="zh-CN">
                                <a:latin typeface="Cambria Math" panose="02040503050406030204" pitchFamily="18" charset="0"/>
                                <a:ea typeface="等线" panose="02010600030101010101" charset="-122"/>
                              </a:rPr>
                              <m:t>2</m:t>
                            </m:r>
                          </m:sub>
                        </m:sSub>
                      </m:fName>
                      <m:e>
                        <m:r>
                          <a:rPr lang="en-US" altLang="zh-CN">
                            <a:latin typeface="Cambria Math" panose="02040503050406030204" pitchFamily="18" charset="0"/>
                            <a:ea typeface="等线" panose="02010600030101010101" charset="-122"/>
                          </a:rPr>
                          <m:t>𝑁</m:t>
                        </m:r>
                      </m:e>
                    </m:func>
                    <m:r>
                      <a:rPr lang="en-US" altLang="zh-CN">
                        <a:latin typeface="Cambria Math" panose="02040503050406030204" pitchFamily="18" charset="0"/>
                        <a:ea typeface="等线" panose="02010600030101010101" charset="-122"/>
                      </a:rPr>
                      <m:t>)</m:t>
                    </m:r>
                  </m:oMath>
                </a14:m>
                <a:r>
                  <a:rPr lang="zh-CN" altLang="zh-CN" dirty="0">
                    <a:latin typeface="等线" panose="02010600030101010101" charset="-122"/>
                    <a:ea typeface="等线" panose="02010600030101010101" charset="-122"/>
                  </a:rPr>
                  <a:t>。</a:t>
                </a:r>
              </a:p>
              <a:p>
                <a:endParaRPr lang="zh-CN" altLang="en-US" dirty="0"/>
              </a:p>
            </p:txBody>
          </p:sp>
        </mc:Choice>
        <mc:Fallback xmlns="">
          <p:sp>
            <p:nvSpPr>
              <p:cNvPr id="3" name="文本框 2"/>
              <p:cNvSpPr txBox="1">
                <a:spLocks noRot="1" noChangeAspect="1" noMove="1" noResize="1" noEditPoints="1" noAdjustHandles="1" noChangeArrowheads="1" noChangeShapeType="1" noTextEdit="1"/>
              </p:cNvSpPr>
              <p:nvPr/>
            </p:nvSpPr>
            <p:spPr>
              <a:xfrm>
                <a:off x="3261554" y="6310955"/>
                <a:ext cx="5995552" cy="671146"/>
              </a:xfrm>
              <a:prstGeom prst="rect">
                <a:avLst/>
              </a:prstGeom>
              <a:blipFill rotWithShape="1">
                <a:blip r:embed="rId12"/>
                <a:stretch>
                  <a:fillRect l="-3" t="-48" r="1" b="41"/>
                </a:stretch>
              </a:blipFill>
            </p:spPr>
            <p:txBody>
              <a:bodyPr/>
              <a:lstStyle/>
              <a:p>
                <a:r>
                  <a:rPr lang="zh-CN" altLang="en-US">
                    <a:noFill/>
                  </a:rPr>
                  <a:t> </a:t>
                </a:r>
              </a:p>
            </p:txBody>
          </p:sp>
        </mc:Fallback>
      </mc:AlternateContent>
      <p:pic>
        <p:nvPicPr>
          <p:cNvPr id="13" name="图片 12"/>
          <p:cNvPicPr/>
          <p:nvPr/>
        </p:nvPicPr>
        <p:blipFill>
          <a:blip r:embed="rId13" cstate="print">
            <a:extLst>
              <a:ext uri="{28A0092B-C50C-407E-A947-70E740481C1C}">
                <a14:useLocalDpi xmlns:a14="http://schemas.microsoft.com/office/drawing/2010/main" val="0"/>
              </a:ext>
            </a:extLst>
          </a:blip>
          <a:stretch>
            <a:fillRect/>
          </a:stretch>
        </p:blipFill>
        <p:spPr>
          <a:xfrm>
            <a:off x="4489580" y="5787945"/>
            <a:ext cx="3203313" cy="442639"/>
          </a:xfrm>
          <a:prstGeom prst="rect">
            <a:avLst/>
          </a:prstGeom>
        </p:spPr>
      </p:pic>
      <p:sp>
        <p:nvSpPr>
          <p:cNvPr id="14" name="矩形 13"/>
          <p:cNvSpPr/>
          <p:nvPr/>
        </p:nvSpPr>
        <p:spPr>
          <a:xfrm>
            <a:off x="1753807" y="3019077"/>
            <a:ext cx="1731564" cy="461665"/>
          </a:xfrm>
          <a:prstGeom prst="rect">
            <a:avLst/>
          </a:prstGeom>
        </p:spPr>
        <p:txBody>
          <a:bodyPr wrap="none">
            <a:spAutoFit/>
          </a:bodyPr>
          <a:lstStyle/>
          <a:p>
            <a:r>
              <a:rPr lang="zh-CN" altLang="en-US" sz="2400" b="1" dirty="0">
                <a:solidFill>
                  <a:srgbClr val="00633D"/>
                </a:solidFill>
                <a:latin typeface="黑体" panose="02010609060101010101" charset="-122"/>
                <a:ea typeface="黑体" panose="02010609060101010101" charset="-122"/>
              </a:rPr>
              <a:t>计算复杂度</a:t>
            </a:r>
          </a:p>
        </p:txBody>
      </p:sp>
      <p:sp>
        <p:nvSpPr>
          <p:cNvPr id="15" name="文本框 14"/>
          <p:cNvSpPr txBox="1"/>
          <p:nvPr>
            <p:custDataLst>
              <p:tags r:id="rId7"/>
            </p:custDataLst>
          </p:nvPr>
        </p:nvSpPr>
        <p:spPr>
          <a:xfrm>
            <a:off x="1070874" y="3025665"/>
            <a:ext cx="700405" cy="461665"/>
          </a:xfrm>
          <a:prstGeom prst="rect">
            <a:avLst/>
          </a:prstGeom>
          <a:noFill/>
        </p:spPr>
        <p:txBody>
          <a:bodyPr wrap="square">
            <a:spAutoFit/>
          </a:bodyPr>
          <a:lstStyle/>
          <a:p>
            <a:r>
              <a:rPr lang="en-US" altLang="zh-CN" sz="2400" b="1" dirty="0">
                <a:solidFill>
                  <a:srgbClr val="00633D"/>
                </a:solidFill>
                <a:latin typeface="黑体" panose="02010609060101010101" charset="-122"/>
                <a:ea typeface="黑体" panose="02010609060101010101" charset="-122"/>
                <a:sym typeface="汉仪旗黑X1-75W" panose="00020600040101010101" pitchFamily="18" charset="-122"/>
              </a:rPr>
              <a:t>02</a:t>
            </a:r>
            <a:endParaRPr lang="zh-CN" altLang="en-US" sz="2400" b="1" dirty="0">
              <a:solidFill>
                <a:srgbClr val="00633D"/>
              </a:solidFill>
              <a:latin typeface="黑体" panose="02010609060101010101" charset="-122"/>
              <a:ea typeface="黑体" panose="02010609060101010101" charset="-122"/>
              <a:sym typeface="汉仪旗黑X1-75W" panose="00020600040101010101" pitchFamily="18" charset="-122"/>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2"/>
            </p:custDataLst>
          </p:nvPr>
        </p:nvSpPr>
        <p:spPr>
          <a:xfrm>
            <a:off x="-13970" y="1840230"/>
            <a:ext cx="12201525" cy="25196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3"/>
            </p:custDataLst>
          </p:nvPr>
        </p:nvSpPr>
        <p:spPr>
          <a:xfrm>
            <a:off x="4601210" y="991235"/>
            <a:ext cx="2990215" cy="645160"/>
          </a:xfrm>
          <a:prstGeom prst="rect">
            <a:avLst/>
          </a:prstGeom>
          <a:noFill/>
        </p:spPr>
        <p:txBody>
          <a:bodyPr wrap="square" rtlCol="0">
            <a:spAutoFit/>
          </a:bodyPr>
          <a:lstStyle/>
          <a:p>
            <a:pPr algn="ctr"/>
            <a:r>
              <a:rPr lang="en-US" altLang="zh-CN" sz="3600" b="1" dirty="0">
                <a:solidFill>
                  <a:srgbClr val="00633D"/>
                </a:solidFill>
                <a:latin typeface="微软雅黑" panose="020B0503020204020204" charset="-122"/>
                <a:ea typeface="微软雅黑" panose="020B0503020204020204" charset="-122"/>
              </a:rPr>
              <a:t>Part.04</a:t>
            </a:r>
          </a:p>
        </p:txBody>
      </p:sp>
      <p:sp>
        <p:nvSpPr>
          <p:cNvPr id="3" name="文本框 2"/>
          <p:cNvSpPr txBox="1"/>
          <p:nvPr>
            <p:custDataLst>
              <p:tags r:id="rId4"/>
            </p:custDataLst>
          </p:nvPr>
        </p:nvSpPr>
        <p:spPr>
          <a:xfrm>
            <a:off x="0" y="2599343"/>
            <a:ext cx="12300718" cy="523220"/>
          </a:xfrm>
          <a:prstGeom prst="rect">
            <a:avLst/>
          </a:prstGeom>
          <a:noFill/>
        </p:spPr>
        <p:txBody>
          <a:bodyPr wrap="square" rtlCol="0">
            <a:spAutoFit/>
          </a:bodyPr>
          <a:lstStyle/>
          <a:p>
            <a:pPr algn="ctr"/>
            <a:r>
              <a:rPr lang="zh-CN" altLang="en-US" sz="2800" b="1" dirty="0">
                <a:solidFill>
                  <a:schemeClr val="bg1"/>
                </a:solidFill>
              </a:rPr>
              <a:t>总结与展望</a:t>
            </a:r>
            <a:endParaRPr lang="zh-CN" altLang="zh-CN" sz="2800" b="1" dirty="0">
              <a:solidFill>
                <a:schemeClr val="bg1"/>
              </a:solidFill>
            </a:endParaRPr>
          </a:p>
        </p:txBody>
      </p:sp>
      <p:sp>
        <p:nvSpPr>
          <p:cNvPr id="5" name="文本框 4"/>
          <p:cNvSpPr txBox="1"/>
          <p:nvPr>
            <p:custDataLst>
              <p:tags r:id="rId5"/>
            </p:custDataLst>
          </p:nvPr>
        </p:nvSpPr>
        <p:spPr>
          <a:xfrm>
            <a:off x="260429" y="3218418"/>
            <a:ext cx="11983707" cy="400110"/>
          </a:xfrm>
          <a:prstGeom prst="rect">
            <a:avLst/>
          </a:prstGeom>
          <a:noFill/>
        </p:spPr>
        <p:txBody>
          <a:bodyPr wrap="square" rtlCol="0">
            <a:spAutoFit/>
          </a:bodyPr>
          <a:lstStyle/>
          <a:p>
            <a:pPr algn="ctr"/>
            <a:r>
              <a:rPr lang="en-US" altLang="zh-CN" sz="2000" dirty="0">
                <a:solidFill>
                  <a:srgbClr val="FFFFFF"/>
                </a:solidFill>
                <a:latin typeface="+mj-ea"/>
                <a:ea typeface="+mj-ea"/>
              </a:rPr>
              <a:t>Conclusion and Outlook</a:t>
            </a:r>
            <a:endParaRPr lang="zh-CN" altLang="en-US" sz="2000" dirty="0">
              <a:solidFill>
                <a:srgbClr val="FFFFFF"/>
              </a:solidFill>
              <a:latin typeface="+mj-ea"/>
              <a:ea typeface="+mj-ea"/>
            </a:endParaRPr>
          </a:p>
        </p:txBody>
      </p:sp>
      <p:pic>
        <p:nvPicPr>
          <p:cNvPr id="6" name="图片 5" descr="校徽+南京师范大学"/>
          <p:cNvPicPr>
            <a:picLocks noChangeAspect="1"/>
          </p:cNvPicPr>
          <p:nvPr>
            <p:custDataLst>
              <p:tags r:id="rId6"/>
            </p:custDataLst>
          </p:nvPr>
        </p:nvPicPr>
        <p:blipFill>
          <a:blip r:embed="rId8"/>
          <a:srcRect t="33231" b="38380"/>
          <a:stretch>
            <a:fillRect/>
          </a:stretch>
        </p:blipFill>
        <p:spPr>
          <a:xfrm>
            <a:off x="4601210" y="4655820"/>
            <a:ext cx="3127375" cy="628015"/>
          </a:xfrm>
          <a:prstGeom prst="rect">
            <a:avLst/>
          </a:prstGeom>
        </p:spPr>
      </p:pic>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2"/>
            </p:custDataLst>
          </p:nvPr>
        </p:nvSpPr>
        <p:spPr>
          <a:xfrm>
            <a:off x="0" y="0"/>
            <a:ext cx="12201525" cy="68453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descr="校徽+南京师范大学(白)"/>
          <p:cNvPicPr>
            <a:picLocks noChangeAspect="1"/>
          </p:cNvPicPr>
          <p:nvPr>
            <p:custDataLst>
              <p:tags r:id="rId3"/>
            </p:custDataLst>
          </p:nvPr>
        </p:nvPicPr>
        <p:blipFill>
          <a:blip r:embed="rId6"/>
          <a:stretch>
            <a:fillRect/>
          </a:stretch>
        </p:blipFill>
        <p:spPr>
          <a:xfrm>
            <a:off x="9427845" y="-587375"/>
            <a:ext cx="2764155" cy="1955165"/>
          </a:xfrm>
          <a:prstGeom prst="rect">
            <a:avLst/>
          </a:prstGeom>
        </p:spPr>
      </p:pic>
      <p:sp>
        <p:nvSpPr>
          <p:cNvPr id="10" name="文本框 9"/>
          <p:cNvSpPr txBox="1"/>
          <p:nvPr/>
        </p:nvSpPr>
        <p:spPr>
          <a:xfrm>
            <a:off x="226060" y="109855"/>
            <a:ext cx="2644140" cy="830997"/>
          </a:xfrm>
          <a:prstGeom prst="rect">
            <a:avLst/>
          </a:prstGeom>
          <a:noFill/>
        </p:spPr>
        <p:txBody>
          <a:bodyPr wrap="square" rtlCol="0">
            <a:spAutoFit/>
          </a:bodyPr>
          <a:lstStyle/>
          <a:p>
            <a:r>
              <a:rPr lang="zh-CN" altLang="en-US" sz="2400" b="1" dirty="0">
                <a:solidFill>
                  <a:schemeClr val="bg1"/>
                </a:solidFill>
                <a:latin typeface="微软雅黑" panose="020B0503020204020204" charset="-122"/>
                <a:ea typeface="微软雅黑" panose="020B0503020204020204" charset="-122"/>
              </a:rPr>
              <a:t>总结与展望</a:t>
            </a:r>
            <a:endParaRPr lang="en-US" altLang="zh-CN" sz="2400" b="1" dirty="0">
              <a:solidFill>
                <a:schemeClr val="bg1"/>
              </a:solidFill>
              <a:latin typeface="微软雅黑" panose="020B0503020204020204" charset="-122"/>
              <a:ea typeface="微软雅黑" panose="020B0503020204020204" charset="-122"/>
            </a:endParaRPr>
          </a:p>
          <a:p>
            <a:endParaRPr lang="zh-CN" altLang="en-US" sz="2400" b="1" dirty="0">
              <a:solidFill>
                <a:schemeClr val="bg1"/>
              </a:solidFill>
            </a:endParaRPr>
          </a:p>
        </p:txBody>
      </p:sp>
      <p:sp>
        <p:nvSpPr>
          <p:cNvPr id="11" name="矩形 10"/>
          <p:cNvSpPr/>
          <p:nvPr>
            <p:custDataLst>
              <p:tags r:id="rId4"/>
            </p:custDataLst>
          </p:nvPr>
        </p:nvSpPr>
        <p:spPr>
          <a:xfrm>
            <a:off x="-9525" y="6738620"/>
            <a:ext cx="12201525" cy="1193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62745" y="1694958"/>
            <a:ext cx="10378954" cy="3525260"/>
          </a:xfrm>
          <a:prstGeom prst="rect">
            <a:avLst/>
          </a:prstGeom>
          <a:noFill/>
        </p:spPr>
        <p:txBody>
          <a:bodyPr wrap="square" rtlCol="0">
            <a:spAutoFit/>
          </a:bodyPr>
          <a:lstStyle/>
          <a:p>
            <a:pPr indent="304800" algn="just">
              <a:lnSpc>
                <a:spcPct val="125000"/>
              </a:lnSpc>
            </a:pP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本文探讨了分数阶傅里叶变换（</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FFT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）理论及其在自动化工程领域的两大核心应用：信号处理和神经网络。</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FFT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作为普通傅里叶变换的扩展，通过引入参数</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α</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，实现了对信号时频特性的灵活调控。文中详细阐述了</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FFT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的平移、相似、卷积与相关性质以及帕色伐定律，为后续应用提供了坚实的理论基础。</a:t>
            </a:r>
          </a:p>
          <a:p>
            <a:pPr indent="304800" algn="just">
              <a:lnSpc>
                <a:spcPct val="125000"/>
              </a:lnSpc>
            </a:pP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在自动化工程领域，</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FFT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的应用尤为突出。首先，在神经网络方面，</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FFT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预处理展现出显著效果。与无预处理和离散傅里叶变换（</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DFT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）预处理相比，离散分数阶傅里叶变换（</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DFRT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）预处理能够大幅降低分类错误率，为信号处理和模式识别任务提供了新的预处理策略。</a:t>
            </a:r>
          </a:p>
          <a:p>
            <a:pPr indent="304800" algn="just">
              <a:lnSpc>
                <a:spcPct val="125000"/>
              </a:lnSpc>
            </a:pP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其次，在信号处理方面，</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FFT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被应用于线性调频（</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LFM</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）信号的检测。通过构建最优短时分数阶傅里叶变换（</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STFRFT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）优化模型，推导了</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LFM</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信号在时间</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分数阶傅里叶频率平面的支撑区间，并提出了求解算法。实验结果显示，最优</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STFRFT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模型能够显著提高</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LFM</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信号的检测精度和时频分辨率，为雷达、声纳等系统的性能提升提供了有力的技术支持。</a:t>
            </a:r>
          </a:p>
        </p:txBody>
      </p:sp>
      <p:sp>
        <p:nvSpPr>
          <p:cNvPr id="2" name="五边形 3"/>
          <p:cNvSpPr/>
          <p:nvPr/>
        </p:nvSpPr>
        <p:spPr>
          <a:xfrm>
            <a:off x="703451" y="895739"/>
            <a:ext cx="1063146" cy="588010"/>
          </a:xfrm>
          <a:prstGeom prst="homePlate">
            <a:avLst>
              <a:gd name="adj" fmla="val 33465"/>
            </a:avLst>
          </a:prstGeom>
          <a:solidFill>
            <a:srgbClr val="16583D"/>
          </a:solidFill>
          <a:ln>
            <a:solidFill>
              <a:srgbClr val="1658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总结</a:t>
            </a: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2"/>
            </p:custDataLst>
          </p:nvPr>
        </p:nvSpPr>
        <p:spPr>
          <a:xfrm>
            <a:off x="0" y="0"/>
            <a:ext cx="12201525" cy="68453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descr="校徽+南京师范大学(白)"/>
          <p:cNvPicPr>
            <a:picLocks noChangeAspect="1"/>
          </p:cNvPicPr>
          <p:nvPr>
            <p:custDataLst>
              <p:tags r:id="rId3"/>
            </p:custDataLst>
          </p:nvPr>
        </p:nvPicPr>
        <p:blipFill>
          <a:blip r:embed="rId6"/>
          <a:stretch>
            <a:fillRect/>
          </a:stretch>
        </p:blipFill>
        <p:spPr>
          <a:xfrm>
            <a:off x="9427845" y="-587375"/>
            <a:ext cx="2764155" cy="1955165"/>
          </a:xfrm>
          <a:prstGeom prst="rect">
            <a:avLst/>
          </a:prstGeom>
        </p:spPr>
      </p:pic>
      <p:sp>
        <p:nvSpPr>
          <p:cNvPr id="10" name="文本框 9"/>
          <p:cNvSpPr txBox="1"/>
          <p:nvPr/>
        </p:nvSpPr>
        <p:spPr>
          <a:xfrm>
            <a:off x="226060" y="109855"/>
            <a:ext cx="2644140" cy="830997"/>
          </a:xfrm>
          <a:prstGeom prst="rect">
            <a:avLst/>
          </a:prstGeom>
          <a:noFill/>
        </p:spPr>
        <p:txBody>
          <a:bodyPr wrap="square" rtlCol="0">
            <a:spAutoFit/>
          </a:bodyPr>
          <a:lstStyle/>
          <a:p>
            <a:r>
              <a:rPr lang="zh-CN" altLang="en-US" sz="2400" b="1" dirty="0">
                <a:solidFill>
                  <a:schemeClr val="bg1"/>
                </a:solidFill>
                <a:latin typeface="微软雅黑" panose="020B0503020204020204" charset="-122"/>
                <a:ea typeface="微软雅黑" panose="020B0503020204020204" charset="-122"/>
              </a:rPr>
              <a:t>总结与展望</a:t>
            </a:r>
            <a:endParaRPr lang="en-US" altLang="zh-CN" sz="2400" b="1" dirty="0">
              <a:solidFill>
                <a:schemeClr val="bg1"/>
              </a:solidFill>
              <a:latin typeface="微软雅黑" panose="020B0503020204020204" charset="-122"/>
              <a:ea typeface="微软雅黑" panose="020B0503020204020204" charset="-122"/>
            </a:endParaRPr>
          </a:p>
          <a:p>
            <a:endParaRPr lang="zh-CN" altLang="en-US" sz="2400" b="1" dirty="0">
              <a:solidFill>
                <a:schemeClr val="bg1"/>
              </a:solidFill>
            </a:endParaRPr>
          </a:p>
        </p:txBody>
      </p:sp>
      <p:sp>
        <p:nvSpPr>
          <p:cNvPr id="11" name="矩形 10"/>
          <p:cNvSpPr/>
          <p:nvPr>
            <p:custDataLst>
              <p:tags r:id="rId4"/>
            </p:custDataLst>
          </p:nvPr>
        </p:nvSpPr>
        <p:spPr>
          <a:xfrm>
            <a:off x="-9525" y="6738620"/>
            <a:ext cx="12201525" cy="1193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2372830" y="1375160"/>
            <a:ext cx="796183" cy="369332"/>
          </a:xfrm>
          <a:prstGeom prst="rect">
            <a:avLst/>
          </a:prstGeom>
          <a:noFill/>
        </p:spPr>
        <p:txBody>
          <a:bodyPr wrap="square" rtlCol="0">
            <a:spAutoFit/>
          </a:bodyPr>
          <a:lstStyle/>
          <a:p>
            <a:pPr algn="ctr"/>
            <a:r>
              <a:rPr lang="zh-CN" altLang="en-US" b="1" dirty="0">
                <a:solidFill>
                  <a:schemeClr val="bg1"/>
                </a:solidFill>
              </a:rPr>
              <a:t>展望</a:t>
            </a:r>
          </a:p>
        </p:txBody>
      </p:sp>
      <p:sp>
        <p:nvSpPr>
          <p:cNvPr id="2" name="五边形 3"/>
          <p:cNvSpPr/>
          <p:nvPr/>
        </p:nvSpPr>
        <p:spPr>
          <a:xfrm>
            <a:off x="2366516" y="895739"/>
            <a:ext cx="1063146" cy="588010"/>
          </a:xfrm>
          <a:prstGeom prst="homePlate">
            <a:avLst>
              <a:gd name="adj" fmla="val 33465"/>
            </a:avLst>
          </a:prstGeom>
          <a:solidFill>
            <a:srgbClr val="16583D"/>
          </a:solidFill>
          <a:ln>
            <a:solidFill>
              <a:srgbClr val="1658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solidFill>
                  <a:prstClr val="white"/>
                </a:solidFill>
                <a:latin typeface="微软雅黑" panose="020B0503020204020204" charset="-122"/>
                <a:ea typeface="微软雅黑" panose="020B0503020204020204" charset="-122"/>
              </a:rPr>
              <a:t>展望</a:t>
            </a:r>
            <a:endParaRPr kumimoji="0" lang="zh-CN" altLang="en-US" sz="2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文本框 2"/>
          <p:cNvSpPr txBox="1"/>
          <p:nvPr/>
        </p:nvSpPr>
        <p:spPr>
          <a:xfrm>
            <a:off x="2560765" y="2050199"/>
            <a:ext cx="4304522" cy="3139321"/>
          </a:xfrm>
          <a:prstGeom prst="rect">
            <a:avLst/>
          </a:prstGeom>
          <a:noFill/>
        </p:spPr>
        <p:txBody>
          <a:bodyPr wrap="square" rtlCol="0">
            <a:spAutoFit/>
          </a:bodyPr>
          <a:lstStyle/>
          <a:p>
            <a:pPr indent="304800" algn="just">
              <a:lnSpc>
                <a:spcPct val="125000"/>
              </a:lnSpc>
            </a:pP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展望未来，随着信号处理需求的不断增长和技术的持续进步，分数阶傅里叶变换（</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FFT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）有望在更多领域发挥其独特优势。特别是在神经网络中，</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FFT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预处理策略有望进一步优化信号处理任务；而在目标检测领域，</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FFT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算法的改进和拓展将持续推动其在雷达、通信以及生物医学等领域的广泛应用。</a:t>
            </a:r>
          </a:p>
          <a:p>
            <a:endParaRPr lang="zh-CN" altLang="en-US" dirty="0"/>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2"/>
            </p:custDataLst>
          </p:nvPr>
        </p:nvSpPr>
        <p:spPr>
          <a:xfrm>
            <a:off x="-13970" y="1840230"/>
            <a:ext cx="12201525" cy="25196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3"/>
            </p:custDataLst>
          </p:nvPr>
        </p:nvSpPr>
        <p:spPr>
          <a:xfrm>
            <a:off x="4601210" y="991235"/>
            <a:ext cx="2990215" cy="645160"/>
          </a:xfrm>
          <a:prstGeom prst="rect">
            <a:avLst/>
          </a:prstGeom>
          <a:noFill/>
        </p:spPr>
        <p:txBody>
          <a:bodyPr wrap="square" rtlCol="0">
            <a:spAutoFit/>
          </a:bodyPr>
          <a:lstStyle/>
          <a:p>
            <a:pPr algn="ctr"/>
            <a:r>
              <a:rPr lang="en-US" altLang="zh-CN" sz="3600" b="1" dirty="0">
                <a:solidFill>
                  <a:srgbClr val="00633D"/>
                </a:solidFill>
                <a:latin typeface="微软雅黑" panose="020B0503020204020204" charset="-122"/>
                <a:ea typeface="微软雅黑" panose="020B0503020204020204" charset="-122"/>
              </a:rPr>
              <a:t>Part.05</a:t>
            </a:r>
          </a:p>
        </p:txBody>
      </p:sp>
      <p:sp>
        <p:nvSpPr>
          <p:cNvPr id="3" name="文本框 2"/>
          <p:cNvSpPr txBox="1"/>
          <p:nvPr>
            <p:custDataLst>
              <p:tags r:id="rId4"/>
            </p:custDataLst>
          </p:nvPr>
        </p:nvSpPr>
        <p:spPr>
          <a:xfrm>
            <a:off x="0" y="2599343"/>
            <a:ext cx="12300718" cy="523220"/>
          </a:xfrm>
          <a:prstGeom prst="rect">
            <a:avLst/>
          </a:prstGeom>
          <a:noFill/>
        </p:spPr>
        <p:txBody>
          <a:bodyPr wrap="square" rtlCol="0">
            <a:spAutoFit/>
          </a:bodyPr>
          <a:lstStyle/>
          <a:p>
            <a:pPr algn="ctr"/>
            <a:r>
              <a:rPr lang="zh-CN" altLang="en-US" sz="2800" b="1" dirty="0">
                <a:solidFill>
                  <a:schemeClr val="bg1"/>
                </a:solidFill>
              </a:rPr>
              <a:t>参考文献</a:t>
            </a:r>
            <a:endParaRPr lang="zh-CN" altLang="zh-CN" sz="2800" b="1" dirty="0">
              <a:solidFill>
                <a:schemeClr val="bg1"/>
              </a:solidFill>
            </a:endParaRPr>
          </a:p>
        </p:txBody>
      </p:sp>
      <p:sp>
        <p:nvSpPr>
          <p:cNvPr id="5" name="文本框 4"/>
          <p:cNvSpPr txBox="1"/>
          <p:nvPr>
            <p:custDataLst>
              <p:tags r:id="rId5"/>
            </p:custDataLst>
          </p:nvPr>
        </p:nvSpPr>
        <p:spPr>
          <a:xfrm>
            <a:off x="173043" y="3218418"/>
            <a:ext cx="11983707" cy="400110"/>
          </a:xfrm>
          <a:prstGeom prst="rect">
            <a:avLst/>
          </a:prstGeom>
          <a:noFill/>
        </p:spPr>
        <p:txBody>
          <a:bodyPr wrap="square" rtlCol="0">
            <a:spAutoFit/>
          </a:bodyPr>
          <a:lstStyle/>
          <a:p>
            <a:pPr algn="ctr"/>
            <a:r>
              <a:rPr lang="en-US" altLang="zh-CN" sz="2000" dirty="0">
                <a:solidFill>
                  <a:srgbClr val="FFFFFF"/>
                </a:solidFill>
                <a:latin typeface="+mj-ea"/>
                <a:ea typeface="+mj-ea"/>
              </a:rPr>
              <a:t>References</a:t>
            </a:r>
            <a:endParaRPr lang="zh-CN" altLang="en-US" sz="2000" dirty="0">
              <a:solidFill>
                <a:srgbClr val="FFFFFF"/>
              </a:solidFill>
              <a:latin typeface="+mj-ea"/>
              <a:ea typeface="+mj-ea"/>
            </a:endParaRPr>
          </a:p>
        </p:txBody>
      </p:sp>
      <p:pic>
        <p:nvPicPr>
          <p:cNvPr id="6" name="图片 5" descr="校徽+南京师范大学"/>
          <p:cNvPicPr>
            <a:picLocks noChangeAspect="1"/>
          </p:cNvPicPr>
          <p:nvPr>
            <p:custDataLst>
              <p:tags r:id="rId6"/>
            </p:custDataLst>
          </p:nvPr>
        </p:nvPicPr>
        <p:blipFill>
          <a:blip r:embed="rId8"/>
          <a:srcRect t="33231" b="38380"/>
          <a:stretch>
            <a:fillRect/>
          </a:stretch>
        </p:blipFill>
        <p:spPr>
          <a:xfrm>
            <a:off x="4601210" y="4655820"/>
            <a:ext cx="3127375" cy="628015"/>
          </a:xfrm>
          <a:prstGeom prst="rect">
            <a:avLst/>
          </a:prstGeom>
        </p:spPr>
      </p:pic>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2"/>
            </p:custDataLst>
          </p:nvPr>
        </p:nvSpPr>
        <p:spPr>
          <a:xfrm>
            <a:off x="0" y="0"/>
            <a:ext cx="12201525" cy="68453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descr="校徽+南京师范大学(白)"/>
          <p:cNvPicPr>
            <a:picLocks noChangeAspect="1"/>
          </p:cNvPicPr>
          <p:nvPr>
            <p:custDataLst>
              <p:tags r:id="rId3"/>
            </p:custDataLst>
          </p:nvPr>
        </p:nvPicPr>
        <p:blipFill>
          <a:blip r:embed="rId6"/>
          <a:stretch>
            <a:fillRect/>
          </a:stretch>
        </p:blipFill>
        <p:spPr>
          <a:xfrm>
            <a:off x="9427845" y="-587375"/>
            <a:ext cx="2764155" cy="1955165"/>
          </a:xfrm>
          <a:prstGeom prst="rect">
            <a:avLst/>
          </a:prstGeom>
        </p:spPr>
      </p:pic>
      <p:sp>
        <p:nvSpPr>
          <p:cNvPr id="10" name="文本框 9"/>
          <p:cNvSpPr txBox="1"/>
          <p:nvPr/>
        </p:nvSpPr>
        <p:spPr>
          <a:xfrm>
            <a:off x="226060" y="109855"/>
            <a:ext cx="4293522" cy="461665"/>
          </a:xfrm>
          <a:prstGeom prst="rect">
            <a:avLst/>
          </a:prstGeom>
          <a:noFill/>
        </p:spPr>
        <p:txBody>
          <a:bodyPr wrap="square" rtlCol="0">
            <a:spAutoFit/>
          </a:bodyPr>
          <a:lstStyle/>
          <a:p>
            <a:r>
              <a:rPr lang="zh-CN" altLang="en-US" sz="2400" b="1" dirty="0">
                <a:solidFill>
                  <a:schemeClr val="bg1"/>
                </a:solidFill>
                <a:latin typeface="微软雅黑" panose="020B0503020204020204" charset="-122"/>
                <a:ea typeface="微软雅黑" panose="020B0503020204020204" charset="-122"/>
              </a:rPr>
              <a:t>参考文献</a:t>
            </a:r>
            <a:endParaRPr lang="zh-CN" altLang="zh-CN" sz="2400" b="1" dirty="0">
              <a:solidFill>
                <a:schemeClr val="bg1"/>
              </a:solidFill>
              <a:latin typeface="微软雅黑" panose="020B0503020204020204" charset="-122"/>
              <a:ea typeface="微软雅黑" panose="020B0503020204020204" charset="-122"/>
            </a:endParaRPr>
          </a:p>
        </p:txBody>
      </p:sp>
      <p:sp>
        <p:nvSpPr>
          <p:cNvPr id="11" name="矩形 10"/>
          <p:cNvSpPr/>
          <p:nvPr>
            <p:custDataLst>
              <p:tags r:id="rId4"/>
            </p:custDataLst>
          </p:nvPr>
        </p:nvSpPr>
        <p:spPr>
          <a:xfrm>
            <a:off x="-9525" y="6738620"/>
            <a:ext cx="12201525" cy="119380"/>
          </a:xfrm>
          <a:prstGeom prst="rect">
            <a:avLst/>
          </a:prstGeom>
          <a:solidFill>
            <a:srgbClr val="00633D"/>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2722276" y="1925026"/>
            <a:ext cx="6177307" cy="2308324"/>
          </a:xfrm>
          <a:prstGeom prst="rect">
            <a:avLst/>
          </a:prstGeom>
          <a:noFill/>
        </p:spPr>
        <p:txBody>
          <a:bodyPr wrap="square">
            <a:spAutoFit/>
          </a:bodyPr>
          <a:lstStyle/>
          <a:p>
            <a:pPr lvl="0" latinLnBrk="1"/>
            <a:r>
              <a:rPr lang="en-US" altLang="zh-CN" dirty="0"/>
              <a:t>【1】Barshan, B., &amp; </a:t>
            </a:r>
            <a:r>
              <a:rPr lang="en-US" altLang="zh-CN" dirty="0" err="1"/>
              <a:t>Ayrulu</a:t>
            </a:r>
            <a:r>
              <a:rPr lang="en-US" altLang="zh-CN" dirty="0"/>
              <a:t>, B. (2002). Fractional Fourier transform pre-processing for neural networks and its application to object recognition. </a:t>
            </a:r>
            <a:r>
              <a:rPr lang="en-US" altLang="zh-CN" i="1" dirty="0"/>
              <a:t>Neural Networks</a:t>
            </a:r>
            <a:r>
              <a:rPr lang="en-US" altLang="zh-CN" dirty="0"/>
              <a:t>, 15(2002), 131-140.</a:t>
            </a:r>
          </a:p>
          <a:p>
            <a:pPr lvl="0" latinLnBrk="1"/>
            <a:endParaRPr lang="zh-CN" altLang="zh-CN" dirty="0"/>
          </a:p>
          <a:p>
            <a:pPr lvl="0" latinLnBrk="1"/>
            <a:r>
              <a:rPr lang="en-US" altLang="zh-CN" dirty="0"/>
              <a:t>【2】</a:t>
            </a:r>
            <a:r>
              <a:rPr lang="zh-CN" altLang="zh-CN" dirty="0"/>
              <a:t>范黎林，郭鑫，张艳娜，李源．基于最优短时分数阶傅里叶变换的分段</a:t>
            </a:r>
            <a:r>
              <a:rPr lang="en-US" altLang="zh-CN" dirty="0"/>
              <a:t>LFM </a:t>
            </a:r>
            <a:r>
              <a:rPr lang="zh-CN" altLang="zh-CN" dirty="0"/>
              <a:t>信号检测方法</a:t>
            </a:r>
            <a:r>
              <a:rPr lang="en-US" altLang="zh-CN" dirty="0"/>
              <a:t>[J/OL]</a:t>
            </a:r>
            <a:r>
              <a:rPr lang="zh-CN" altLang="zh-CN" dirty="0"/>
              <a:t>．探测与控制学报</a:t>
            </a:r>
            <a:r>
              <a:rPr lang="en-US" altLang="zh-CN" dirty="0"/>
              <a:t>, 2024, </a:t>
            </a:r>
            <a:r>
              <a:rPr lang="zh-CN" altLang="zh-CN" dirty="0"/>
              <a:t>网络首发日期</a:t>
            </a:r>
            <a:r>
              <a:rPr lang="en-US" altLang="zh-CN" dirty="0"/>
              <a:t>: 2024-12-19. https://link.cnki.net/urlid/61.1316.TJ.20241219.1438.008.</a:t>
            </a:r>
            <a:endParaRPr lang="zh-CN" altLang="zh-CN" dirty="0"/>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59.15,&quot;left&quot;:193.85,&quot;top&quot;:381.15,&quot;width&quot;:572.3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59.15,&quot;left&quot;:193.85,&quot;top&quot;:381.15,&quot;width&quot;:572.35}"/>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59.15,&quot;left&quot;:193.85,&quot;top&quot;:381.15,&quot;width&quot;:572.35}"/>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59.15,&quot;left&quot;:193.85,&quot;top&quot;:381.15,&quot;width&quot;:572.35}"/>
</p:tagLst>
</file>

<file path=ppt/tags/tag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38.55,&quot;left&quot;:423.3,&quot;top&quot;:90.9,&quot;width&quot;:417}"/>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38.55,&quot;left&quot;:423.3,&quot;top&quot;:90.9,&quot;width&quot;:417}"/>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38.55,&quot;left&quot;:423.3,&quot;top&quot;:90.9,&quot;width&quot;:417}"/>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38.55,&quot;left&quot;:423.3,&quot;top&quot;:90.9,&quot;width&quot;:417}"/>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8.55,&quot;left&quot;:423.3,&quot;top&quot;:90.9,&quot;width&quot;:449.3}"/>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8.55,&quot;left&quot;:423.3,&quot;top&quot;:90.9,&quot;width&quot;:449.3}"/>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8.55,&quot;left&quot;:423.3,&quot;top&quot;:90.9,&quot;width&quot;:449.3}"/>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8.55,&quot;left&quot;:423.3,&quot;top&quot;:90.9,&quot;width&quot;:449.3}"/>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8.55,&quot;left&quot;:423.3,&quot;top&quot;:90.9,&quot;width&quot;:449.3}"/>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8.55,&quot;left&quot;:423.3,&quot;top&quot;:90.9,&quot;width&quot;:449.3}"/>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8.55,&quot;left&quot;:423.3,&quot;top&quot;:90.9,&quot;width&quot;:449.3}"/>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8.55,&quot;left&quot;:423.3,&quot;top&quot;:90.9,&quot;width&quot;:449.3}"/>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8.55,&quot;left&quot;:423.3,&quot;top&quot;:90.9,&quot;width&quot;:449.3}"/>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8.55,&quot;left&quot;:423.3,&quot;top&quot;:90.9,&quot;width&quot;:449.3}"/>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8.55,&quot;left&quot;:423.3,&quot;top&quot;:90.9,&quot;width&quot;:449.3}"/>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8.55,&quot;left&quot;:423.3,&quot;top&quot;:90.9,&quot;width&quot;:449.3}"/>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38.55,&quot;left&quot;:423.3,&quot;top&quot;:90.9,&quot;width&quot;:449.3}"/>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38.55,&quot;left&quot;:423.3,&quot;top&quot;:90.9,&quot;width&quot;:449.3}"/>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38.55,&quot;left&quot;:423.3,&quot;top&quot;:90.9,&quot;width&quot;:449.3}"/>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38.55,&quot;left&quot;:423.3,&quot;top&quot;:90.9,&quot;width&quot;:449.3}"/>
</p:tagLst>
</file>

<file path=ppt/tags/tag2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451.8677952755905,&quot;left&quot;:467.1216535433071,&quot;top&quot;:56.714881889763774,&quot;width&quot;:108.5283464566929}"/>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451.8677952755905,&quot;left&quot;:467.1216535433071,&quot;top&quot;:56.714881889763774,&quot;width&quot;:108.5283464566929}"/>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451.8677952755905,&quot;left&quot;:467.1216535433071,&quot;top&quot;:56.714881889763774,&quot;width&quot;:108.5283464566929}"/>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451.8677952755905,&quot;left&quot;:467.1216535433071,&quot;top&quot;:56.714881889763774,&quot;width&quot;:108.5283464566929}"/>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451.8677952755905,&quot;left&quot;:467.1216535433071,&quot;top&quot;:56.714881889763774,&quot;width&quot;:108.5283464566929}"/>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451.8677952755905,&quot;left&quot;:467.1216535433071,&quot;top&quot;:56.714881889763774,&quot;width&quot;:108.5283464566929}"/>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451.8677952755905,&quot;left&quot;:467.1216535433071,&quot;top&quot;:56.714881889763774,&quot;width&quot;:108.5283464566929}"/>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451.8677952755905,&quot;left&quot;:467.1216535433071,&quot;top&quot;:56.714881889763774,&quot;width&quot;:108.5283464566929}"/>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451.8677952755905,&quot;left&quot;:467.1216535433071,&quot;top&quot;:56.714881889763774,&quot;width&quot;:108.5283464566929}"/>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451.8677952755905,&quot;left&quot;:467.1216535433071,&quot;top&quot;:56.714881889763774,&quot;width&quot;:108.5283464566929}"/>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451.8677952755905,&quot;left&quot;:467.1216535433071,&quot;top&quot;:56.714881889763774,&quot;width&quot;:108.5283464566929}"/>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451.8677952755905,&quot;left&quot;:467.1216535433071,&quot;top&quot;:56.714881889763774,&quot;width&quot;:108.5283464566929}"/>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451.8677952755905,&quot;left&quot;:467.1216535433071,&quot;top&quot;:56.714881889763774,&quot;width&quot;:108.5283464566929}"/>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451.8677952755905,&quot;left&quot;:467.1216535433071,&quot;top&quot;:56.714881889763774,&quot;width&quot;:108.5283464566929}"/>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2318</Words>
  <Application>Microsoft Office PowerPoint</Application>
  <PresentationFormat>宽屏</PresentationFormat>
  <Paragraphs>182</Paragraphs>
  <Slides>24</Slides>
  <Notes>0</Notes>
  <HiddenSlides>0</HiddenSlides>
  <MMClips>0</MMClips>
  <ScaleCrop>false</ScaleCrop>
  <HeadingPairs>
    <vt:vector size="8" baseType="variant">
      <vt:variant>
        <vt:lpstr>已用的字体</vt:lpstr>
      </vt:variant>
      <vt:variant>
        <vt:i4>8</vt:i4>
      </vt:variant>
      <vt:variant>
        <vt:lpstr>主题</vt:lpstr>
      </vt:variant>
      <vt:variant>
        <vt:i4>2</vt:i4>
      </vt:variant>
      <vt:variant>
        <vt:lpstr>嵌入 OLE 服务器</vt:lpstr>
      </vt:variant>
      <vt:variant>
        <vt:i4>1</vt:i4>
      </vt:variant>
      <vt:variant>
        <vt:lpstr>幻灯片标题</vt:lpstr>
      </vt:variant>
      <vt:variant>
        <vt:i4>24</vt:i4>
      </vt:variant>
    </vt:vector>
  </HeadingPairs>
  <TitlesOfParts>
    <vt:vector size="35" baseType="lpstr">
      <vt:lpstr>等线</vt:lpstr>
      <vt:lpstr>等线 Light</vt:lpstr>
      <vt:lpstr>黑体</vt:lpstr>
      <vt:lpstr>微软雅黑</vt:lpstr>
      <vt:lpstr>Arial</vt:lpstr>
      <vt:lpstr>Calibri</vt:lpstr>
      <vt:lpstr>Cambria Math</vt:lpstr>
      <vt:lpstr>Times New Roman</vt:lpstr>
      <vt:lpstr>Office 主题​​</vt:lpstr>
      <vt:lpstr>1_Office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赵学文</dc:creator>
  <cp:lastModifiedBy>赵学文</cp:lastModifiedBy>
  <cp:revision>4</cp:revision>
  <dcterms:created xsi:type="dcterms:W3CDTF">2024-12-24T07:47:00Z</dcterms:created>
  <dcterms:modified xsi:type="dcterms:W3CDTF">2024-12-26T14:29:43Z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DF12A08CBE3D47FE86EFEB57FF6AF323_12</vt:lpwstr>
  </property>
  <property fmtid="{D5CDD505-2E9C-101B-9397-08002B2CF9AE}" pid="3" name="KSOProductBuildVer">
    <vt:lpwstr>2052-12.1.0.19302</vt:lpwstr>
  </property>
</Properties>
</file>